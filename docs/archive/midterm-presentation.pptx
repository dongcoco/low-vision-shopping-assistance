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handoutMasterIdLst>
    <p:handoutMasterId r:id="rId36"/>
  </p:handout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89"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8" r:id="rId31"/>
    <p:sldId id="285" r:id="rId32"/>
    <p:sldId id="286" r:id="rId33"/>
    <p:sldId id="287" r:id="rId34"/>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227" autoAdjust="0"/>
    <p:restoredTop sz="95313"/>
  </p:normalViewPr>
  <p:slideViewPr>
    <p:cSldViewPr snapToGrid="0" showGuides="1">
      <p:cViewPr>
        <p:scale>
          <a:sx n="93" d="100"/>
          <a:sy n="93" d="100"/>
        </p:scale>
        <p:origin x="720" y="32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2024/12/2</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2024/12/2</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a:t>about 220 million people worldwide experience vision impairment</a:t>
            </a:r>
          </a:p>
          <a:p>
            <a:r>
              <a:rPr lang="en-US" altLang="en-US"/>
              <a:t>Research  shows that from 1990 to 2015,  vision impairment rose by 35.5%, far outpacing blindness. This highlights a growing need, making individuals with  vision impairment the focus of my system.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t>People with low vision often struggle with accessing information in visually demanding scenarios. I plan to develop a shopping assistance system to improve their accessibility and shopping experience.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a:t>for visually demanding scenarios</a:t>
            </a:r>
            <a:r>
              <a:rPr lang="zh-CN" altLang="en-US"/>
              <a:t>，</a:t>
            </a:r>
            <a:r>
              <a:rPr lang="en-US" altLang="en-US"/>
              <a:t>Most current solutions rely on Optical Character Recognition combined with text to speech</a:t>
            </a:r>
          </a:p>
          <a:p>
            <a:r>
              <a:rPr lang="en-US" altLang="en-US"/>
              <a:t>OCR performs well in reading task but struggles with low light, cluttered backgrounds, and unstructured inputs in complex retail settings, limiting its accuracy and usability.</a:t>
            </a:r>
          </a:p>
          <a:p>
            <a:r>
              <a:rPr lang="en-US" altLang="en-US"/>
              <a:t>shopping is a far more common daily scenario that heavily relies on visual information.   If we apply OCR to this senorio, the resulting text descriptions are as follows: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OCR alone fails to enhance shopping for the visually impaired, lacking crucial visual and contextual details for decisions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When selecting tomatoes in a supermarket, we rely primarily on their appearance</a:t>
            </a:r>
            <a:r>
              <a:rPr lang="zh-CN" altLang="en-US" dirty="0"/>
              <a:t>，</a:t>
            </a:r>
            <a:r>
              <a:rPr lang="en-GB" dirty="0"/>
              <a:t>as these visual cues are more intuitive than reading labels. Similarly, purchase decisions are influenced by factors such as freshness, uniformity, damage, suitability, rather than solely on text information obtained through OCR. In summary, most consumers make purchasing decisions based on the product's visual characteristics and contextual information, rather than relying entirely on textual data.</a:t>
            </a:r>
          </a:p>
          <a:p>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 </a:t>
            </a:r>
            <a:r>
              <a:rPr lang="en-GB" sz="1800" kern="0" dirty="0">
                <a:effectLst/>
                <a:latin typeface="Times New Roman" panose="02020603050405020304" pitchFamily="18" charset="0"/>
                <a:ea typeface="宋体" panose="02010600030101010101" pitchFamily="2" charset="-122"/>
              </a:rPr>
              <a:t>When it comes to enhancing the shopping experience, </a:t>
            </a:r>
            <a:r>
              <a:rPr lang="en-GB" sz="1800" b="1" dirty="0">
                <a:effectLst/>
                <a:latin typeface="Times New Roman" panose="02020603050405020304" pitchFamily="18" charset="0"/>
                <a:ea typeface="宋体" panose="02010600030101010101" pitchFamily="2" charset="-122"/>
              </a:rPr>
              <a:t>user interaction</a:t>
            </a:r>
            <a:r>
              <a:rPr lang="en-GB" sz="1800" kern="0" dirty="0">
                <a:effectLst/>
                <a:latin typeface="Times New Roman" panose="02020603050405020304" pitchFamily="18" charset="0"/>
                <a:ea typeface="宋体" panose="02010600030101010101" pitchFamily="2" charset="-122"/>
              </a:rPr>
              <a:t> is just as important as the introduction of suitable models.</a:t>
            </a:r>
            <a:endParaRPr lang="en-GB" sz="1800" dirty="0">
              <a:effectLst/>
              <a:latin typeface="Times New Roman" panose="02020603050405020304" pitchFamily="18" charset="0"/>
              <a:ea typeface="宋体" panose="02010600030101010101" pitchFamily="2" charset="-122"/>
            </a:endParaRPr>
          </a:p>
          <a:p>
            <a:r>
              <a:rPr lang="en-US" altLang="en-US" dirty="0"/>
              <a:t>A recent study, "ChatGPT for Visually Impaired and Blind," introduced a system enabling natural language interaction with ChatGPT.</a:t>
            </a:r>
          </a:p>
          <a:p>
            <a:r>
              <a:rPr lang="en-US" altLang="en-US" dirty="0"/>
              <a:t>The article explores ChatGPT's features and limitations, introducing open-source models as potential </a:t>
            </a:r>
            <a:r>
              <a:rPr lang="en-US" altLang="en-US" dirty="0" err="1"/>
              <a:t>alte</a:t>
            </a:r>
            <a:r>
              <a:rPr lang="zh-CN" altLang="en-US" dirty="0"/>
              <a:t>“</a:t>
            </a:r>
            <a:r>
              <a:rPr lang="en-US" altLang="en-US" dirty="0" err="1"/>
              <a:t>rnatives</a:t>
            </a:r>
            <a:r>
              <a:rPr lang="en-US" altLang="en-US" dirty="0"/>
              <a:t>.</a:t>
            </a:r>
          </a:p>
          <a:p>
            <a:r>
              <a:rPr lang="en-US" altLang="en-US" dirty="0"/>
              <a:t>As a large language model, it supports voice interaction only, lacking image input capability.</a:t>
            </a:r>
          </a:p>
          <a:p>
            <a:endParaRPr lang="zh-CN" altLang="en-US" dirty="0"/>
          </a:p>
          <a:p>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a:t>After the conference article  presented, LLaMa 3.2 was released.</a:t>
            </a:r>
          </a:p>
          <a:p>
            <a:r>
              <a:rPr lang="en-US" altLang="en-US"/>
              <a:t>LLaMa 3.2 is a Vision-Language Model.</a:t>
            </a:r>
          </a:p>
          <a:p>
            <a:r>
              <a:rPr lang="en-US" altLang="en-US">
                <a:sym typeface="+mn-ea"/>
              </a:rPr>
              <a:t>In addition to LLaMa 3.2</a:t>
            </a:r>
            <a:r>
              <a:rPr lang="zh-CN" altLang="en-US">
                <a:sym typeface="+mn-ea"/>
              </a:rPr>
              <a:t>，</a:t>
            </a:r>
            <a:r>
              <a:rPr lang="en-US" altLang="en-US">
                <a:sym typeface="+mn-ea"/>
              </a:rPr>
              <a:t>I explored Qwen2-VL, which addresses OCR and llm  limitations by excelling in visual QA, image description, and multimodal retrieval with its advanced Transformer-based design.</a:t>
            </a:r>
            <a:endParaRPr lang="en-US" altLang="en-US"/>
          </a:p>
          <a:p>
            <a:endParaRPr lang="en-US" alt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a:t>To find the best model for a shopping assistance system , I compared Qwen2-VL and LLaMa 3.2 using a supermarket image data by myself to evaluate their performance in this scenario.</a:t>
            </a:r>
          </a:p>
          <a:p>
            <a:r>
              <a:rPr lang="en-US" altLang="en-US"/>
              <a:t>These complementary metrics were chosen to evaluate the models: BLEU focus on accuracy and fluency, while ROUGE measures comprehensiveness and relevance.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p:nvPr>
        </p:nvSpPr>
        <p:spPr>
          <a:xfrm>
            <a:off x="827950" y="6553866"/>
            <a:ext cx="6623597" cy="5362254"/>
          </a:xfrm>
          <a:prstGeom prst="rect">
            <a:avLst/>
          </a:prstGeom>
        </p:spPr>
        <p:txBody>
          <a:bodyPr/>
          <a:lstStyle/>
          <a:p>
            <a:r>
              <a:rPr lang="en-US" altLang="en-US"/>
              <a:t>Both models compare generated and reference text using a unified dataset. Although this two models have different input processing mechanisms</a:t>
            </a:r>
          </a:p>
          <a:p>
            <a:r>
              <a:rPr lang="en-US" altLang="en-US"/>
              <a:t>, I standardized the prompt ，and reference text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p:nvPr>
        </p:nvSpPr>
        <p:spPr>
          <a:xfrm>
            <a:off x="827950" y="6553866"/>
            <a:ext cx="6623597" cy="5362254"/>
          </a:xfrm>
          <a:prstGeom prst="rect">
            <a:avLst/>
          </a:prstGeom>
        </p:spPr>
        <p:txBody>
          <a:bodyPr/>
          <a:lstStyle/>
          <a:p>
            <a:r>
              <a:rPr lang="en-US" altLang="en-US"/>
              <a:t>Qwen2-VL outperforms LLaMa by 0.15 in the BLEU score, indicating that Qwen2-VL generates text with higher accuracy and fluency, making it closer to the reference text.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p:nvPr>
        </p:nvSpPr>
        <p:spPr>
          <a:xfrm>
            <a:off x="827950" y="6553866"/>
            <a:ext cx="6623597" cy="5362254"/>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I used ROUGE metrics to evaluate models. (there are five </a:t>
            </a:r>
            <a:r>
              <a:rPr lang="en-US" altLang="en-US" dirty="0" err="1"/>
              <a:t>aviable</a:t>
            </a:r>
            <a:r>
              <a:rPr lang="en-US" altLang="en-US" dirty="0"/>
              <a:t> indicator</a:t>
            </a:r>
            <a:r>
              <a:rPr lang="en-GB" sz="1800" kern="0" dirty="0">
                <a:effectLst/>
                <a:latin typeface="Times New Roman" panose="02020603050405020304" pitchFamily="18" charset="0"/>
                <a:ea typeface="宋体" panose="02010600030101010101" pitchFamily="2" charset="-122"/>
              </a:rPr>
              <a:t> for rouge, but to avoid data complexity and provide intuitive conclusions, I chose to compare only  R1, R2, and RL for the overall comparison.)</a:t>
            </a:r>
            <a:endParaRPr lang="en-GB" sz="1800" dirty="0">
              <a:effectLst/>
              <a:latin typeface="Times New Roman" panose="02020603050405020304" pitchFamily="18" charset="0"/>
              <a:ea typeface="宋体" panose="02010600030101010101" pitchFamily="2" charset="-122"/>
            </a:endParaRPr>
          </a:p>
          <a:p>
            <a:endParaRPr lang="en-US" altLang="en-US" dirty="0"/>
          </a:p>
          <a:p>
            <a:r>
              <a:rPr lang="en-US" altLang="en-US" dirty="0"/>
              <a:t> with Qwen2-VL excelling in overall performance, as shown in the charts.</a:t>
            </a:r>
          </a:p>
          <a:p>
            <a:r>
              <a:rPr lang="en-US" altLang="en-US" dirty="0"/>
              <a:t>This comparison shows that Qwen2-VL is more suitable for my research goal.</a:t>
            </a:r>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a:sym typeface="+mn-ea"/>
              </a:rPr>
              <a:t> Next, I will begin designing my overall system.</a:t>
            </a:r>
            <a:endParaRPr lang="en-US" altLang="en-US"/>
          </a:p>
          <a:p>
            <a:endParaRPr lang="zh-CN" altLang="en-US"/>
          </a:p>
          <a:p>
            <a:r>
              <a:rPr lang="en-US" altLang="en-US"/>
              <a:t>Referring to the earlier mentioned  assistance system utilizing chatgpt models, I designed my own shopping assistance system .</a:t>
            </a:r>
          </a:p>
          <a:p>
            <a:r>
              <a:rPr lang="en-US" altLang="en-US"/>
              <a:t>Next, I will explain each component of my system in detail.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a:t>This model is primarily used to address the issue where visually impaired users may struggle to focus properly, resulting in blurry images.</a:t>
            </a:r>
          </a:p>
          <a:p>
            <a:r>
              <a:rPr lang="en-US" altLang="en-US"/>
              <a:t>I trained DeblurGAN using supermarket images and part of the ImageNet dataset, applying a motion blur filter to create paired blurry and sharp images for supervised training. Ensuring perfect pixel-level alignment allowed accurate loss calculation. To optimize, I concatenated blurry and sharp images into a single file, streamlining alignment and improving data loading efficiency.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To demonstrate </a:t>
            </a:r>
            <a:r>
              <a:rPr lang="en-US" altLang="en-US" dirty="0" err="1"/>
              <a:t>DeblurGAN's</a:t>
            </a:r>
            <a:r>
              <a:rPr lang="en-US" altLang="en-US" dirty="0"/>
              <a:t> effectiveness, I compared:</a:t>
            </a:r>
          </a:p>
          <a:p>
            <a:r>
              <a:rPr lang="en-US" altLang="en-US" dirty="0"/>
              <a:t>1.Blurred images as input to Qwen2-VL.</a:t>
            </a:r>
          </a:p>
          <a:p>
            <a:r>
              <a:rPr lang="en-US" altLang="en-US" dirty="0"/>
              <a:t>2.Deblurred images (processed by </a:t>
            </a:r>
            <a:r>
              <a:rPr lang="en-US" altLang="en-US" dirty="0" err="1"/>
              <a:t>DeblurGAN</a:t>
            </a:r>
            <a:r>
              <a:rPr lang="en-US" altLang="en-US" dirty="0"/>
              <a:t>) as input.</a:t>
            </a:r>
          </a:p>
          <a:p>
            <a:r>
              <a:rPr lang="en-US" altLang="en-US" dirty="0"/>
              <a:t>3.Clear images as ground truth for reference.</a:t>
            </a:r>
          </a:p>
          <a:p>
            <a:endParaRPr lang="en-US" altLang="en-US" dirty="0">
              <a:sym typeface="+mn-ea"/>
            </a:endParaRPr>
          </a:p>
          <a:p>
            <a:r>
              <a:rPr lang="en-US" altLang="en-US" dirty="0">
                <a:sym typeface="+mn-ea"/>
              </a:rPr>
              <a:t>text outputs show that </a:t>
            </a:r>
            <a:r>
              <a:rPr lang="en-US" altLang="en-US" dirty="0" err="1">
                <a:sym typeface="+mn-ea"/>
              </a:rPr>
              <a:t>DeblurGAN</a:t>
            </a:r>
            <a:r>
              <a:rPr lang="en-US" altLang="en-US" dirty="0">
                <a:sym typeface="+mn-ea"/>
              </a:rPr>
              <a:t> results are closer to the ground truth than those from blurred images.</a:t>
            </a:r>
            <a:endParaRPr lang="en-US" altLang="en-US" dirty="0"/>
          </a:p>
          <a:p>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DDD79-30F2-B0EC-105D-3E9C774CA0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5AC236-994D-E9C4-17D0-3EC59D0FD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BCADFF-03C9-BBE5-4E41-8659F22FBC0D}"/>
              </a:ext>
            </a:extLst>
          </p:cNvPr>
          <p:cNvSpPr>
            <a:spLocks noGrp="1"/>
          </p:cNvSpPr>
          <p:nvPr>
            <p:ph type="body" idx="1"/>
          </p:nvPr>
        </p:nvSpPr>
        <p:spPr/>
        <p:txBody>
          <a:bodyPr/>
          <a:lstStyle/>
          <a:p>
            <a:r>
              <a:rPr lang="en-US" altLang="en-US" dirty="0"/>
              <a:t>(I trained </a:t>
            </a:r>
            <a:r>
              <a:rPr lang="en-US" altLang="en-US" dirty="0" err="1"/>
              <a:t>deblurgan</a:t>
            </a:r>
            <a:r>
              <a:rPr lang="en-US" altLang="en-US" dirty="0"/>
              <a:t> to improve the shopping experience of the blind, so it is more intuitive to directly compare the quality of the output text.)</a:t>
            </a:r>
          </a:p>
          <a:p>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sym typeface="+mn-ea"/>
              </a:rPr>
              <a:t>text outputs show that </a:t>
            </a:r>
            <a:r>
              <a:rPr lang="en-US" altLang="en-US" dirty="0" err="1">
                <a:sym typeface="+mn-ea"/>
              </a:rPr>
              <a:t>DeblurGAN</a:t>
            </a:r>
            <a:r>
              <a:rPr lang="en-US" altLang="en-US" dirty="0">
                <a:sym typeface="+mn-ea"/>
              </a:rPr>
              <a:t> results are closer to the ground truth than those from blurred images.</a:t>
            </a:r>
            <a:endParaRPr lang="en-US" altLang="en-US" dirty="0"/>
          </a:p>
          <a:p>
            <a:endParaRPr lang="en-US" altLang="en-US" dirty="0"/>
          </a:p>
          <a:p>
            <a:endParaRPr lang="en-US" altLang="en-US" dirty="0"/>
          </a:p>
          <a:p>
            <a:endParaRPr lang="en-US" altLang="en-US" dirty="0"/>
          </a:p>
          <a:p>
            <a:endParaRPr lang="en-US" altLang="en-US" dirty="0"/>
          </a:p>
          <a:p>
            <a:r>
              <a:rPr lang="en-US" altLang="en-US" dirty="0"/>
              <a:t> I'll also consider comparing bleu to rogue for this follow-up.</a:t>
            </a:r>
          </a:p>
        </p:txBody>
      </p:sp>
      <p:sp>
        <p:nvSpPr>
          <p:cNvPr id="4" name="Slide Number Placeholder 3">
            <a:extLst>
              <a:ext uri="{FF2B5EF4-FFF2-40B4-BE49-F238E27FC236}">
                <a16:creationId xmlns:a16="http://schemas.microsoft.com/office/drawing/2014/main" id="{ECE06A87-D5C3-9BD2-A8A7-0CEDD880DD3F}"/>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64169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I choose it for its key feature  zero-shot TTS: input a 5-second voice sample for instant text-to-speech conversion using GPT-</a:t>
            </a:r>
            <a:r>
              <a:rPr lang="en-US" altLang="en-US" dirty="0" err="1"/>
              <a:t>SoVITS</a:t>
            </a:r>
            <a:r>
              <a:rPr lang="en-US" altLang="en-US" dirty="0"/>
              <a:t>, requiring only a pre-trained model and no retraining</a:t>
            </a:r>
          </a:p>
          <a:p>
            <a:r>
              <a:rPr lang="en-US" altLang="en-US" dirty="0"/>
              <a:t>User voice commands are transcribed with Whisper and processed by GPT-</a:t>
            </a:r>
            <a:r>
              <a:rPr lang="en-US" altLang="en-US" dirty="0" err="1"/>
              <a:t>SoVITS</a:t>
            </a:r>
            <a:r>
              <a:rPr lang="en-US" altLang="en-US" dirty="0"/>
              <a:t> to generate a voice response.</a:t>
            </a:r>
          </a:p>
          <a:p>
            <a:endParaRPr lang="en-US" altLang="en-US" dirty="0">
              <a:sym typeface="+mn-ea"/>
            </a:endParaRPr>
          </a:p>
          <a:p>
            <a:r>
              <a:rPr lang="en-US" altLang="en-US" dirty="0">
                <a:sym typeface="+mn-ea"/>
              </a:rPr>
              <a:t>Here is my demo</a:t>
            </a:r>
          </a:p>
          <a:p>
            <a:r>
              <a:rPr lang="en-US" altLang="en-US" dirty="0">
                <a:sym typeface="+mn-ea"/>
              </a:rPr>
              <a:t>The client is lightweight, focusing on the graphical interface, web requests, and essential hardware operations for improved system compatibility.</a:t>
            </a:r>
            <a:endParaRPr lang="zh-CN" altLang="en-US" dirty="0"/>
          </a:p>
          <a:p>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a:t>This project developed image-based voice QA software using the Qwen2-VL model for individuals with visual impairments. Leveraging the model's multimodal understanding, it analyzes images, generates natural language answers, and delivers them via voice, enhancing accessibility. Future plans include improving voice generation and expanding application scenarios to reach more users.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t>In this task, I only used a small set of images that I took myself in the supermarket, and the quantity is not very large. I annotated the information, converted the data from Excel to JSON, and then applied data augmentation.</a:t>
            </a:r>
          </a:p>
          <a:p>
            <a:r>
              <a:rPr lang="en-US" altLang="en-US"/>
              <a:t>Cropping was not used to avoid affecting the image information, such as cutting off price tags.</a:t>
            </a:r>
          </a:p>
          <a:p>
            <a:r>
              <a:rPr lang="en-US" altLang="en-US"/>
              <a:t>I have resized all my images to </a:t>
            </a:r>
            <a:r>
              <a:rPr lang="en-US" altLang="en-US">
                <a:latin typeface="Times New Roman Regular" panose="02020503050405090304" charset="0"/>
                <a:cs typeface="Times New Roman Regular" panose="02020503050405090304" charset="0"/>
                <a:sym typeface="+mn-ea"/>
              </a:rPr>
              <a:t>384x384</a:t>
            </a:r>
            <a:r>
              <a:rPr lang="en-US" altLang="en-US"/>
              <a:t> ，448x448 meets the min_pixels requirement, 448x448 required too many resources I am using 384x384 instead</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t>To train DeblurGAN, I used collected supermarket images and a portion of the ImageNet dataset as the training data source.</a:t>
            </a:r>
          </a:p>
          <a:p>
            <a:r>
              <a:rPr lang="en-US" altLang="en-US"/>
              <a:t>A motion blur filter was applied to the images via convolution to create a blur effect that simulates linear motion. This paired data serves as the foundation for supervised training of the GAN model. The generator is responsible for producing sharp images from blurry ones, while the discriminator determines whether the generated sharp images resemble real sharp images.</a:t>
            </a:r>
          </a:p>
          <a:p>
            <a:r>
              <a:rPr lang="en-US" altLang="en-US"/>
              <a:t>When training DeblurGAN, it is essential that blurry and sharp image pairs are not only present but also perfectly aligned at the pixel level. This ensures that pixel-level loss can be accurately calculated. By applying a motion blur filter directly to sharp images, I ensured that the blurry and sharp images were spatially identical, with the same dimensions, perspective, and content fully aligned.</a:t>
            </a:r>
          </a:p>
          <a:p>
            <a:r>
              <a:rPr lang="en-US" altLang="en-US"/>
              <a:t>To further optimize the process, I horizontally concatenated the blurry and sharp images into a single file. This approach guarantees pixel-level alignment while reducing the complexity of file management. It eliminates the need for additional logic to verify whether the filenames of blurry and sharp images match, thereby improving data loading efficiency.</a:t>
            </a:r>
          </a:p>
          <a:p>
            <a:endParaRPr lang="en-US" altLang="en-US"/>
          </a:p>
          <a:p>
            <a:r>
              <a:rPr lang="en-US" altLang="en-US"/>
              <a:t>I used a subset of ImageNet, consisting of a total of 5,500 images.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pPr marL="0" indent="0" algn="l">
              <a:spcBef>
                <a:spcPct val="0"/>
              </a:spcBef>
              <a:spcAft>
                <a:spcPct val="0"/>
              </a:spcAft>
              <a:buNone/>
            </a:pPr>
            <a:r>
              <a:rPr lang="en-US" altLang="en-US">
                <a:latin typeface="ui-sans-serif"/>
                <a:ea typeface="ui-sans-serif"/>
                <a:sym typeface="+mn-ea"/>
              </a:rPr>
              <a:t>ROUGE-Wfocuses on weighted longest common subsequences, primarily used for long-text evaluations to capture sequential consistency.  </a:t>
            </a:r>
            <a:endParaRPr lang="en-US" altLang="en-US" b="0" i="0">
              <a:solidFill>
                <a:schemeClr val="tx1"/>
              </a:solidFill>
              <a:latin typeface="ui-sans-serif"/>
              <a:ea typeface="ui-sans-serif"/>
            </a:endParaRPr>
          </a:p>
          <a:p>
            <a:pPr marL="0" indent="0" algn="l">
              <a:spcBef>
                <a:spcPct val="0"/>
              </a:spcBef>
              <a:spcAft>
                <a:spcPct val="0"/>
              </a:spcAft>
              <a:buNone/>
            </a:pPr>
            <a:endParaRPr lang="en-US" altLang="en-US" b="0" i="0">
              <a:solidFill>
                <a:schemeClr val="tx1"/>
              </a:solidFill>
              <a:latin typeface="ui-sans-serif"/>
              <a:ea typeface="ui-sans-serif"/>
            </a:endParaRPr>
          </a:p>
          <a:p>
            <a:r>
              <a:rPr lang="en-US" altLang="en-US"/>
              <a:t>ROUGE-S measures skip-bigram co-occurrence, which is also more relevant for evaluating flexibility in longer texts.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sym typeface="+mn-ea"/>
              </a:rPr>
              <a:t>This design allows Qwen2-VL to handle images of arbitrary resolution without splitting them into patches, ensuring consistency between the model's input and the intrinsic information of the image, which more closely aligns with human visual perception.</a:t>
            </a:r>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p:nvPr>
        </p:nvSpPr>
        <p:spPr>
          <a:xfrm>
            <a:off x="827950" y="6553866"/>
            <a:ext cx="6623597" cy="5362254"/>
          </a:xfrm>
          <a:prstGeom prst="rect">
            <a:avLst/>
          </a:prstGeom>
        </p:spPr>
        <p:txBody>
          <a:bodyPr/>
          <a:lstStyle/>
          <a:p>
            <a:endParaRPr lang="en-US" altLang="en-US"/>
          </a:p>
          <a:p>
            <a:r>
              <a:rPr lang="en-US" altLang="en-US"/>
              <a:t>The client is built using PyQt5 and includes components such as buttons, text boxes, image display areas, and more.</a:t>
            </a:r>
          </a:p>
          <a:p>
            <a:r>
              <a:rPr lang="en-US" altLang="en-US"/>
              <a:t>Its main features are as follows:</a:t>
            </a:r>
          </a:p>
          <a:p>
            <a:r>
              <a:rPr lang="en-US" altLang="en-US"/>
              <a:t>Image Loading and Display:</a:t>
            </a:r>
          </a:p>
          <a:p>
            <a:r>
              <a:rPr lang="en-US" altLang="en-US"/>
              <a:t>Users can select images to display within the interface.</a:t>
            </a:r>
          </a:p>
          <a:p>
            <a:r>
              <a:rPr lang="en-US" altLang="en-US"/>
              <a:t>Images can be loaded, cleared, and sent to a remote server for processing.</a:t>
            </a:r>
          </a:p>
          <a:p>
            <a:r>
              <a:rPr lang="en-US" altLang="en-US"/>
              <a:t>Voice Recording:</a:t>
            </a:r>
          </a:p>
          <a:p>
            <a:r>
              <a:rPr lang="en-US" altLang="en-US"/>
              <a:t>Supports recording audio through a microphone and saving it as a WAV file.</a:t>
            </a:r>
          </a:p>
          <a:p>
            <a:r>
              <a:rPr lang="en-US" altLang="en-US"/>
              <a:t>Provides start and stop recording buttons.</a:t>
            </a:r>
          </a:p>
          <a:p>
            <a:r>
              <a:rPr lang="en-US" altLang="en-US"/>
              <a:t>Interaction with Remote Services:</a:t>
            </a:r>
          </a:p>
          <a:p>
            <a:r>
              <a:rPr lang="en-US" altLang="en-US"/>
              <a:t>Sends images, text, or audio files to a remote Large Language Model (LLM) service and receives generated responses.</a:t>
            </a:r>
          </a:p>
          <a:p>
            <a:r>
              <a:rPr lang="en-US" altLang="en-US"/>
              <a:t>Received responses can be displayed in the log box.</a:t>
            </a:r>
          </a:p>
          <a:p>
            <a:r>
              <a:rPr lang="en-US" altLang="en-US"/>
              <a:t>Text-to-Speech (TTS):</a:t>
            </a:r>
          </a:p>
          <a:p>
            <a:r>
              <a:rPr lang="en-US" altLang="en-US"/>
              <a:t>Invokes remote TTS services to convert model-generated text into audio files.</a:t>
            </a:r>
          </a:p>
          <a:p>
            <a:r>
              <a:rPr lang="en-US" altLang="en-US"/>
              <a:t>Supports playback of the generated audio via an integrated player.</a:t>
            </a:r>
          </a:p>
          <a:p>
            <a:r>
              <a:rPr lang="en-US" altLang="en-US"/>
              <a:t>The client is designed to be highly lightweight, retaining only the graphical interface, web requests, and necessary hardware operations. This ensures better compatibility across different systems.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sym typeface="+mn-ea"/>
              </a:rPr>
              <a:t>: I systematically compared two state-of-the-art models (Qwen2-VL and LLaMa3.2), both of which I identified as highly capable and suitable for this system. My analysis determined which model performs better for the task at hand.</a:t>
            </a:r>
            <a:endParaRPr lang="en-US" altLang="en-US"/>
          </a:p>
          <a:p>
            <a:r>
              <a:rPr lang="en-US" altLang="en-US">
                <a:sym typeface="+mn-ea"/>
              </a:rPr>
              <a:t>: I developed a unique system that integrates the superior model identified from the comparison.</a:t>
            </a:r>
          </a:p>
          <a:p>
            <a:r>
              <a:rPr lang="en-US" altLang="en-US">
                <a:sym typeface="+mn-ea"/>
              </a:rPr>
              <a:t>: To tackle practical challenges, such as blurry images commonly encountered during real-world use, I incorporated DeblurGAN into the system to enhance usability and performance.</a:t>
            </a:r>
            <a:endParaRPr lang="en-US" altLang="en-US"/>
          </a:p>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a:t> visually demanding scenarios</a:t>
            </a:r>
            <a:r>
              <a:rPr lang="zh-CN" altLang="en-US"/>
              <a:t>，</a:t>
            </a:r>
            <a:r>
              <a:rPr lang="en-US" altLang="en-US"/>
              <a:t>Most current solutions rely on Optical Character Recognition combined with text to speech</a:t>
            </a:r>
          </a:p>
          <a:p>
            <a:r>
              <a:rPr lang="en-US" altLang="en-US"/>
              <a:t>OCR performs well in ideal conditions but struggles with low light, cluttered backgrounds, and unstructured inputs in complex retail settings, limiting its accuracy and usability.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ct val="0"/>
              </a:spcBef>
              <a:spcAft>
                <a:spcPct val="0"/>
              </a:spcAft>
            </a:pPr>
            <a:r>
              <a:rPr lang="en-US" altLang="zh-CN">
                <a:latin typeface="Times New Roman Regular" panose="02020503050405090304" charset="0"/>
                <a:ea typeface="ui-sans-serif"/>
                <a:cs typeface="Times New Roman Regular" panose="02020503050405090304" charset="0"/>
                <a:sym typeface="+mn-ea"/>
              </a:rPr>
              <a:t>A literature review indicates that previous assistive systems for visually impaired users predominantly relied on OCR (Optical Character Recognition) and TTS (Text-to-Speech) technologies. These systems were heavily dependent on textual content in images, primarily designed for reading purposes. However, in real-life scenarios, such as supermarket shopping, text alone often fails to provide sufficient information.</a:t>
            </a:r>
            <a:endParaRPr lang="en-US" altLang="zh-CN" b="0" i="0">
              <a:solidFill>
                <a:schemeClr val="tx1"/>
              </a:solidFill>
              <a:latin typeface="Times New Roman Regular" panose="02020503050405090304" charset="0"/>
              <a:ea typeface="ui-sans-serif"/>
              <a:cs typeface="Times New Roman Regular" panose="02020503050405090304" charset="0"/>
            </a:endParaRPr>
          </a:p>
          <a:p>
            <a:pPr marL="0" indent="0" algn="l">
              <a:spcBef>
                <a:spcPct val="0"/>
              </a:spcBef>
              <a:spcAft>
                <a:spcPct val="0"/>
              </a:spcAft>
            </a:pPr>
            <a:r>
              <a:rPr lang="en-US" altLang="zh-CN">
                <a:latin typeface="Times New Roman Regular" panose="02020503050405090304" charset="0"/>
                <a:ea typeface="ui-sans-serif"/>
                <a:cs typeface="Times New Roman Regular" panose="02020503050405090304" charset="0"/>
                <a:sym typeface="+mn-ea"/>
              </a:rPr>
              <a:t>To address this gap, I designed a novel system tailored specifically for this use case.</a:t>
            </a:r>
            <a:endParaRPr lang="en-US" altLang="en-US"/>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a:t>To demonstrate DeblurGAN's effectiveness, I compared:</a:t>
            </a:r>
          </a:p>
          <a:p>
            <a:r>
              <a:rPr lang="en-US" altLang="en-US"/>
              <a:t>1.Blurred images as input to Qwen2-VL.</a:t>
            </a:r>
          </a:p>
          <a:p>
            <a:r>
              <a:rPr lang="en-US" altLang="en-US"/>
              <a:t>2.Deblurred images (processed by DeblurGAN) as input.</a:t>
            </a:r>
          </a:p>
          <a:p>
            <a:r>
              <a:rPr lang="en-US" altLang="en-US"/>
              <a:t>3.Clear images as ground truth for reference.</a:t>
            </a:r>
          </a:p>
          <a:p>
            <a:endParaRPr lang="en-US" altLang="en-US">
              <a:sym typeface="+mn-ea"/>
            </a:endParaRPr>
          </a:p>
          <a:p>
            <a:r>
              <a:rPr lang="en-US" altLang="en-US">
                <a:sym typeface="+mn-ea"/>
              </a:rPr>
              <a:t>text outputs show that DeblurGAN results are closer to the ground truth than those from blurred images.</a:t>
            </a:r>
            <a:endParaRPr lang="en-US" altLang="en-US"/>
          </a:p>
          <a:p>
            <a:endParaRPr lang="en-US" altLang="en-US"/>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a:t>I trained deblurgan to improve the shopping experience of the blind, so it is more intuitive to directly compare the quality of the output text. I'll also consider comparing bleu to rogue for this follow-up.</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t>### **Why Choose the Supermarket Scenario**</a:t>
            </a:r>
          </a:p>
          <a:p>
            <a:endParaRPr lang="en-US" altLang="en-US"/>
          </a:p>
          <a:p>
            <a:r>
              <a:rPr lang="en-US" altLang="en-US"/>
              <a:t>1. **Accessibility Beyond Reading Needs:**  </a:t>
            </a:r>
          </a:p>
          <a:p>
            <a:r>
              <a:rPr lang="en-US" altLang="en-US"/>
              <a:t>   Current technology focuses heavily on high-visual scenarios like reading environments. However, not everyone has the need to read books, but everyone needs to shop. The supermarket scenario ensures inclusivity by addressing a universal activity rather than niche use cases.</a:t>
            </a:r>
          </a:p>
          <a:p>
            <a:endParaRPr lang="en-US" altLang="en-US"/>
          </a:p>
          <a:p>
            <a:r>
              <a:rPr lang="en-US" altLang="en-US"/>
              <a:t>2. **High Visual Dependency with Low Text Dependency:**  </a:t>
            </a:r>
          </a:p>
          <a:p>
            <a:r>
              <a:rPr lang="en-US" altLang="en-US"/>
              <a:t>   The supermarket represents a visually demanding environment where users need to identify products, prices, and labels. At the same time, the dependency on complex text-based content is minimal, making it an ideal balance for testing practical and efficient solutions for visually impaired users.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defRPr>
            </a:lvl1pPr>
          </a:lstStyle>
          <a:p>
            <a:r>
              <a:rPr lang="zh-CN" altLang="en-US" dirty="0"/>
              <a:t>单击此处添加标题</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2024/12/2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4400" b="0">
                <a:effectLst/>
              </a:defRPr>
            </a:lvl1pPr>
          </a:lstStyle>
          <a:p>
            <a:r>
              <a:rPr lang="zh-CN" altLang="en-US" dirty="0"/>
              <a:t>单击此处编辑母版标题样式</a:t>
            </a:r>
          </a:p>
        </p:txBody>
      </p:sp>
      <p:sp>
        <p:nvSpPr>
          <p:cNvPr id="3" name="内容占位符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1800">
                <a:solidFill>
                  <a:schemeClr val="tx1">
                    <a:lumMod val="75000"/>
                    <a:lumOff val="25000"/>
                  </a:schemeClr>
                </a:solidFill>
              </a:defRPr>
            </a:lvl4pPr>
            <a:lvl5pPr>
              <a:defRPr sz="18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2024/12/2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49" y="469127"/>
            <a:ext cx="10307927" cy="4093347"/>
          </a:xfrm>
        </p:spPr>
        <p:txBody>
          <a:bodyPr anchor="b">
            <a:normAutofit/>
          </a:bodyPr>
          <a:lstStyle>
            <a:lvl1pPr>
              <a:defRPr sz="6000">
                <a:effectLst/>
              </a:defRPr>
            </a:lvl1pPr>
          </a:lstStyle>
          <a:p>
            <a:r>
              <a:rPr lang="zh-CN" altLang="en-US" dirty="0"/>
              <a:t>单击此处编辑母版标题样式</a:t>
            </a:r>
          </a:p>
        </p:txBody>
      </p:sp>
      <p:sp>
        <p:nvSpPr>
          <p:cNvPr id="3" name="文本占位符 2"/>
          <p:cNvSpPr>
            <a:spLocks noGrp="1"/>
          </p:cNvSpPr>
          <p:nvPr>
            <p:ph type="body" idx="1"/>
          </p:nvPr>
        </p:nvSpPr>
        <p:spPr>
          <a:xfrm>
            <a:off x="831850" y="4610028"/>
            <a:ext cx="10307926" cy="647555"/>
          </a:xfrm>
        </p:spPr>
        <p:txBody>
          <a:bodyPr>
            <a:normAutofit/>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2024/12/2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4400" b="0" i="0">
                <a:effectLst/>
              </a:defRPr>
            </a:lvl1pPr>
          </a:lstStyle>
          <a:p>
            <a:r>
              <a:rPr lang="zh-CN" altLang="en-US" dirty="0"/>
              <a:t>单击此处编辑母版标题样式</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fld id="{760FBDFE-C587-4B4C-A407-44438C67B59E}" type="datetimeFigureOut">
              <a:rPr lang="zh-CN" altLang="en-US" smtClean="0"/>
              <a:t>2024/12/2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dirty="0"/>
              <a:t>单击此处编辑母版标题样式</a:t>
            </a:r>
          </a:p>
        </p:txBody>
      </p:sp>
      <p:sp>
        <p:nvSpPr>
          <p:cNvPr id="3" name="文本占位符 2"/>
          <p:cNvSpPr>
            <a:spLocks noGrp="1"/>
          </p:cNvSpPr>
          <p:nvPr>
            <p:ph type="body" idx="1"/>
          </p:nvPr>
        </p:nvSpPr>
        <p:spPr>
          <a:xfrm>
            <a:off x="839788" y="1744961"/>
            <a:ext cx="5157787"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fld id="{760FBDFE-C587-4B4C-A407-44438C67B59E}" type="datetimeFigureOut">
              <a:rPr lang="zh-CN" altLang="en-US" smtClean="0"/>
              <a:t>2024/12/2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400" b="0">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2024/12/2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t>2024/12/2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3200" b="0">
                <a:effectLst/>
              </a:defRPr>
            </a:lvl1pPr>
          </a:lstStyle>
          <a:p>
            <a:r>
              <a:rPr lang="zh-CN" altLang="en-US" dirty="0"/>
              <a:t>单击此处编辑标题</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fld id="{9EFD9D74-47D9-4702-A33C-335B63B48DBF}" type="datetimeFigureOut">
              <a:rPr lang="zh-CN" altLang="en-US" smtClean="0"/>
              <a:t>2024/12/2</a:t>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4400"/>
            </a:lvl1pPr>
          </a:lstStyle>
          <a:p>
            <a:r>
              <a:rPr lang="zh-CN" altLang="en-US" dirty="0"/>
              <a:t>单击此处编辑母版标题样式</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2024/12/2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t>2024/12/2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2024/12/2</a:t>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hyperlink" Target="https://www.iapb.org/learn/vision-atlas/magnitude-and-projections/global/" TargetMode="External"/><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hyperlink" Target="https://www.who.int/news-room/fact-sheets/detail/blindness-and-visual-impairment"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8.png"/><Relationship Id="rId7"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image" Target="../media/image10.svg"/><Relationship Id="rId5" Type="http://schemas.openxmlformats.org/officeDocument/2006/relationships/image" Target="../media/image5.pn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1.xml"/><Relationship Id="rId5" Type="http://schemas.openxmlformats.org/officeDocument/2006/relationships/image" Target="../media/image13.jpeg"/><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image" Target="../media/image10.svg"/><Relationship Id="rId5" Type="http://schemas.openxmlformats.org/officeDocument/2006/relationships/image" Target="../media/image5.png"/><Relationship Id="rId4" Type="http://schemas.openxmlformats.org/officeDocument/2006/relationships/image" Target="../media/image9.sv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10.sv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14.svg"/></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1.xml"/><Relationship Id="rId5" Type="http://schemas.openxmlformats.org/officeDocument/2006/relationships/image" Target="../media/image22.png"/><Relationship Id="rId4" Type="http://schemas.openxmlformats.org/officeDocument/2006/relationships/image" Target="../media/image21.svg"/></Relationships>
</file>

<file path=ppt/slides/_rels/slide14.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3.png"/><Relationship Id="rId7"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1.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 Id="rId9"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30.jpeg"/><Relationship Id="rId2" Type="http://schemas.openxmlformats.org/officeDocument/2006/relationships/notesSlide" Target="../notesSlides/notesSlide15.xml"/><Relationship Id="rId1" Type="http://schemas.openxmlformats.org/officeDocument/2006/relationships/slideLayout" Target="../slideLayouts/slideLayout11.xml"/><Relationship Id="rId6" Type="http://schemas.openxmlformats.org/officeDocument/2006/relationships/image" Target="../media/image29.png"/><Relationship Id="rId5" Type="http://schemas.openxmlformats.org/officeDocument/2006/relationships/image" Target="../media/image13.jpeg"/><Relationship Id="rId4" Type="http://schemas.openxmlformats.org/officeDocument/2006/relationships/image" Target="../media/image27.sv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1.xml"/><Relationship Id="rId4" Type="http://schemas.openxmlformats.org/officeDocument/2006/relationships/image" Target="../media/image27.sv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11.xml"/><Relationship Id="rId6" Type="http://schemas.openxmlformats.org/officeDocument/2006/relationships/image" Target="../media/image27.svg"/><Relationship Id="rId5" Type="http://schemas.openxmlformats.org/officeDocument/2006/relationships/image" Target="../media/image5.png"/><Relationship Id="rId4" Type="http://schemas.openxmlformats.org/officeDocument/2006/relationships/image" Target="../media/image24.sv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1.xml"/><Relationship Id="rId4" Type="http://schemas.openxmlformats.org/officeDocument/2006/relationships/image" Target="../media/image32.sv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1.xml"/><Relationship Id="rId4" Type="http://schemas.openxmlformats.org/officeDocument/2006/relationships/image" Target="../media/image33.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11.xml"/><Relationship Id="rId5" Type="http://schemas.openxmlformats.org/officeDocument/2006/relationships/image" Target="../media/image37.png"/><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11.xml"/><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39.png"/><Relationship Id="rId7"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11.xml"/><Relationship Id="rId6" Type="http://schemas.openxmlformats.org/officeDocument/2006/relationships/image" Target="../media/image10.svg"/><Relationship Id="rId5" Type="http://schemas.openxmlformats.org/officeDocument/2006/relationships/image" Target="../media/image5.png"/><Relationship Id="rId4" Type="http://schemas.openxmlformats.org/officeDocument/2006/relationships/image" Target="../media/image40.svg"/></Relationships>
</file>

<file path=ppt/slides/_rels/slide29.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3.png"/><Relationship Id="rId7"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11.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30.jpeg"/><Relationship Id="rId2" Type="http://schemas.openxmlformats.org/officeDocument/2006/relationships/notesSlide" Target="../notesSlides/notesSlide30.xml"/><Relationship Id="rId1" Type="http://schemas.openxmlformats.org/officeDocument/2006/relationships/slideLayout" Target="../slideLayouts/slideLayout11.xml"/><Relationship Id="rId6" Type="http://schemas.openxmlformats.org/officeDocument/2006/relationships/image" Target="../media/image29.png"/><Relationship Id="rId5" Type="http://schemas.openxmlformats.org/officeDocument/2006/relationships/image" Target="../media/image13.jpeg"/><Relationship Id="rId4" Type="http://schemas.openxmlformats.org/officeDocument/2006/relationships/image" Target="../media/image27.sv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11.xml"/><Relationship Id="rId4" Type="http://schemas.openxmlformats.org/officeDocument/2006/relationships/image" Target="../media/image27.sv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2373" y="2142243"/>
            <a:ext cx="511799" cy="511799"/>
          </a:xfrm>
          <a:prstGeom prst="rect">
            <a:avLst/>
          </a:prstGeom>
        </p:spPr>
      </p:pic>
      <p:sp>
        <p:nvSpPr>
          <p:cNvPr id="4" name="Text 1"/>
          <p:cNvSpPr/>
          <p:nvPr/>
        </p:nvSpPr>
        <p:spPr>
          <a:xfrm>
            <a:off x="1208272" y="1423694"/>
            <a:ext cx="10560924" cy="2319849"/>
          </a:xfrm>
          <a:prstGeom prst="rect">
            <a:avLst/>
          </a:prstGeom>
          <a:solidFill>
            <a:srgbClr val="FFFFFF">
              <a:alpha val="0"/>
            </a:srgbClr>
          </a:solidFill>
        </p:spPr>
        <p:txBody>
          <a:bodyPr wrap="square" lIns="0" tIns="0" rIns="0" bIns="0" rtlCol="0" anchor="b"/>
          <a:lstStyle/>
          <a:p>
            <a:pPr algn="ctr">
              <a:lnSpc>
                <a:spcPct val="125000"/>
              </a:lnSpc>
            </a:pPr>
            <a:r>
              <a:rPr lang="en-US" altLang="en-US" sz="3840" dirty="0">
                <a:latin typeface="Times New Roman Regular" panose="02020503050405090304" charset="0"/>
                <a:cs typeface="Times New Roman Regular" panose="02020503050405090304" charset="0"/>
              </a:rPr>
              <a:t>Low Vision Shopping Assistance: Vision Language Model Integrating Image Enhancements and Automatic Speech Recognition</a:t>
            </a:r>
          </a:p>
        </p:txBody>
      </p:sp>
      <p:sp>
        <p:nvSpPr>
          <p:cNvPr id="11" name="Text 5"/>
          <p:cNvSpPr/>
          <p:nvPr/>
        </p:nvSpPr>
        <p:spPr>
          <a:xfrm>
            <a:off x="8336185" y="5300975"/>
            <a:ext cx="1579264" cy="307079"/>
          </a:xfrm>
          <a:prstGeom prst="rect">
            <a:avLst/>
          </a:prstGeom>
          <a:solidFill>
            <a:srgbClr val="FFFFFF">
              <a:alpha val="0"/>
            </a:srgbClr>
          </a:solidFill>
        </p:spPr>
        <p:txBody>
          <a:bodyPr wrap="square" lIns="0" tIns="0" rIns="0" bIns="0" rtlCol="0" anchor="ctr"/>
          <a:lstStyle/>
          <a:p>
            <a:pPr algn="l">
              <a:lnSpc>
                <a:spcPct val="125000"/>
              </a:lnSpc>
            </a:pPr>
            <a:r>
              <a:rPr lang="en-US" sz="1280" dirty="0">
                <a:solidFill>
                  <a:srgbClr val="000000"/>
                </a:solidFill>
                <a:latin typeface="Times New Roman Regular" panose="02020503050405090304" charset="0"/>
                <a:ea typeface="HarmonyOS Sans" pitchFamily="34" charset="-122"/>
                <a:cs typeface="Times New Roman Regular" panose="02020503050405090304" charset="0"/>
              </a:rPr>
              <a:t>Date：2024.1</a:t>
            </a:r>
            <a:r>
              <a:rPr lang="en-US" altLang="zh-CN" sz="1280" dirty="0">
                <a:solidFill>
                  <a:srgbClr val="000000"/>
                </a:solidFill>
                <a:latin typeface="Times New Roman Regular" panose="02020503050405090304" charset="0"/>
                <a:ea typeface="HarmonyOS Sans" pitchFamily="34" charset="-122"/>
                <a:cs typeface="Times New Roman Regular" panose="02020503050405090304" charset="0"/>
              </a:rPr>
              <a:t>2.02</a:t>
            </a:r>
            <a:endParaRPr lang="en-US" sz="1280" dirty="0">
              <a:solidFill>
                <a:srgbClr val="000000"/>
              </a:solidFill>
              <a:latin typeface="Times New Roman Regular" panose="02020503050405090304" charset="0"/>
              <a:ea typeface="HarmonyOS Sans" pitchFamily="34" charset="-122"/>
              <a:cs typeface="Times New Roman Regular" panose="02020503050405090304" charset="0"/>
            </a:endParaRPr>
          </a:p>
        </p:txBody>
      </p:sp>
      <p:pic>
        <p:nvPicPr>
          <p:cNvPr id="13"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52373" y="3970095"/>
            <a:ext cx="9614503" cy="14623"/>
          </a:xfrm>
          <a:prstGeom prst="rect">
            <a:avLst/>
          </a:prstGeom>
        </p:spPr>
      </p:pic>
      <p:sp>
        <p:nvSpPr>
          <p:cNvPr id="3" name="Text Box 2"/>
          <p:cNvSpPr txBox="1"/>
          <p:nvPr/>
        </p:nvSpPr>
        <p:spPr>
          <a:xfrm>
            <a:off x="8127201" y="4211168"/>
            <a:ext cx="4062909" cy="435610"/>
          </a:xfrm>
          <a:prstGeom prst="rect">
            <a:avLst/>
          </a:prstGeom>
          <a:noFill/>
        </p:spPr>
        <p:txBody>
          <a:bodyPr wrap="square" rtlCol="0">
            <a:spAutoFit/>
          </a:bodyPr>
          <a:lstStyle/>
          <a:p>
            <a:r>
              <a:rPr lang="en-US" sz="2240">
                <a:latin typeface="Times New Roman Regular" panose="02020503050405090304" charset="0"/>
                <a:cs typeface="Times New Roman Regular" panose="02020503050405090304" charset="0"/>
              </a:rPr>
              <a:t>Dong Jieru</a:t>
            </a:r>
          </a:p>
        </p:txBody>
      </p:sp>
      <p:sp>
        <p:nvSpPr>
          <p:cNvPr id="9" name="Text Box 8"/>
          <p:cNvSpPr txBox="1"/>
          <p:nvPr/>
        </p:nvSpPr>
        <p:spPr>
          <a:xfrm>
            <a:off x="8231795" y="4628528"/>
            <a:ext cx="4062909" cy="533400"/>
          </a:xfrm>
          <a:prstGeom prst="rect">
            <a:avLst/>
          </a:prstGeom>
          <a:noFill/>
        </p:spPr>
        <p:txBody>
          <a:bodyPr wrap="square" rtlCol="0">
            <a:spAutoFit/>
          </a:bodyPr>
          <a:lstStyle/>
          <a:p>
            <a:r>
              <a:rPr lang="en-US" sz="1440">
                <a:latin typeface="Times New Roman Regular" panose="02020503050405090304" charset="0"/>
                <a:cs typeface="Times New Roman Regular" panose="02020503050405090304" charset="0"/>
              </a:rPr>
              <a:t>ISSE</a:t>
            </a:r>
          </a:p>
          <a:p>
            <a:r>
              <a:rPr lang="en-US" sz="1440">
                <a:latin typeface="Times New Roman Regular" panose="02020503050405090304" charset="0"/>
                <a:cs typeface="Times New Roman Regular" panose="02020503050405090304" charset="0"/>
              </a:rPr>
              <a:t>Visual Information Engineering LAB</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74540" y="2683287"/>
            <a:ext cx="1718181" cy="1294119"/>
          </a:xfrm>
          <a:prstGeom prst="rect">
            <a:avLst/>
          </a:prstGeom>
          <a:solidFill>
            <a:srgbClr val="FFFFFF">
              <a:alpha val="0"/>
            </a:srgbClr>
          </a:solidFill>
        </p:spPr>
        <p:txBody>
          <a:bodyPr wrap="square" lIns="0" tIns="0" rIns="0" bIns="0" rtlCol="0" anchor="t"/>
          <a:lstStyle/>
          <a:p>
            <a:pPr algn="ctr">
              <a:lnSpc>
                <a:spcPct val="125000"/>
              </a:lnSpc>
            </a:pPr>
            <a:r>
              <a:rPr lang="en-US" sz="2080" b="1" dirty="0">
                <a:solidFill>
                  <a:srgbClr val="000000"/>
                </a:solidFill>
                <a:latin typeface="Times New Roman Regular" panose="02020503050405090304" charset="0"/>
                <a:ea typeface="HarmonyOS Sans" pitchFamily="34" charset="-122"/>
                <a:cs typeface="Times New Roman Regular" panose="02020503050405090304" charset="0"/>
              </a:rPr>
              <a:t>Background</a:t>
            </a:r>
          </a:p>
        </p:txBody>
      </p:sp>
      <p:sp>
        <p:nvSpPr>
          <p:cNvPr id="3" name="Text 1"/>
          <p:cNvSpPr/>
          <p:nvPr/>
        </p:nvSpPr>
        <p:spPr>
          <a:xfrm>
            <a:off x="3694151" y="2683287"/>
            <a:ext cx="1718181" cy="1294119"/>
          </a:xfrm>
          <a:prstGeom prst="rect">
            <a:avLst/>
          </a:prstGeom>
          <a:solidFill>
            <a:srgbClr val="FFFFFF">
              <a:alpha val="0"/>
            </a:srgbClr>
          </a:solidFill>
        </p:spPr>
        <p:txBody>
          <a:bodyPr wrap="square" lIns="0" tIns="0" rIns="0" bIns="0" rtlCol="0" anchor="t"/>
          <a:lstStyle/>
          <a:p>
            <a:pPr algn="ctr">
              <a:lnSpc>
                <a:spcPct val="125000"/>
              </a:lnSpc>
            </a:pPr>
            <a:r>
              <a:rPr lang="en-US" sz="2080" b="1" dirty="0">
                <a:solidFill>
                  <a:srgbClr val="000000"/>
                </a:solidFill>
                <a:latin typeface="Times New Roman Regular" panose="02020503050405090304" charset="0"/>
                <a:ea typeface="HarmonyOS Sans" pitchFamily="34" charset="-122"/>
                <a:cs typeface="Times New Roman Regular" panose="02020503050405090304" charset="0"/>
              </a:rPr>
              <a:t>Literature Review</a:t>
            </a:r>
          </a:p>
        </p:txBody>
      </p:sp>
      <p:sp>
        <p:nvSpPr>
          <p:cNvPr id="4" name="Text 2"/>
          <p:cNvSpPr/>
          <p:nvPr/>
        </p:nvSpPr>
        <p:spPr>
          <a:xfrm>
            <a:off x="6713763" y="2683287"/>
            <a:ext cx="1718181" cy="1520773"/>
          </a:xfrm>
          <a:prstGeom prst="rect">
            <a:avLst/>
          </a:prstGeom>
          <a:solidFill>
            <a:srgbClr val="FFFFFF">
              <a:alpha val="0"/>
            </a:srgbClr>
          </a:solidFill>
        </p:spPr>
        <p:txBody>
          <a:bodyPr wrap="square" lIns="0" tIns="0" rIns="0" bIns="0" rtlCol="0" anchor="t"/>
          <a:lstStyle/>
          <a:p>
            <a:pPr algn="ctr">
              <a:lnSpc>
                <a:spcPct val="125000"/>
              </a:lnSpc>
            </a:pPr>
            <a:r>
              <a:rPr lang="en-US" sz="2000" b="1" dirty="0">
                <a:solidFill>
                  <a:srgbClr val="000000"/>
                </a:solidFill>
                <a:latin typeface="Times New Roman Regular" panose="02020503050405090304" charset="0"/>
                <a:ea typeface="HarmonyOS Sans" pitchFamily="34" charset="-122"/>
                <a:cs typeface="Times New Roman Regular" panose="02020503050405090304" charset="0"/>
              </a:rPr>
              <a:t>Model Introduction - Qwen2-VL-</a:t>
            </a:r>
          </a:p>
        </p:txBody>
      </p:sp>
      <p:sp>
        <p:nvSpPr>
          <p:cNvPr id="5" name="Text 3"/>
          <p:cNvSpPr/>
          <p:nvPr/>
        </p:nvSpPr>
        <p:spPr>
          <a:xfrm>
            <a:off x="731203" y="5352459"/>
            <a:ext cx="1718181" cy="1294119"/>
          </a:xfrm>
          <a:prstGeom prst="rect">
            <a:avLst/>
          </a:prstGeom>
          <a:solidFill>
            <a:srgbClr val="FFFFFF">
              <a:alpha val="0"/>
            </a:srgbClr>
          </a:solidFill>
        </p:spPr>
        <p:txBody>
          <a:bodyPr wrap="square" lIns="0" tIns="0" rIns="0" bIns="0" rtlCol="0" anchor="t"/>
          <a:lstStyle/>
          <a:p>
            <a:pPr algn="ctr">
              <a:lnSpc>
                <a:spcPct val="125000"/>
              </a:lnSpc>
            </a:pPr>
            <a:r>
              <a:rPr lang="en-US" sz="2080" b="1" dirty="0">
                <a:solidFill>
                  <a:srgbClr val="000000"/>
                </a:solidFill>
                <a:latin typeface="Times New Roman Regular" panose="02020503050405090304" charset="0"/>
                <a:ea typeface="HarmonyOS Sans" pitchFamily="34" charset="-122"/>
                <a:cs typeface="Times New Roman Regular" panose="02020503050405090304" charset="0"/>
              </a:rPr>
              <a:t>System Architecture</a:t>
            </a:r>
          </a:p>
        </p:txBody>
      </p:sp>
      <p:sp>
        <p:nvSpPr>
          <p:cNvPr id="6" name="Text 4"/>
          <p:cNvSpPr/>
          <p:nvPr/>
        </p:nvSpPr>
        <p:spPr>
          <a:xfrm>
            <a:off x="3694050" y="5176478"/>
            <a:ext cx="1718181" cy="1294119"/>
          </a:xfrm>
          <a:prstGeom prst="rect">
            <a:avLst/>
          </a:prstGeom>
          <a:solidFill>
            <a:srgbClr val="FFFFFF">
              <a:alpha val="0"/>
            </a:srgbClr>
          </a:solidFill>
        </p:spPr>
        <p:txBody>
          <a:bodyPr wrap="square" lIns="0" tIns="0" rIns="0" bIns="0" rtlCol="0" anchor="t"/>
          <a:lstStyle/>
          <a:p>
            <a:pPr algn="ctr">
              <a:lnSpc>
                <a:spcPct val="125000"/>
              </a:lnSpc>
            </a:pPr>
            <a:r>
              <a:rPr lang="en-US" sz="2080" b="1" dirty="0">
                <a:solidFill>
                  <a:srgbClr val="000000"/>
                </a:solidFill>
                <a:latin typeface="Times New Roman Regular" panose="02020503050405090304" charset="0"/>
                <a:ea typeface="HarmonyOS Sans" pitchFamily="34" charset="-122"/>
                <a:cs typeface="Times New Roman Regular" panose="02020503050405090304" charset="0"/>
              </a:rPr>
              <a:t>Technical Implementation</a:t>
            </a:r>
          </a:p>
        </p:txBody>
      </p:sp>
      <p:sp>
        <p:nvSpPr>
          <p:cNvPr id="8" name="Text 6"/>
          <p:cNvSpPr/>
          <p:nvPr/>
        </p:nvSpPr>
        <p:spPr>
          <a:xfrm>
            <a:off x="6713763" y="5176478"/>
            <a:ext cx="1718181" cy="1294119"/>
          </a:xfrm>
          <a:prstGeom prst="rect">
            <a:avLst/>
          </a:prstGeom>
          <a:solidFill>
            <a:srgbClr val="FFFFFF">
              <a:alpha val="0"/>
            </a:srgbClr>
          </a:solidFill>
        </p:spPr>
        <p:txBody>
          <a:bodyPr wrap="square" lIns="0" tIns="0" rIns="0" bIns="0" rtlCol="0" anchor="t"/>
          <a:lstStyle/>
          <a:p>
            <a:pPr algn="ctr">
              <a:lnSpc>
                <a:spcPct val="125000"/>
              </a:lnSpc>
            </a:pPr>
            <a:r>
              <a:rPr lang="en-US" sz="1680" b="1" dirty="0">
                <a:solidFill>
                  <a:srgbClr val="000000"/>
                </a:solidFill>
                <a:latin typeface="Times New Roman Regular" panose="02020503050405090304" charset="0"/>
                <a:ea typeface="HarmonyOS Sans" pitchFamily="34" charset="-122"/>
                <a:cs typeface="Times New Roman Regular" panose="02020503050405090304" charset="0"/>
              </a:rPr>
              <a:t>Future Work and Improvement Directions</a:t>
            </a:r>
          </a:p>
        </p:txBody>
      </p:sp>
      <p:sp>
        <p:nvSpPr>
          <p:cNvPr id="9" name="Text 7"/>
          <p:cNvSpPr/>
          <p:nvPr/>
        </p:nvSpPr>
        <p:spPr>
          <a:xfrm>
            <a:off x="9733375" y="5176478"/>
            <a:ext cx="1718181" cy="1294119"/>
          </a:xfrm>
          <a:prstGeom prst="rect">
            <a:avLst/>
          </a:prstGeom>
          <a:solidFill>
            <a:srgbClr val="FFFFFF">
              <a:alpha val="0"/>
            </a:srgbClr>
          </a:solidFill>
        </p:spPr>
        <p:txBody>
          <a:bodyPr wrap="square" lIns="0" tIns="0" rIns="0" bIns="0" rtlCol="0" anchor="t"/>
          <a:lstStyle/>
          <a:p>
            <a:pPr algn="ctr">
              <a:lnSpc>
                <a:spcPct val="125000"/>
              </a:lnSpc>
            </a:pPr>
            <a:r>
              <a:rPr lang="en-US" sz="2080" b="1" dirty="0">
                <a:solidFill>
                  <a:srgbClr val="000000"/>
                </a:solidFill>
                <a:latin typeface="Times New Roman Regular" panose="02020503050405090304" charset="0"/>
                <a:ea typeface="HarmonyOS Sans" pitchFamily="34" charset="-122"/>
                <a:cs typeface="Times New Roman Regular" panose="02020503050405090304" charset="0"/>
              </a:rPr>
              <a:t>Conclusion</a:t>
            </a:r>
          </a:p>
        </p:txBody>
      </p:sp>
      <p:sp>
        <p:nvSpPr>
          <p:cNvPr id="10" name="Shape 8"/>
          <p:cNvSpPr/>
          <p:nvPr/>
        </p:nvSpPr>
        <p:spPr>
          <a:xfrm>
            <a:off x="630671" y="1060154"/>
            <a:ext cx="10835508" cy="0"/>
          </a:xfrm>
          <a:prstGeom prst="line">
            <a:avLst/>
          </a:prstGeom>
          <a:solidFill>
            <a:srgbClr val="FFFFFF"/>
          </a:solidFill>
          <a:ln w="19050">
            <a:solidFill>
              <a:srgbClr val="808080"/>
            </a:solidFill>
            <a:prstDash val="solid"/>
            <a:headEnd type="none"/>
            <a:tailEnd type="none"/>
          </a:ln>
          <a:effectLst>
            <a:outerShdw blurRad="101600" dist="50800" dir="16200000" algn="bl" rotWithShape="0">
              <a:srgbClr val="000000">
                <a:alpha val="0"/>
              </a:srgbClr>
            </a:outerShdw>
          </a:effectLst>
        </p:spPr>
        <p:txBody>
          <a:bodyPr/>
          <a:lstStyle/>
          <a:p>
            <a:endParaRPr lang="en-US"/>
          </a:p>
        </p:txBody>
      </p:sp>
      <p:sp>
        <p:nvSpPr>
          <p:cNvPr id="12" name="Text 10"/>
          <p:cNvSpPr/>
          <p:nvPr/>
        </p:nvSpPr>
        <p:spPr>
          <a:xfrm>
            <a:off x="499066" y="504487"/>
            <a:ext cx="1950222" cy="548356"/>
          </a:xfrm>
          <a:prstGeom prst="rect">
            <a:avLst/>
          </a:prstGeom>
          <a:solidFill>
            <a:srgbClr val="FFFFFF">
              <a:alpha val="0"/>
            </a:srgbClr>
          </a:solidFill>
        </p:spPr>
        <p:txBody>
          <a:bodyPr wrap="square" lIns="0" tIns="0" rIns="0" bIns="0" rtlCol="0" anchor="ctr"/>
          <a:lstStyle/>
          <a:p>
            <a:pPr algn="ctr">
              <a:lnSpc>
                <a:spcPct val="125000"/>
              </a:lnSpc>
            </a:pPr>
            <a:r>
              <a:rPr lang="en-US" sz="2880" b="1" dirty="0">
                <a:solidFill>
                  <a:srgbClr val="000000"/>
                </a:solidFill>
                <a:latin typeface="Times New Roman Regular" panose="02020503050405090304" charset="0"/>
                <a:ea typeface="HarmonyOS Sans" pitchFamily="34" charset="-122"/>
                <a:cs typeface="Times New Roman Regular" panose="02020503050405090304" charset="0"/>
              </a:rPr>
              <a:t>Contexts</a:t>
            </a:r>
          </a:p>
        </p:txBody>
      </p:sp>
      <p:sp>
        <p:nvSpPr>
          <p:cNvPr id="13" name="Shape 11"/>
          <p:cNvSpPr/>
          <p:nvPr/>
        </p:nvSpPr>
        <p:spPr>
          <a:xfrm>
            <a:off x="1230207" y="1908278"/>
            <a:ext cx="636093" cy="636093"/>
          </a:xfrm>
          <a:prstGeom prst="rect">
            <a:avLst/>
          </a:prstGeom>
          <a:solidFill>
            <a:srgbClr val="C55A40"/>
          </a:solidFill>
          <a:effectLst>
            <a:outerShdw blurRad="101600" dist="50800" dir="16200000" algn="bl" rotWithShape="0">
              <a:srgbClr val="000000">
                <a:alpha val="0"/>
              </a:srgbClr>
            </a:outerShdw>
          </a:effectLst>
        </p:spPr>
        <p:txBody>
          <a:bodyPr/>
          <a:lstStyle/>
          <a:p>
            <a:endParaRPr lang="en-US"/>
          </a:p>
        </p:txBody>
      </p:sp>
      <p:sp>
        <p:nvSpPr>
          <p:cNvPr id="14" name="Shape 12"/>
          <p:cNvSpPr/>
          <p:nvPr/>
        </p:nvSpPr>
        <p:spPr>
          <a:xfrm>
            <a:off x="10274419" y="1908278"/>
            <a:ext cx="636093" cy="636093"/>
          </a:xfrm>
          <a:prstGeom prst="rect">
            <a:avLst/>
          </a:prstGeom>
          <a:solidFill>
            <a:srgbClr val="C55A40"/>
          </a:solidFill>
          <a:effectLst>
            <a:outerShdw blurRad="101600" dist="50800" dir="16200000" algn="bl" rotWithShape="0">
              <a:srgbClr val="000000">
                <a:alpha val="0"/>
              </a:srgbClr>
            </a:outerShdw>
          </a:effectLst>
        </p:spPr>
        <p:txBody>
          <a:bodyPr/>
          <a:lstStyle/>
          <a:p>
            <a:endParaRPr lang="en-US"/>
          </a:p>
        </p:txBody>
      </p:sp>
      <p:sp>
        <p:nvSpPr>
          <p:cNvPr id="15" name="Text 13"/>
          <p:cNvSpPr/>
          <p:nvPr/>
        </p:nvSpPr>
        <p:spPr>
          <a:xfrm>
            <a:off x="1310632" y="2017949"/>
            <a:ext cx="467930" cy="431373"/>
          </a:xfrm>
          <a:prstGeom prst="rect">
            <a:avLst/>
          </a:prstGeom>
          <a:solidFill>
            <a:srgbClr val="FFFFFF">
              <a:alpha val="0"/>
            </a:srgbClr>
          </a:solidFill>
        </p:spPr>
        <p:txBody>
          <a:bodyPr wrap="square" lIns="0" tIns="0" rIns="0" bIns="0" rtlCol="0" anchor="ctr"/>
          <a:lstStyle/>
          <a:p>
            <a:pPr algn="ctr">
              <a:lnSpc>
                <a:spcPct val="125000"/>
              </a:lnSpc>
            </a:pPr>
            <a:r>
              <a:rPr lang="en-US" sz="1920" b="1" dirty="0">
                <a:solidFill>
                  <a:srgbClr val="FFFFFF"/>
                </a:solidFill>
                <a:latin typeface="Times New Roman Regular" panose="02020503050405090304" charset="0"/>
                <a:ea typeface="Barlow" panose="00000500000000000000" pitchFamily="34" charset="-122"/>
                <a:cs typeface="Times New Roman Regular" panose="02020503050405090304" charset="0"/>
              </a:rPr>
              <a:t>01</a:t>
            </a:r>
          </a:p>
        </p:txBody>
      </p:sp>
      <p:sp>
        <p:nvSpPr>
          <p:cNvPr id="16" name="Text 14"/>
          <p:cNvSpPr/>
          <p:nvPr/>
        </p:nvSpPr>
        <p:spPr>
          <a:xfrm>
            <a:off x="10354845" y="2017949"/>
            <a:ext cx="467930" cy="431373"/>
          </a:xfrm>
          <a:prstGeom prst="rect">
            <a:avLst/>
          </a:prstGeom>
          <a:solidFill>
            <a:srgbClr val="FFFFFF">
              <a:alpha val="0"/>
            </a:srgbClr>
          </a:solidFill>
        </p:spPr>
        <p:txBody>
          <a:bodyPr wrap="square" lIns="0" tIns="0" rIns="0" bIns="0" rtlCol="0" anchor="ctr"/>
          <a:lstStyle/>
          <a:p>
            <a:pPr algn="ctr">
              <a:lnSpc>
                <a:spcPct val="125000"/>
              </a:lnSpc>
            </a:pPr>
            <a:r>
              <a:rPr lang="en-US" sz="1920" b="1" dirty="0">
                <a:solidFill>
                  <a:srgbClr val="FFFFFF"/>
                </a:solidFill>
                <a:latin typeface="Times New Roman Regular" panose="02020503050405090304" charset="0"/>
                <a:ea typeface="Barlow" panose="00000500000000000000" pitchFamily="34" charset="-122"/>
                <a:cs typeface="Times New Roman Regular" panose="02020503050405090304" charset="0"/>
              </a:rPr>
              <a:t>04</a:t>
            </a:r>
          </a:p>
        </p:txBody>
      </p:sp>
      <p:sp>
        <p:nvSpPr>
          <p:cNvPr id="17" name="Shape 15"/>
          <p:cNvSpPr/>
          <p:nvPr/>
        </p:nvSpPr>
        <p:spPr>
          <a:xfrm>
            <a:off x="7240185" y="1908278"/>
            <a:ext cx="636093" cy="636093"/>
          </a:xfrm>
          <a:prstGeom prst="rect">
            <a:avLst/>
          </a:prstGeom>
          <a:solidFill>
            <a:srgbClr val="C55A40"/>
          </a:solidFill>
          <a:effectLst>
            <a:outerShdw blurRad="101600" dist="50800" dir="16200000" algn="bl" rotWithShape="0">
              <a:srgbClr val="000000">
                <a:alpha val="0"/>
              </a:srgbClr>
            </a:outerShdw>
          </a:effectLst>
        </p:spPr>
        <p:txBody>
          <a:bodyPr/>
          <a:lstStyle/>
          <a:p>
            <a:endParaRPr lang="en-US"/>
          </a:p>
        </p:txBody>
      </p:sp>
      <p:sp>
        <p:nvSpPr>
          <p:cNvPr id="18" name="Text 16"/>
          <p:cNvSpPr/>
          <p:nvPr/>
        </p:nvSpPr>
        <p:spPr>
          <a:xfrm>
            <a:off x="7320610" y="2017949"/>
            <a:ext cx="467930" cy="431373"/>
          </a:xfrm>
          <a:prstGeom prst="rect">
            <a:avLst/>
          </a:prstGeom>
          <a:solidFill>
            <a:srgbClr val="FFFFFF">
              <a:alpha val="0"/>
            </a:srgbClr>
          </a:solidFill>
        </p:spPr>
        <p:txBody>
          <a:bodyPr wrap="square" lIns="0" tIns="0" rIns="0" bIns="0" rtlCol="0" anchor="ctr"/>
          <a:lstStyle/>
          <a:p>
            <a:pPr algn="ctr">
              <a:lnSpc>
                <a:spcPct val="125000"/>
              </a:lnSpc>
            </a:pPr>
            <a:r>
              <a:rPr lang="en-US" sz="1920" b="1" dirty="0">
                <a:solidFill>
                  <a:srgbClr val="FFFFFF"/>
                </a:solidFill>
                <a:latin typeface="Times New Roman Regular" panose="02020503050405090304" charset="0"/>
                <a:ea typeface="Barlow" panose="00000500000000000000" pitchFamily="34" charset="-122"/>
                <a:cs typeface="Times New Roman Regular" panose="02020503050405090304" charset="0"/>
              </a:rPr>
              <a:t>03</a:t>
            </a:r>
          </a:p>
        </p:txBody>
      </p:sp>
      <p:sp>
        <p:nvSpPr>
          <p:cNvPr id="19" name="Shape 17"/>
          <p:cNvSpPr/>
          <p:nvPr/>
        </p:nvSpPr>
        <p:spPr>
          <a:xfrm>
            <a:off x="4242507" y="1908278"/>
            <a:ext cx="636093" cy="636093"/>
          </a:xfrm>
          <a:prstGeom prst="rect">
            <a:avLst/>
          </a:prstGeom>
          <a:solidFill>
            <a:srgbClr val="C55A40"/>
          </a:solidFill>
          <a:effectLst>
            <a:outerShdw blurRad="101600" dist="50800" dir="16200000" algn="bl" rotWithShape="0">
              <a:srgbClr val="000000">
                <a:alpha val="0"/>
              </a:srgbClr>
            </a:outerShdw>
          </a:effectLst>
        </p:spPr>
        <p:txBody>
          <a:bodyPr/>
          <a:lstStyle/>
          <a:p>
            <a:endParaRPr lang="en-US"/>
          </a:p>
        </p:txBody>
      </p:sp>
      <p:sp>
        <p:nvSpPr>
          <p:cNvPr id="20" name="Text 18"/>
          <p:cNvSpPr/>
          <p:nvPr/>
        </p:nvSpPr>
        <p:spPr>
          <a:xfrm>
            <a:off x="4330244" y="2017949"/>
            <a:ext cx="467930" cy="431373"/>
          </a:xfrm>
          <a:prstGeom prst="rect">
            <a:avLst/>
          </a:prstGeom>
          <a:solidFill>
            <a:srgbClr val="FFFFFF">
              <a:alpha val="0"/>
            </a:srgbClr>
          </a:solidFill>
        </p:spPr>
        <p:txBody>
          <a:bodyPr wrap="square" lIns="0" tIns="0" rIns="0" bIns="0" rtlCol="0" anchor="ctr"/>
          <a:lstStyle/>
          <a:p>
            <a:pPr algn="ctr">
              <a:lnSpc>
                <a:spcPct val="125000"/>
              </a:lnSpc>
            </a:pPr>
            <a:r>
              <a:rPr lang="en-US" sz="1920" b="1" dirty="0">
                <a:solidFill>
                  <a:srgbClr val="FFFFFF"/>
                </a:solidFill>
                <a:latin typeface="Times New Roman Regular" panose="02020503050405090304" charset="0"/>
                <a:ea typeface="Barlow" panose="00000500000000000000" pitchFamily="34" charset="-122"/>
                <a:cs typeface="Times New Roman Regular" panose="02020503050405090304" charset="0"/>
              </a:rPr>
              <a:t>02</a:t>
            </a:r>
          </a:p>
        </p:txBody>
      </p:sp>
      <p:sp>
        <p:nvSpPr>
          <p:cNvPr id="21" name="Shape 19"/>
          <p:cNvSpPr/>
          <p:nvPr/>
        </p:nvSpPr>
        <p:spPr>
          <a:xfrm>
            <a:off x="1230207" y="4401468"/>
            <a:ext cx="636093" cy="636093"/>
          </a:xfrm>
          <a:prstGeom prst="rect">
            <a:avLst/>
          </a:prstGeom>
          <a:solidFill>
            <a:srgbClr val="C55A40"/>
          </a:solidFill>
          <a:effectLst>
            <a:outerShdw blurRad="101600" dist="50800" dir="16200000" algn="bl" rotWithShape="0">
              <a:srgbClr val="000000">
                <a:alpha val="0"/>
              </a:srgbClr>
            </a:outerShdw>
          </a:effectLst>
        </p:spPr>
        <p:txBody>
          <a:bodyPr/>
          <a:lstStyle/>
          <a:p>
            <a:endParaRPr lang="en-US"/>
          </a:p>
        </p:txBody>
      </p:sp>
      <p:sp>
        <p:nvSpPr>
          <p:cNvPr id="22" name="Shape 20"/>
          <p:cNvSpPr/>
          <p:nvPr/>
        </p:nvSpPr>
        <p:spPr>
          <a:xfrm>
            <a:off x="10274419" y="4401468"/>
            <a:ext cx="636093" cy="636093"/>
          </a:xfrm>
          <a:prstGeom prst="rect">
            <a:avLst/>
          </a:prstGeom>
          <a:solidFill>
            <a:srgbClr val="C55A40"/>
          </a:solidFill>
          <a:effectLst>
            <a:outerShdw blurRad="101600" dist="50800" dir="16200000" algn="bl" rotWithShape="0">
              <a:srgbClr val="000000">
                <a:alpha val="0"/>
              </a:srgbClr>
            </a:outerShdw>
          </a:effectLst>
        </p:spPr>
        <p:txBody>
          <a:bodyPr/>
          <a:lstStyle/>
          <a:p>
            <a:endParaRPr lang="en-US"/>
          </a:p>
        </p:txBody>
      </p:sp>
      <p:sp>
        <p:nvSpPr>
          <p:cNvPr id="23" name="Text 21"/>
          <p:cNvSpPr/>
          <p:nvPr/>
        </p:nvSpPr>
        <p:spPr>
          <a:xfrm>
            <a:off x="1310632" y="4503828"/>
            <a:ext cx="467930" cy="431373"/>
          </a:xfrm>
          <a:prstGeom prst="rect">
            <a:avLst/>
          </a:prstGeom>
          <a:solidFill>
            <a:srgbClr val="FFFFFF">
              <a:alpha val="0"/>
            </a:srgbClr>
          </a:solidFill>
        </p:spPr>
        <p:txBody>
          <a:bodyPr wrap="square" lIns="0" tIns="0" rIns="0" bIns="0" rtlCol="0" anchor="ctr"/>
          <a:lstStyle/>
          <a:p>
            <a:pPr algn="ctr">
              <a:lnSpc>
                <a:spcPct val="125000"/>
              </a:lnSpc>
            </a:pPr>
            <a:r>
              <a:rPr lang="en-US" sz="1920" b="1" dirty="0">
                <a:solidFill>
                  <a:srgbClr val="FFFFFF"/>
                </a:solidFill>
                <a:latin typeface="Times New Roman Regular" panose="02020503050405090304" charset="0"/>
                <a:ea typeface="Barlow" panose="00000500000000000000" pitchFamily="34" charset="-122"/>
                <a:cs typeface="Times New Roman Regular" panose="02020503050405090304" charset="0"/>
              </a:rPr>
              <a:t>05</a:t>
            </a:r>
          </a:p>
        </p:txBody>
      </p:sp>
      <p:sp>
        <p:nvSpPr>
          <p:cNvPr id="24" name="Text 22"/>
          <p:cNvSpPr/>
          <p:nvPr/>
        </p:nvSpPr>
        <p:spPr>
          <a:xfrm>
            <a:off x="10354845" y="4503828"/>
            <a:ext cx="467930" cy="431373"/>
          </a:xfrm>
          <a:prstGeom prst="rect">
            <a:avLst/>
          </a:prstGeom>
          <a:solidFill>
            <a:srgbClr val="FFFFFF">
              <a:alpha val="0"/>
            </a:srgbClr>
          </a:solidFill>
        </p:spPr>
        <p:txBody>
          <a:bodyPr wrap="square" lIns="0" tIns="0" rIns="0" bIns="0" rtlCol="0" anchor="ctr"/>
          <a:lstStyle/>
          <a:p>
            <a:pPr algn="ctr">
              <a:lnSpc>
                <a:spcPct val="125000"/>
              </a:lnSpc>
            </a:pPr>
            <a:r>
              <a:rPr lang="en-US" sz="1920" b="1" dirty="0">
                <a:solidFill>
                  <a:srgbClr val="FFFFFF"/>
                </a:solidFill>
                <a:latin typeface="Times New Roman Regular" panose="02020503050405090304" charset="0"/>
                <a:ea typeface="Barlow" panose="00000500000000000000" pitchFamily="34" charset="-122"/>
                <a:cs typeface="Times New Roman Regular" panose="02020503050405090304" charset="0"/>
              </a:rPr>
              <a:t>08</a:t>
            </a:r>
          </a:p>
        </p:txBody>
      </p:sp>
      <p:sp>
        <p:nvSpPr>
          <p:cNvPr id="25" name="Shape 23"/>
          <p:cNvSpPr/>
          <p:nvPr/>
        </p:nvSpPr>
        <p:spPr>
          <a:xfrm>
            <a:off x="7254808" y="4401468"/>
            <a:ext cx="636093" cy="636093"/>
          </a:xfrm>
          <a:prstGeom prst="rect">
            <a:avLst/>
          </a:prstGeom>
          <a:solidFill>
            <a:srgbClr val="C55A40"/>
          </a:solidFill>
          <a:effectLst>
            <a:outerShdw blurRad="101600" dist="50800" dir="16200000" algn="bl" rotWithShape="0">
              <a:srgbClr val="000000">
                <a:alpha val="0"/>
              </a:srgbClr>
            </a:outerShdw>
          </a:effectLst>
        </p:spPr>
        <p:txBody>
          <a:bodyPr/>
          <a:lstStyle/>
          <a:p>
            <a:endParaRPr lang="en-US"/>
          </a:p>
        </p:txBody>
      </p:sp>
      <p:sp>
        <p:nvSpPr>
          <p:cNvPr id="26" name="Text 24"/>
          <p:cNvSpPr/>
          <p:nvPr/>
        </p:nvSpPr>
        <p:spPr>
          <a:xfrm>
            <a:off x="7335233" y="4503828"/>
            <a:ext cx="467930" cy="431373"/>
          </a:xfrm>
          <a:prstGeom prst="rect">
            <a:avLst/>
          </a:prstGeom>
          <a:solidFill>
            <a:srgbClr val="FFFFFF">
              <a:alpha val="0"/>
            </a:srgbClr>
          </a:solidFill>
        </p:spPr>
        <p:txBody>
          <a:bodyPr wrap="square" lIns="0" tIns="0" rIns="0" bIns="0" rtlCol="0" anchor="ctr"/>
          <a:lstStyle/>
          <a:p>
            <a:pPr algn="ctr">
              <a:lnSpc>
                <a:spcPct val="125000"/>
              </a:lnSpc>
            </a:pPr>
            <a:r>
              <a:rPr lang="en-US" sz="1920" b="1" dirty="0">
                <a:solidFill>
                  <a:srgbClr val="FFFFFF"/>
                </a:solidFill>
                <a:latin typeface="Times New Roman Regular" panose="02020503050405090304" charset="0"/>
                <a:ea typeface="Barlow" panose="00000500000000000000" pitchFamily="34" charset="-122"/>
                <a:cs typeface="Times New Roman Regular" panose="02020503050405090304" charset="0"/>
              </a:rPr>
              <a:t>07</a:t>
            </a:r>
          </a:p>
        </p:txBody>
      </p:sp>
      <p:sp>
        <p:nvSpPr>
          <p:cNvPr id="27" name="Shape 25"/>
          <p:cNvSpPr/>
          <p:nvPr/>
        </p:nvSpPr>
        <p:spPr>
          <a:xfrm>
            <a:off x="4235196" y="4401468"/>
            <a:ext cx="636093" cy="636093"/>
          </a:xfrm>
          <a:prstGeom prst="rect">
            <a:avLst/>
          </a:prstGeom>
          <a:solidFill>
            <a:srgbClr val="C55A40"/>
          </a:solidFill>
          <a:effectLst>
            <a:outerShdw blurRad="101600" dist="50800" dir="16200000" algn="bl" rotWithShape="0">
              <a:srgbClr val="000000">
                <a:alpha val="0"/>
              </a:srgbClr>
            </a:outerShdw>
          </a:effectLst>
        </p:spPr>
        <p:txBody>
          <a:bodyPr/>
          <a:lstStyle/>
          <a:p>
            <a:endParaRPr lang="en-US"/>
          </a:p>
        </p:txBody>
      </p:sp>
      <p:sp>
        <p:nvSpPr>
          <p:cNvPr id="28" name="Text 26"/>
          <p:cNvSpPr/>
          <p:nvPr/>
        </p:nvSpPr>
        <p:spPr>
          <a:xfrm>
            <a:off x="4322933" y="4503828"/>
            <a:ext cx="467930" cy="431373"/>
          </a:xfrm>
          <a:prstGeom prst="rect">
            <a:avLst/>
          </a:prstGeom>
          <a:solidFill>
            <a:srgbClr val="FFFFFF">
              <a:alpha val="0"/>
            </a:srgbClr>
          </a:solidFill>
        </p:spPr>
        <p:txBody>
          <a:bodyPr wrap="square" lIns="0" tIns="0" rIns="0" bIns="0" rtlCol="0" anchor="ctr"/>
          <a:lstStyle/>
          <a:p>
            <a:pPr algn="ctr">
              <a:lnSpc>
                <a:spcPct val="125000"/>
              </a:lnSpc>
            </a:pPr>
            <a:r>
              <a:rPr lang="en-US" sz="1920" b="1" dirty="0">
                <a:solidFill>
                  <a:srgbClr val="FFFFFF"/>
                </a:solidFill>
                <a:latin typeface="Times New Roman Regular" panose="02020503050405090304" charset="0"/>
                <a:ea typeface="Barlow" panose="00000500000000000000" pitchFamily="34" charset="-122"/>
                <a:cs typeface="Times New Roman Regular" panose="02020503050405090304" charset="0"/>
              </a:rPr>
              <a:t>06</a:t>
            </a:r>
          </a:p>
        </p:txBody>
      </p:sp>
      <p:sp>
        <p:nvSpPr>
          <p:cNvPr id="11" name="Text 5"/>
          <p:cNvSpPr/>
          <p:nvPr/>
        </p:nvSpPr>
        <p:spPr>
          <a:xfrm>
            <a:off x="9733172" y="2683490"/>
            <a:ext cx="1718181" cy="1294119"/>
          </a:xfrm>
          <a:prstGeom prst="rect">
            <a:avLst/>
          </a:prstGeom>
          <a:solidFill>
            <a:srgbClr val="FFFFFF">
              <a:alpha val="0"/>
            </a:srgbClr>
          </a:solidFill>
        </p:spPr>
        <p:txBody>
          <a:bodyPr wrap="square" lIns="0" tIns="0" rIns="0" bIns="0" rtlCol="0" anchor="t"/>
          <a:lstStyle/>
          <a:p>
            <a:pPr algn="ctr">
              <a:lnSpc>
                <a:spcPct val="125000"/>
              </a:lnSpc>
            </a:pPr>
            <a:r>
              <a:rPr lang="en-US" sz="2080" b="1" dirty="0">
                <a:solidFill>
                  <a:srgbClr val="000000"/>
                </a:solidFill>
                <a:latin typeface="Times New Roman Regular" panose="02020503050405090304" charset="0"/>
                <a:ea typeface="HarmonyOS Sans" pitchFamily="34" charset="-122"/>
                <a:cs typeface="Times New Roman Regular" panose="02020503050405090304" charset="0"/>
              </a:rPr>
              <a:t>Model Comparison</a:t>
            </a:r>
          </a:p>
        </p:txBody>
      </p:sp>
      <p:sp>
        <p:nvSpPr>
          <p:cNvPr id="29" name="Text Box 28"/>
          <p:cNvSpPr txBox="1"/>
          <p:nvPr/>
        </p:nvSpPr>
        <p:spPr>
          <a:xfrm>
            <a:off x="10891827" y="6415761"/>
            <a:ext cx="4062909" cy="312420"/>
          </a:xfrm>
          <a:prstGeom prst="rect">
            <a:avLst/>
          </a:prstGeom>
          <a:noFill/>
        </p:spPr>
        <p:txBody>
          <a:bodyPr wrap="square" rtlCol="0">
            <a:spAutoFit/>
          </a:bodyPr>
          <a:lstStyle/>
          <a:p>
            <a:r>
              <a:rPr lang="en-US" sz="1440"/>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703582" y="1535396"/>
            <a:ext cx="4965157" cy="365570"/>
          </a:xfrm>
          <a:prstGeom prst="rect">
            <a:avLst/>
          </a:prstGeom>
          <a:solidFill>
            <a:srgbClr val="FFFFFF">
              <a:alpha val="0"/>
            </a:srgbClr>
          </a:solidFill>
        </p:spPr>
        <p:txBody>
          <a:bodyPr wrap="square" lIns="0" tIns="0" rIns="0" bIns="0" rtlCol="0" anchor="ctr"/>
          <a:lstStyle/>
          <a:p>
            <a:pPr algn="l">
              <a:lnSpc>
                <a:spcPct val="125000"/>
              </a:lnSpc>
              <a:buSzPct val="100000"/>
            </a:pPr>
            <a:r>
              <a:rPr lang="en-US" sz="1920" b="1" dirty="0">
                <a:solidFill>
                  <a:srgbClr val="000000"/>
                </a:solidFill>
                <a:latin typeface="Times New Roman Bold" panose="02020503050405090304" charset="0"/>
                <a:ea typeface="微软雅黑" charset="-122"/>
                <a:cs typeface="Times New Roman Bold" panose="02020503050405090304" charset="0"/>
              </a:rPr>
              <a:t>Quantity and Types of Visual Impairments</a:t>
            </a:r>
          </a:p>
        </p:txBody>
      </p:sp>
      <p:sp>
        <p:nvSpPr>
          <p:cNvPr id="4" name="Text 2"/>
          <p:cNvSpPr/>
          <p:nvPr/>
        </p:nvSpPr>
        <p:spPr>
          <a:xfrm>
            <a:off x="703582" y="1900966"/>
            <a:ext cx="8020540" cy="4233509"/>
          </a:xfrm>
          <a:prstGeom prst="rect">
            <a:avLst/>
          </a:prstGeom>
          <a:solidFill>
            <a:srgbClr val="FFFFFF">
              <a:alpha val="0"/>
            </a:srgbClr>
          </a:solidFill>
        </p:spPr>
        <p:txBody>
          <a:bodyPr wrap="square" lIns="0" tIns="0" rIns="0" bIns="0" rtlCol="0" anchor="t"/>
          <a:lstStyle/>
          <a:p>
            <a:pPr marL="342900" indent="-342900">
              <a:lnSpc>
                <a:spcPct val="125000"/>
              </a:lnSpc>
              <a:buSzPct val="100000"/>
              <a:buChar char="▪"/>
            </a:pPr>
            <a:r>
              <a:rPr lang="en-US" sz="1920" dirty="0">
                <a:solidFill>
                  <a:srgbClr val="000000"/>
                </a:solidFill>
                <a:latin typeface="Times New Roman Regular" panose="02020503050405090304" charset="0"/>
                <a:ea typeface="HarmonyOS Sans" pitchFamily="34" charset="-122"/>
                <a:cs typeface="Times New Roman Regular" panose="02020503050405090304" charset="0"/>
              </a:rPr>
              <a:t>Blindness and visual impairments affect hundreds of millions worldwide.</a:t>
            </a:r>
            <a:endParaRPr lang="en-US" sz="1920" dirty="0">
              <a:latin typeface="Times New Roman Regular" panose="02020503050405090304" charset="0"/>
              <a:cs typeface="Times New Roman Regular" panose="02020503050405090304" charset="0"/>
            </a:endParaRPr>
          </a:p>
          <a:p>
            <a:pPr marL="342900" indent="-342900">
              <a:lnSpc>
                <a:spcPct val="125000"/>
              </a:lnSpc>
              <a:buSzPct val="100000"/>
              <a:buChar char="▪"/>
            </a:pPr>
            <a:r>
              <a:rPr lang="en-US" sz="1920" dirty="0">
                <a:solidFill>
                  <a:srgbClr val="000000"/>
                </a:solidFill>
                <a:latin typeface="Times New Roman Regular" panose="02020503050405090304" charset="0"/>
                <a:ea typeface="HarmonyOS Sans" pitchFamily="34" charset="-122"/>
                <a:cs typeface="Times New Roman Regular" panose="02020503050405090304" charset="0"/>
              </a:rPr>
              <a:t>Common causes include cataracts, glaucoma, age-related macular degeneration, and diabetic retinopathy</a:t>
            </a:r>
            <a:r>
              <a:rPr lang="zh-CN" altLang="en-US" sz="1920" dirty="0">
                <a:solidFill>
                  <a:srgbClr val="000000"/>
                </a:solidFill>
                <a:latin typeface="Times New Roman Regular" panose="02020503050405090304" charset="0"/>
                <a:ea typeface="HarmonyOS Sans" pitchFamily="34" charset="-122"/>
                <a:cs typeface="Times New Roman Regular" panose="02020503050405090304" charset="0"/>
              </a:rPr>
              <a:t> </a:t>
            </a:r>
            <a:r>
              <a:rPr lang="en-GB" sz="1920" dirty="0">
                <a:latin typeface="Times New Roman Regular" panose="02020503050405090304" charset="0"/>
                <a:cs typeface="Times New Roman Regular" panose="02020503050405090304" charset="0"/>
                <a:sym typeface="+mn-ea"/>
              </a:rPr>
              <a:t>(</a:t>
            </a:r>
            <a:r>
              <a:rPr lang="en-GB" sz="1920" dirty="0">
                <a:latin typeface="Times New Roman Regular" panose="02020503050405090304" charset="0"/>
                <a:cs typeface="Times New Roman Regular" panose="02020503050405090304" charset="0"/>
                <a:sym typeface="+mn-ea"/>
                <a:hlinkClick r:id="rId3"/>
              </a:rPr>
              <a:t>IAPB</a:t>
            </a:r>
            <a:r>
              <a:rPr lang="en-GB" sz="1920" dirty="0">
                <a:latin typeface="Times New Roman Regular" panose="02020503050405090304" charset="0"/>
                <a:cs typeface="Times New Roman Regular" panose="02020503050405090304" charset="0"/>
                <a:sym typeface="+mn-ea"/>
              </a:rPr>
              <a:t>)​(</a:t>
            </a:r>
            <a:r>
              <a:rPr lang="en-GB" sz="1920" dirty="0">
                <a:latin typeface="Times New Roman Regular" panose="02020503050405090304" charset="0"/>
                <a:cs typeface="Times New Roman Regular" panose="02020503050405090304" charset="0"/>
                <a:sym typeface="+mn-ea"/>
                <a:hlinkClick r:id="rId4"/>
              </a:rPr>
              <a:t>World Health Organization (WHO)</a:t>
            </a:r>
            <a:endParaRPr lang="en-GB" sz="1920" dirty="0">
              <a:latin typeface="Times New Roman Regular" panose="02020503050405090304" charset="0"/>
              <a:cs typeface="Times New Roman Regular" panose="02020503050405090304" charset="0"/>
            </a:endParaRPr>
          </a:p>
          <a:p>
            <a:pPr marL="342900" indent="-342900" algn="just">
              <a:lnSpc>
                <a:spcPct val="125000"/>
              </a:lnSpc>
              <a:buSzPct val="100000"/>
              <a:buChar char="▪"/>
            </a:pPr>
            <a:endParaRPr lang="en-US" sz="1920" dirty="0">
              <a:latin typeface="Times New Roman Regular" panose="02020503050405090304" charset="0"/>
              <a:cs typeface="Times New Roman Regular" panose="02020503050405090304" charset="0"/>
            </a:endParaRPr>
          </a:p>
        </p:txBody>
      </p:sp>
      <p:pic>
        <p:nvPicPr>
          <p:cNvPr id="9" name="Image 0"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8737" y="365570"/>
            <a:ext cx="489864" cy="687272"/>
          </a:xfrm>
          <a:prstGeom prst="rect">
            <a:avLst/>
          </a:prstGeom>
        </p:spPr>
      </p:pic>
      <p:sp>
        <p:nvSpPr>
          <p:cNvPr id="8" name="Text Box 7"/>
          <p:cNvSpPr txBox="1"/>
          <p:nvPr/>
        </p:nvSpPr>
        <p:spPr>
          <a:xfrm>
            <a:off x="1697908" y="6267190"/>
            <a:ext cx="7575940" cy="1233800"/>
          </a:xfrm>
          <a:prstGeom prst="rect">
            <a:avLst/>
          </a:prstGeom>
          <a:noFill/>
        </p:spPr>
        <p:txBody>
          <a:bodyPr wrap="square" rtlCol="0">
            <a:noAutofit/>
          </a:bodyPr>
          <a:lstStyle/>
          <a:p>
            <a:r>
              <a:rPr lang="en-US" altLang="en-US" sz="1440">
                <a:latin typeface="Times New Roman Regular" panose="02020503050405090304" charset="0"/>
                <a:cs typeface="Times New Roman Regular" panose="02020503050405090304" charset="0"/>
              </a:rPr>
              <a:t>Data Source:Flaxman, Seth R., et al. "Global causes of blindness and distance vision impairment 1990–2020: a systematic review and meta-analysis" The Lancet Global Health 5.12 (2017): e1221-e1234..</a:t>
            </a:r>
          </a:p>
        </p:txBody>
      </p:sp>
      <p:sp>
        <p:nvSpPr>
          <p:cNvPr id="29" name="Text Box 28"/>
          <p:cNvSpPr txBox="1"/>
          <p:nvPr/>
        </p:nvSpPr>
        <p:spPr>
          <a:xfrm>
            <a:off x="10891827" y="6415761"/>
            <a:ext cx="4062909" cy="312420"/>
          </a:xfrm>
          <a:prstGeom prst="rect">
            <a:avLst/>
          </a:prstGeom>
          <a:noFill/>
        </p:spPr>
        <p:txBody>
          <a:bodyPr wrap="square" rtlCol="0">
            <a:spAutoFit/>
          </a:bodyPr>
          <a:lstStyle/>
          <a:p>
            <a:r>
              <a:rPr lang="en-US" sz="1440"/>
              <a:t>3</a:t>
            </a:r>
          </a:p>
        </p:txBody>
      </p:sp>
      <p:pic>
        <p:nvPicPr>
          <p:cNvPr id="13" name="Picture 12" descr="Screenshot 2024-11-27 at 19.05.22"/>
          <p:cNvPicPr>
            <a:picLocks noChangeAspect="1"/>
          </p:cNvPicPr>
          <p:nvPr/>
        </p:nvPicPr>
        <p:blipFill>
          <a:blip r:embed="rId7"/>
          <a:stretch>
            <a:fillRect/>
          </a:stretch>
        </p:blipFill>
        <p:spPr>
          <a:xfrm>
            <a:off x="703739" y="3703921"/>
            <a:ext cx="10771635" cy="2430536"/>
          </a:xfrm>
          <a:prstGeom prst="rect">
            <a:avLst/>
          </a:prstGeom>
        </p:spPr>
      </p:pic>
      <p:sp>
        <p:nvSpPr>
          <p:cNvPr id="5" name="Text 1"/>
          <p:cNvSpPr/>
          <p:nvPr/>
        </p:nvSpPr>
        <p:spPr>
          <a:xfrm>
            <a:off x="102870" y="485775"/>
            <a:ext cx="4352290" cy="824865"/>
          </a:xfrm>
          <a:prstGeom prst="rect">
            <a:avLst/>
          </a:prstGeom>
          <a:solidFill>
            <a:srgbClr val="FFFFFF">
              <a:alpha val="0"/>
            </a:srgbClr>
          </a:solidFill>
        </p:spPr>
        <p:txBody>
          <a:bodyPr wrap="square" lIns="0" tIns="0" rIns="0" bIns="0" rtlCol="0" anchor="t"/>
          <a:lstStyle/>
          <a:p>
            <a:pPr algn="ctr">
              <a:lnSpc>
                <a:spcPct val="125000"/>
              </a:lnSpc>
            </a:pPr>
            <a:r>
              <a:rPr lang="en-US" sz="2800" b="1" dirty="0">
                <a:solidFill>
                  <a:srgbClr val="000000"/>
                </a:solidFill>
                <a:latin typeface="Times New Roman Regular" panose="02020503050405090304" charset="0"/>
                <a:ea typeface="HarmonyOS Sans" pitchFamily="34" charset="-122"/>
                <a:cs typeface="Times New Roman Regular" panose="02020503050405090304" charset="0"/>
              </a:rPr>
              <a:t>Background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672102" y="291949"/>
            <a:ext cx="8408120" cy="1059901"/>
          </a:xfrm>
          <a:prstGeom prst="rect">
            <a:avLst/>
          </a:prstGeom>
        </p:spPr>
        <p:txBody>
          <a:bodyPr vert="horz" lIns="73114" tIns="36557" rIns="73114" bIns="36557"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520" b="1" dirty="0">
                <a:latin typeface="Times New Roman Regular" panose="02020503050405090304" charset="0"/>
                <a:cs typeface="Times New Roman Regular" panose="02020503050405090304" charset="0"/>
              </a:rPr>
              <a:t>Research Goal</a:t>
            </a:r>
          </a:p>
        </p:txBody>
      </p:sp>
      <p:sp>
        <p:nvSpPr>
          <p:cNvPr id="3" name="Content Placeholder 2"/>
          <p:cNvSpPr>
            <a:spLocks noGrp="1"/>
          </p:cNvSpPr>
          <p:nvPr/>
        </p:nvSpPr>
        <p:spPr>
          <a:xfrm>
            <a:off x="672102" y="1459743"/>
            <a:ext cx="10707660" cy="4323886"/>
          </a:xfrm>
          <a:prstGeom prst="rect">
            <a:avLst/>
          </a:prstGeom>
        </p:spPr>
        <p:txBody>
          <a:bodyPr vert="horz" lIns="73114" tIns="36557" rIns="73114" bIns="36557" rtlCol="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just">
              <a:buNone/>
            </a:pPr>
            <a:r>
              <a:rPr lang="en-GB" sz="2880" b="1" dirty="0">
                <a:latin typeface="Times New Roman Regular" panose="02020503050405090304" charset="0"/>
                <a:cs typeface="Times New Roman Regular" panose="02020503050405090304" charset="0"/>
              </a:rPr>
              <a:t> </a:t>
            </a:r>
            <a:r>
              <a:rPr lang="en-US" altLang="en-GB" sz="3200" b="1" dirty="0">
                <a:latin typeface="Times New Roman Regular" panose="02020503050405090304" charset="0"/>
                <a:cs typeface="Times New Roman Regular" panose="02020503050405090304" charset="0"/>
              </a:rPr>
              <a:t>A </a:t>
            </a:r>
            <a:r>
              <a:rPr lang="en-GB" sz="3200" b="1" dirty="0">
                <a:latin typeface="Times New Roman Regular" panose="02020503050405090304" charset="0"/>
                <a:cs typeface="Times New Roman Regular" panose="02020503050405090304" charset="0"/>
              </a:rPr>
              <a:t>shopping assistance system for people with low vision</a:t>
            </a:r>
            <a:endParaRPr lang="en-GB" sz="2880" b="1" dirty="0">
              <a:latin typeface="Times New Roman Regular" panose="02020503050405090304" charset="0"/>
              <a:cs typeface="Times New Roman Regular" panose="02020503050405090304" charset="0"/>
            </a:endParaRPr>
          </a:p>
          <a:p>
            <a:pPr algn="just"/>
            <a:r>
              <a:rPr lang="en-GB" sz="2240" dirty="0">
                <a:latin typeface="Times New Roman Regular" panose="02020503050405090304" charset="0"/>
                <a:cs typeface="Times New Roman Regular" panose="02020503050405090304" charset="0"/>
              </a:rPr>
              <a:t> vision-language model (Qwen2-VL) </a:t>
            </a:r>
          </a:p>
          <a:p>
            <a:pPr algn="just"/>
            <a:r>
              <a:rPr lang="en-GB" sz="2240" dirty="0">
                <a:latin typeface="Times New Roman Regular" panose="02020503050405090304" charset="0"/>
                <a:cs typeface="Times New Roman Regular" panose="02020503050405090304" charset="0"/>
              </a:rPr>
              <a:t>GPT-</a:t>
            </a:r>
            <a:r>
              <a:rPr lang="en-GB" sz="2240" dirty="0" err="1">
                <a:latin typeface="Times New Roman Regular" panose="02020503050405090304" charset="0"/>
                <a:cs typeface="Times New Roman Regular" panose="02020503050405090304" charset="0"/>
              </a:rPr>
              <a:t>SoVITS</a:t>
            </a:r>
          </a:p>
          <a:p>
            <a:pPr marL="0" indent="0" algn="just">
              <a:buNone/>
            </a:pPr>
            <a:endParaRPr lang="en-US" altLang="en-GB" sz="2880" dirty="0">
              <a:latin typeface="Times New Roman Regular" panose="02020503050405090304" charset="0"/>
              <a:cs typeface="Times New Roman Regular" panose="02020503050405090304" charset="0"/>
            </a:endParaRPr>
          </a:p>
          <a:p>
            <a:pPr marL="0" indent="0" algn="just">
              <a:buNone/>
            </a:pPr>
            <a:endParaRPr lang="en-US" altLang="en-GB" sz="2880" dirty="0">
              <a:latin typeface="Times New Roman Regular" panose="02020503050405090304" charset="0"/>
              <a:cs typeface="Times New Roman Regular" panose="02020503050405090304" charset="0"/>
            </a:endParaRPr>
          </a:p>
          <a:p>
            <a:pPr marL="0" indent="0" algn="just">
              <a:buNone/>
            </a:pPr>
            <a:r>
              <a:rPr lang="en-US" altLang="en-GB" sz="2880" dirty="0">
                <a:latin typeface="Times New Roman Regular" panose="02020503050405090304" charset="0"/>
                <a:cs typeface="Times New Roman Regular" panose="02020503050405090304" charset="0"/>
              </a:rPr>
              <a:t>To </a:t>
            </a:r>
            <a:r>
              <a:rPr lang="en-GB" sz="2880" dirty="0">
                <a:latin typeface="Times New Roman Regular" panose="02020503050405090304" charset="0"/>
                <a:cs typeface="Times New Roman Regular" panose="02020503050405090304" charset="0"/>
              </a:rPr>
              <a:t>improve accessibility and enhance the shopping experience for visually impaired individuals.</a:t>
            </a:r>
            <a:endParaRPr lang="en-US" sz="2880" dirty="0">
              <a:latin typeface="Times New Roman Regular" panose="02020503050405090304" charset="0"/>
              <a:cs typeface="Times New Roman Regular" panose="02020503050405090304" charset="0"/>
            </a:endParaRPr>
          </a:p>
        </p:txBody>
      </p:sp>
      <p:sp>
        <p:nvSpPr>
          <p:cNvPr id="29" name="Text Box 28"/>
          <p:cNvSpPr txBox="1"/>
          <p:nvPr/>
        </p:nvSpPr>
        <p:spPr>
          <a:xfrm>
            <a:off x="10891827" y="5952198"/>
            <a:ext cx="4062909" cy="312420"/>
          </a:xfrm>
          <a:prstGeom prst="rect">
            <a:avLst/>
          </a:prstGeom>
          <a:noFill/>
        </p:spPr>
        <p:txBody>
          <a:bodyPr wrap="square" rtlCol="0">
            <a:spAutoFit/>
          </a:bodyPr>
          <a:lstStyle/>
          <a:p>
            <a:r>
              <a:rPr lang="en-US" sz="1440">
                <a:latin typeface="Times New Roman Regular" panose="02020503050405090304" charset="0"/>
                <a:cs typeface="Times New Roman Regular" panose="02020503050405090304" charset="0"/>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6754" y="1053046"/>
            <a:ext cx="5402827" cy="688999"/>
          </a:xfrm>
          <a:prstGeom prst="rect">
            <a:avLst/>
          </a:prstGeom>
        </p:spPr>
      </p:pic>
      <p:sp>
        <p:nvSpPr>
          <p:cNvPr id="8" name="Text 1"/>
          <p:cNvSpPr/>
          <p:nvPr/>
        </p:nvSpPr>
        <p:spPr>
          <a:xfrm>
            <a:off x="386818" y="1053239"/>
            <a:ext cx="8210039" cy="307079"/>
          </a:xfrm>
          <a:prstGeom prst="rect">
            <a:avLst/>
          </a:prstGeom>
          <a:solidFill>
            <a:srgbClr val="FFFFFF">
              <a:alpha val="0"/>
            </a:srgbClr>
          </a:solidFill>
        </p:spPr>
        <p:txBody>
          <a:bodyPr wrap="square" lIns="0" tIns="0" rIns="0" bIns="0" rtlCol="0" anchor="ctr"/>
          <a:lstStyle/>
          <a:p>
            <a:pPr algn="just">
              <a:lnSpc>
                <a:spcPct val="125000"/>
              </a:lnSpc>
            </a:pPr>
            <a:r>
              <a:rPr lang="en-US" sz="1440" b="1" dirty="0">
                <a:solidFill>
                  <a:srgbClr val="000000"/>
                </a:solidFill>
                <a:latin typeface="Times New Roman Regular" panose="02020503050405090304" charset="0"/>
                <a:ea typeface="HarmonyOS Sans" pitchFamily="34" charset="-122"/>
                <a:cs typeface="Times New Roman Regular" panose="02020503050405090304" charset="0"/>
              </a:rPr>
              <a:t>OCR and TTS Challenges in Supermarket Environments</a:t>
            </a:r>
          </a:p>
        </p:txBody>
      </p:sp>
      <p:pic>
        <p:nvPicPr>
          <p:cNvPr id="14" name="Image 5"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8737" y="365570"/>
            <a:ext cx="489864" cy="687272"/>
          </a:xfrm>
          <a:prstGeom prst="rect">
            <a:avLst/>
          </a:prstGeom>
        </p:spPr>
      </p:pic>
      <p:pic>
        <p:nvPicPr>
          <p:cNvPr id="5" name="图片 4" descr="2"/>
          <p:cNvPicPr>
            <a:picLocks noChangeAspect="1"/>
          </p:cNvPicPr>
          <p:nvPr/>
        </p:nvPicPr>
        <p:blipFill>
          <a:blip r:embed="rId7"/>
          <a:stretch>
            <a:fillRect/>
          </a:stretch>
        </p:blipFill>
        <p:spPr>
          <a:xfrm>
            <a:off x="6678628" y="1886242"/>
            <a:ext cx="3251038" cy="3251038"/>
          </a:xfrm>
          <a:prstGeom prst="rect">
            <a:avLst/>
          </a:prstGeom>
        </p:spPr>
      </p:pic>
      <p:pic>
        <p:nvPicPr>
          <p:cNvPr id="2" name="Picture 1" descr="4961732557603_.pic"/>
          <p:cNvPicPr>
            <a:picLocks noChangeAspect="1"/>
          </p:cNvPicPr>
          <p:nvPr/>
        </p:nvPicPr>
        <p:blipFill>
          <a:blip r:embed="rId8"/>
          <a:stretch>
            <a:fillRect/>
          </a:stretch>
        </p:blipFill>
        <p:spPr>
          <a:xfrm>
            <a:off x="1098601" y="1897920"/>
            <a:ext cx="3251038" cy="3251038"/>
          </a:xfrm>
          <a:prstGeom prst="rect">
            <a:avLst/>
          </a:prstGeom>
        </p:spPr>
      </p:pic>
      <p:sp>
        <p:nvSpPr>
          <p:cNvPr id="6" name="Text Box 5"/>
          <p:cNvSpPr txBox="1"/>
          <p:nvPr/>
        </p:nvSpPr>
        <p:spPr>
          <a:xfrm>
            <a:off x="1929259" y="5304833"/>
            <a:ext cx="2307156" cy="2591996"/>
          </a:xfrm>
          <a:prstGeom prst="rect">
            <a:avLst/>
          </a:prstGeom>
          <a:noFill/>
        </p:spPr>
        <p:txBody>
          <a:bodyPr wrap="square" rtlCol="0">
            <a:noAutofit/>
          </a:bodyPr>
          <a:lstStyle/>
          <a:p>
            <a:r>
              <a:rPr lang="en-US" altLang="en-US" sz="1440">
                <a:latin typeface="Times New Roman Regular" panose="02020503050405090304" charset="0"/>
                <a:cs typeface="Times New Roman Regular" panose="02020503050405090304" charset="0"/>
                <a:sym typeface="+mn-ea"/>
              </a:rPr>
              <a:t>· </a:t>
            </a:r>
            <a:r>
              <a:rPr lang="ja-JP" altLang="en-US" sz="1440">
                <a:latin typeface="Times New Roman Regular" panose="02020503050405090304" charset="0"/>
                <a:cs typeface="Times New Roman Regular" panose="02020503050405090304" charset="0"/>
              </a:rPr>
              <a:t>レタス</a:t>
            </a:r>
            <a:r>
              <a:rPr lang="en-US" altLang="en-US" sz="1440">
                <a:latin typeface="Times New Roman Regular" panose="02020503050405090304" charset="0"/>
                <a:cs typeface="Times New Roman Regular" panose="02020503050405090304" charset="0"/>
              </a:rPr>
              <a:t> 1</a:t>
            </a:r>
            <a:r>
              <a:rPr lang="zh-CN" altLang="en-US" sz="1440">
                <a:latin typeface="Times New Roman Regular" panose="02020503050405090304" charset="0"/>
                <a:cs typeface="Times New Roman Regular" panose="02020503050405090304" charset="0"/>
              </a:rPr>
              <a:t>玉</a:t>
            </a:r>
          </a:p>
          <a:p>
            <a:r>
              <a:rPr lang="en-US" altLang="en-US" sz="1440">
                <a:latin typeface="Times New Roman Regular" panose="02020503050405090304" charset="0"/>
                <a:cs typeface="Times New Roman Regular" panose="02020503050405090304" charset="0"/>
                <a:sym typeface="+mn-ea"/>
              </a:rPr>
              <a:t>· </a:t>
            </a:r>
            <a:r>
              <a:rPr lang="en-US" altLang="en-US" sz="1440">
                <a:latin typeface="Times New Roman Regular" panose="02020503050405090304" charset="0"/>
                <a:cs typeface="Times New Roman Regular" panose="02020503050405090304" charset="0"/>
              </a:rPr>
              <a:t> 157</a:t>
            </a:r>
            <a:r>
              <a:rPr lang="zh-CN" altLang="en-US" sz="1440">
                <a:latin typeface="Times New Roman Regular" panose="02020503050405090304" charset="0"/>
                <a:cs typeface="Times New Roman Regular" panose="02020503050405090304" charset="0"/>
              </a:rPr>
              <a:t>円</a:t>
            </a:r>
            <a:r>
              <a:rPr lang="en-US" altLang="en-US" sz="1440">
                <a:latin typeface="Times New Roman Regular" panose="02020503050405090304" charset="0"/>
                <a:cs typeface="Times New Roman Regular" panose="02020503050405090304" charset="0"/>
              </a:rPr>
              <a:t> (</a:t>
            </a:r>
            <a:r>
              <a:rPr lang="zh-CN" altLang="en-US" sz="1440">
                <a:latin typeface="Times New Roman Regular" panose="02020503050405090304" charset="0"/>
                <a:cs typeface="Times New Roman Regular" panose="02020503050405090304" charset="0"/>
              </a:rPr>
              <a:t>税込</a:t>
            </a:r>
            <a:r>
              <a:rPr lang="en-US" altLang="en-US" sz="1440">
                <a:latin typeface="Times New Roman Regular" panose="02020503050405090304" charset="0"/>
                <a:cs typeface="Times New Roman Regular" panose="02020503050405090304" charset="0"/>
              </a:rPr>
              <a:t>169</a:t>
            </a:r>
            <a:r>
              <a:rPr lang="zh-CN" altLang="en-US" sz="1440">
                <a:latin typeface="Times New Roman Regular" panose="02020503050405090304" charset="0"/>
                <a:cs typeface="Times New Roman Regular" panose="02020503050405090304" charset="0"/>
              </a:rPr>
              <a:t>円</a:t>
            </a:r>
            <a:r>
              <a:rPr lang="en-US" altLang="en-US" sz="1440">
                <a:latin typeface="Times New Roman Regular" panose="02020503050405090304" charset="0"/>
                <a:cs typeface="Times New Roman Regular" panose="02020503050405090304" charset="0"/>
              </a:rPr>
              <a:t>)</a:t>
            </a:r>
          </a:p>
          <a:p>
            <a:r>
              <a:rPr lang="en-US" altLang="en-US" sz="1440">
                <a:latin typeface="Times New Roman Regular" panose="02020503050405090304" charset="0"/>
                <a:cs typeface="Times New Roman Regular" panose="02020503050405090304" charset="0"/>
              </a:rPr>
              <a:t>·  </a:t>
            </a:r>
            <a:r>
              <a:rPr lang="ja-JP" altLang="en-US" sz="1440">
                <a:latin typeface="Times New Roman Regular" panose="02020503050405090304" charset="0"/>
                <a:cs typeface="Times New Roman Regular" panose="02020503050405090304" charset="0"/>
              </a:rPr>
              <a:t>レタス</a:t>
            </a:r>
            <a:r>
              <a:rPr lang="en-US" altLang="en-US" sz="1440">
                <a:latin typeface="Times New Roman Regular" panose="02020503050405090304" charset="0"/>
                <a:cs typeface="Times New Roman Regular" panose="02020503050405090304" charset="0"/>
              </a:rPr>
              <a:t> 1</a:t>
            </a:r>
            <a:r>
              <a:rPr lang="zh-CN" altLang="en-US" sz="1440">
                <a:latin typeface="Times New Roman Regular" panose="02020503050405090304" charset="0"/>
                <a:cs typeface="Times New Roman Regular" panose="02020503050405090304" charset="0"/>
              </a:rPr>
              <a:t>玉</a:t>
            </a:r>
          </a:p>
          <a:p>
            <a:r>
              <a:rPr lang="en-US" altLang="en-US" sz="1440">
                <a:latin typeface="Times New Roman Regular" panose="02020503050405090304" charset="0"/>
                <a:cs typeface="Times New Roman Regular" panose="02020503050405090304" charset="0"/>
              </a:rPr>
              <a:t>·  257</a:t>
            </a:r>
            <a:r>
              <a:rPr lang="zh-CN" altLang="en-US" sz="1440">
                <a:latin typeface="Times New Roman Regular" panose="02020503050405090304" charset="0"/>
                <a:cs typeface="Times New Roman Regular" panose="02020503050405090304" charset="0"/>
              </a:rPr>
              <a:t>円</a:t>
            </a:r>
            <a:r>
              <a:rPr lang="en-US" altLang="en-US" sz="1440">
                <a:latin typeface="Times New Roman Regular" panose="02020503050405090304" charset="0"/>
                <a:cs typeface="Times New Roman Regular" panose="02020503050405090304" charset="0"/>
              </a:rPr>
              <a:t> (</a:t>
            </a:r>
            <a:r>
              <a:rPr lang="zh-CN" altLang="en-US" sz="1440">
                <a:latin typeface="Times New Roman Regular" panose="02020503050405090304" charset="0"/>
                <a:cs typeface="Times New Roman Regular" panose="02020503050405090304" charset="0"/>
              </a:rPr>
              <a:t>税込</a:t>
            </a:r>
            <a:r>
              <a:rPr lang="en-US" altLang="en-US" sz="1440">
                <a:latin typeface="Times New Roman Regular" panose="02020503050405090304" charset="0"/>
                <a:cs typeface="Times New Roman Regular" panose="02020503050405090304" charset="0"/>
              </a:rPr>
              <a:t>277</a:t>
            </a:r>
            <a:r>
              <a:rPr lang="zh-CN" altLang="en-US" sz="1440">
                <a:latin typeface="Times New Roman Regular" panose="02020503050405090304" charset="0"/>
                <a:cs typeface="Times New Roman Regular" panose="02020503050405090304" charset="0"/>
              </a:rPr>
              <a:t>円</a:t>
            </a:r>
            <a:r>
              <a:rPr lang="en-US" altLang="en-US" sz="1440">
                <a:latin typeface="Times New Roman Regular" panose="02020503050405090304" charset="0"/>
                <a:cs typeface="Times New Roman Regular" panose="02020503050405090304" charset="0"/>
              </a:rPr>
              <a:t>)</a:t>
            </a:r>
            <a:endParaRPr lang="en-US" sz="1440">
              <a:latin typeface="Times New Roman Regular" panose="02020503050405090304" charset="0"/>
              <a:cs typeface="Times New Roman Regular" panose="02020503050405090304" charset="0"/>
            </a:endParaRPr>
          </a:p>
        </p:txBody>
      </p:sp>
      <p:pic>
        <p:nvPicPr>
          <p:cNvPr id="9"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33683" y="5247459"/>
            <a:ext cx="2718422" cy="1279497"/>
          </a:xfrm>
          <a:prstGeom prst="rect">
            <a:avLst/>
          </a:prstGeom>
        </p:spPr>
      </p:pic>
      <p:pic>
        <p:nvPicPr>
          <p:cNvPr id="10"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39169" y="5304833"/>
            <a:ext cx="2058872" cy="1279497"/>
          </a:xfrm>
          <a:prstGeom prst="rect">
            <a:avLst/>
          </a:prstGeom>
        </p:spPr>
      </p:pic>
      <p:sp>
        <p:nvSpPr>
          <p:cNvPr id="11" name="Text Box 10"/>
          <p:cNvSpPr txBox="1"/>
          <p:nvPr/>
        </p:nvSpPr>
        <p:spPr>
          <a:xfrm>
            <a:off x="7310760" y="5454616"/>
            <a:ext cx="1987282" cy="1279497"/>
          </a:xfrm>
          <a:prstGeom prst="rect">
            <a:avLst/>
          </a:prstGeom>
        </p:spPr>
        <p:txBody>
          <a:bodyPr>
            <a:noAutofit/>
          </a:bodyPr>
          <a:lstStyle/>
          <a:p>
            <a:r>
              <a:rPr lang="zh-CN" altLang="en-US" sz="1280">
                <a:latin typeface="Times New Roman Regular" panose="02020503050405090304" charset="0"/>
                <a:cs typeface="Times New Roman Regular" panose="02020503050405090304" charset="0"/>
              </a:rPr>
              <a:t>緑豆もやし </a:t>
            </a:r>
            <a:r>
              <a:rPr lang="en-US" altLang="zh-CN" sz="1280">
                <a:latin typeface="Times New Roman Regular" panose="02020503050405090304" charset="0"/>
                <a:cs typeface="Times New Roman Regular" panose="02020503050405090304" charset="0"/>
              </a:rPr>
              <a:t>200g 25</a:t>
            </a:r>
            <a:r>
              <a:rPr lang="zh-CN" altLang="en-US" sz="1280">
                <a:latin typeface="Times New Roman Regular" panose="02020503050405090304" charset="0"/>
                <a:cs typeface="Times New Roman Regular" panose="02020503050405090304" charset="0"/>
              </a:rPr>
              <a:t>円（税込 </a:t>
            </a:r>
            <a:r>
              <a:rPr lang="en-US" altLang="zh-CN" sz="1280">
                <a:latin typeface="Times New Roman Regular" panose="02020503050405090304" charset="0"/>
                <a:cs typeface="Times New Roman Regular" panose="02020503050405090304" charset="0"/>
              </a:rPr>
              <a:t>27</a:t>
            </a:r>
            <a:r>
              <a:rPr lang="zh-CN" altLang="en-US" sz="1280">
                <a:latin typeface="Times New Roman Regular" panose="02020503050405090304" charset="0"/>
                <a:cs typeface="Times New Roman Regular" panose="02020503050405090304" charset="0"/>
              </a:rPr>
              <a:t>円） </a:t>
            </a:r>
          </a:p>
          <a:p>
            <a:r>
              <a:rPr lang="zh-CN" altLang="en-US" sz="1280">
                <a:latin typeface="Times New Roman Regular" panose="02020503050405090304" charset="0"/>
                <a:cs typeface="Times New Roman Regular" panose="02020503050405090304" charset="0"/>
              </a:rPr>
              <a:t>ベストプライス</a:t>
            </a:r>
            <a:r>
              <a:rPr lang="en-US" altLang="zh-CN" sz="1280">
                <a:latin typeface="Times New Roman Regular" panose="02020503050405090304" charset="0"/>
                <a:cs typeface="Times New Roman Regular" panose="02020503050405090304" charset="0"/>
              </a:rPr>
              <a:t>4</a:t>
            </a:r>
            <a:r>
              <a:rPr lang="zh-CN" altLang="en-US" sz="1280">
                <a:latin typeface="Times New Roman Regular" panose="02020503050405090304" charset="0"/>
                <a:cs typeface="Times New Roman Regular" panose="02020503050405090304" charset="0"/>
              </a:rPr>
              <a:t>月号モヤシ 満足品質、納得価格</a:t>
            </a:r>
          </a:p>
        </p:txBody>
      </p:sp>
      <p:sp>
        <p:nvSpPr>
          <p:cNvPr id="29" name="Text Box 28"/>
          <p:cNvSpPr txBox="1"/>
          <p:nvPr/>
        </p:nvSpPr>
        <p:spPr>
          <a:xfrm>
            <a:off x="10891827" y="6047652"/>
            <a:ext cx="4062909" cy="312420"/>
          </a:xfrm>
          <a:prstGeom prst="rect">
            <a:avLst/>
          </a:prstGeom>
          <a:noFill/>
        </p:spPr>
        <p:txBody>
          <a:bodyPr wrap="square" rtlCol="0">
            <a:spAutoFit/>
          </a:bodyPr>
          <a:lstStyle/>
          <a:p>
            <a:r>
              <a:rPr lang="en-US" sz="1440">
                <a:latin typeface="Times New Roman Regular" panose="02020503050405090304" charset="0"/>
                <a:cs typeface="Times New Roman Regular" panose="02020503050405090304" charset="0"/>
              </a:rPr>
              <a:t>5</a:t>
            </a:r>
          </a:p>
        </p:txBody>
      </p:sp>
      <p:sp>
        <p:nvSpPr>
          <p:cNvPr id="4" name="Text 1"/>
          <p:cNvSpPr/>
          <p:nvPr/>
        </p:nvSpPr>
        <p:spPr>
          <a:xfrm>
            <a:off x="942340" y="365760"/>
            <a:ext cx="4063365" cy="1747520"/>
          </a:xfrm>
          <a:prstGeom prst="rect">
            <a:avLst/>
          </a:prstGeom>
          <a:solidFill>
            <a:srgbClr val="FFFFFF">
              <a:alpha val="0"/>
            </a:srgbClr>
          </a:solidFill>
        </p:spPr>
        <p:txBody>
          <a:bodyPr wrap="square" lIns="0" tIns="0" rIns="0" bIns="0" rtlCol="0" anchor="t"/>
          <a:lstStyle/>
          <a:p>
            <a:pPr algn="ctr">
              <a:lnSpc>
                <a:spcPct val="125000"/>
              </a:lnSpc>
            </a:pPr>
            <a:r>
              <a:rPr lang="en-US" sz="2800" b="1" dirty="0">
                <a:solidFill>
                  <a:srgbClr val="000000"/>
                </a:solidFill>
                <a:latin typeface="Times New Roman Regular" panose="02020503050405090304" charset="0"/>
                <a:ea typeface="HarmonyOS Sans" pitchFamily="34" charset="-122"/>
                <a:cs typeface="Times New Roman Regular" panose="02020503050405090304" charset="0"/>
              </a:rPr>
              <a:t>Literature Review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0"/>
          <p:cNvSpPr/>
          <p:nvPr/>
        </p:nvSpPr>
        <p:spPr>
          <a:xfrm>
            <a:off x="1333480" y="380193"/>
            <a:ext cx="10433380" cy="672650"/>
          </a:xfrm>
          <a:prstGeom prst="rect">
            <a:avLst/>
          </a:prstGeom>
          <a:solidFill>
            <a:srgbClr val="FFFFFF">
              <a:alpha val="0"/>
            </a:srgbClr>
          </a:solidFill>
        </p:spPr>
        <p:txBody>
          <a:bodyPr wrap="square" lIns="0" tIns="0" rIns="0" bIns="0" rtlCol="0" anchor="ctr"/>
          <a:lstStyle/>
          <a:p>
            <a:pPr algn="l">
              <a:lnSpc>
                <a:spcPct val="125000"/>
              </a:lnSpc>
            </a:pPr>
            <a:r>
              <a:rPr lang="en-US" altLang="zh-CN" sz="2880" b="1" dirty="0">
                <a:solidFill>
                  <a:srgbClr val="000000"/>
                </a:solidFill>
                <a:latin typeface="Times New Roman Regular" panose="02020503050405090304" charset="0"/>
                <a:ea typeface="HarmonyOS Sans" pitchFamily="34" charset="-122"/>
                <a:cs typeface="Times New Roman Regular" panose="02020503050405090304" charset="0"/>
              </a:rPr>
              <a:t>Limitations of Existing Work</a:t>
            </a:r>
          </a:p>
        </p:txBody>
      </p:sp>
      <p:pic>
        <p:nvPicPr>
          <p:cNvPr id="14" name="Image 5"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8737" y="365570"/>
            <a:ext cx="489864" cy="687272"/>
          </a:xfrm>
          <a:prstGeom prst="rect">
            <a:avLst/>
          </a:prstGeom>
        </p:spPr>
      </p:pic>
      <p:pic>
        <p:nvPicPr>
          <p:cNvPr id="4" name="图片 3" descr="6"/>
          <p:cNvPicPr>
            <a:picLocks noChangeAspect="1"/>
          </p:cNvPicPr>
          <p:nvPr/>
        </p:nvPicPr>
        <p:blipFill>
          <a:blip r:embed="rId5"/>
          <a:stretch>
            <a:fillRect/>
          </a:stretch>
        </p:blipFill>
        <p:spPr>
          <a:xfrm>
            <a:off x="1333683" y="1692794"/>
            <a:ext cx="3783654" cy="3783654"/>
          </a:xfrm>
          <a:prstGeom prst="rect">
            <a:avLst/>
          </a:prstGeom>
        </p:spPr>
      </p:pic>
      <p:sp>
        <p:nvSpPr>
          <p:cNvPr id="6" name="Text Box 5"/>
          <p:cNvSpPr txBox="1"/>
          <p:nvPr/>
        </p:nvSpPr>
        <p:spPr>
          <a:xfrm>
            <a:off x="6556771" y="1531842"/>
            <a:ext cx="4062909" cy="1443496"/>
          </a:xfrm>
          <a:prstGeom prst="rect">
            <a:avLst/>
          </a:prstGeom>
          <a:noFill/>
        </p:spPr>
        <p:txBody>
          <a:bodyPr wrap="square" rtlCol="0">
            <a:noAutofit/>
          </a:bodyPr>
          <a:lstStyle/>
          <a:p>
            <a:pPr marL="342900" indent="-342900" algn="l">
              <a:buClrTx/>
              <a:buSzTx/>
              <a:buFont typeface="Arial" panose="020B0604020202090204" pitchFamily="34" charset="0"/>
              <a:buChar char="•"/>
            </a:pPr>
            <a:r>
              <a:rPr lang="en-US" altLang="en-US" sz="2560" b="1">
                <a:latin typeface="Times New Roman Regular" panose="02020503050405090304" charset="0"/>
                <a:cs typeface="Times New Roman Regular" panose="02020503050405090304" charset="0"/>
                <a:sym typeface="+mn-ea"/>
              </a:rPr>
              <a:t>Do we identify them by reading the label? </a:t>
            </a:r>
          </a:p>
          <a:p>
            <a:pPr indent="0">
              <a:buFont typeface="Arial" panose="020B0604020202090204" pitchFamily="34" charset="0"/>
              <a:buNone/>
            </a:pPr>
            <a:r>
              <a:rPr lang="en-US" altLang="en-US" sz="2240">
                <a:latin typeface="Times New Roman Regular" panose="02020503050405090304" charset="0"/>
                <a:cs typeface="Times New Roman Regular" panose="02020503050405090304" charset="0"/>
                <a:sym typeface="+mn-ea"/>
              </a:rPr>
              <a:t>Their appearance—features like the vibrant red color and round shape</a:t>
            </a:r>
          </a:p>
          <a:p>
            <a:pPr marL="342900" indent="-342900" algn="l">
              <a:buClrTx/>
              <a:buSzTx/>
              <a:buFont typeface="Arial" panose="020B0604020202090204" pitchFamily="34" charset="0"/>
              <a:buChar char="•"/>
            </a:pPr>
            <a:r>
              <a:rPr lang="en-US" altLang="en-US" sz="2560" b="1">
                <a:latin typeface="Times New Roman Regular" panose="02020503050405090304" charset="0"/>
                <a:cs typeface="Times New Roman Regular" panose="02020503050405090304" charset="0"/>
                <a:sym typeface="+mn-ea"/>
              </a:rPr>
              <a:t>Do we decide to purchase based solely on the label?</a:t>
            </a:r>
          </a:p>
          <a:p>
            <a:pPr indent="0">
              <a:buFont typeface="Arial" panose="020B0604020202090204" pitchFamily="34" charset="0"/>
              <a:buNone/>
            </a:pPr>
            <a:r>
              <a:rPr lang="en-US" altLang="en-US" sz="2240">
                <a:latin typeface="Times New Roman Regular" panose="02020503050405090304" charset="0"/>
                <a:cs typeface="Times New Roman Regular" panose="02020503050405090304" charset="0"/>
                <a:sym typeface="+mn-ea"/>
              </a:rPr>
              <a:t>Appearance assessment</a:t>
            </a:r>
          </a:p>
          <a:p>
            <a:pPr algn="l">
              <a:buClrTx/>
              <a:buSzTx/>
              <a:buFontTx/>
              <a:buNone/>
            </a:pPr>
            <a:r>
              <a:rPr lang="en-US" altLang="en-US" sz="2240">
                <a:latin typeface="Times New Roman Regular" panose="02020503050405090304" charset="0"/>
                <a:cs typeface="Times New Roman Regular" panose="02020503050405090304" charset="0"/>
                <a:sym typeface="+mn-ea"/>
              </a:rPr>
              <a:t>Price comparison</a:t>
            </a:r>
          </a:p>
          <a:p>
            <a:pPr algn="l">
              <a:buClrTx/>
              <a:buSzTx/>
              <a:buFontTx/>
              <a:buNone/>
            </a:pPr>
            <a:r>
              <a:rPr lang="en-US" altLang="en-US" sz="2240">
                <a:latin typeface="Times New Roman Regular" panose="02020503050405090304" charset="0"/>
                <a:cs typeface="Times New Roman Regular" panose="02020503050405090304" charset="0"/>
                <a:sym typeface="+mn-ea"/>
              </a:rPr>
              <a:t>Usage needs</a:t>
            </a:r>
          </a:p>
          <a:p>
            <a:pPr indent="0">
              <a:buFont typeface="Arial" panose="020B0604020202090204" pitchFamily="34" charset="0"/>
              <a:buNone/>
            </a:pPr>
            <a:endParaRPr lang="en-US" altLang="en-US" sz="1920">
              <a:latin typeface="Times New Roman Regular" panose="02020503050405090304" charset="0"/>
              <a:cs typeface="Times New Roman Regular" panose="02020503050405090304" charset="0"/>
            </a:endParaRPr>
          </a:p>
          <a:p>
            <a:pPr indent="0">
              <a:buFont typeface="Arial" panose="020B0604020202090204" pitchFamily="34" charset="0"/>
              <a:buNone/>
            </a:pPr>
            <a:endParaRPr lang="en-US" altLang="en-US" sz="1920">
              <a:latin typeface="Times New Roman Regular" panose="02020503050405090304" charset="0"/>
              <a:cs typeface="Times New Roman Regular" panose="02020503050405090304" charset="0"/>
            </a:endParaRPr>
          </a:p>
        </p:txBody>
      </p:sp>
      <p:sp>
        <p:nvSpPr>
          <p:cNvPr id="10" name="Text Box 9"/>
          <p:cNvSpPr txBox="1"/>
          <p:nvPr/>
        </p:nvSpPr>
        <p:spPr>
          <a:xfrm>
            <a:off x="640115" y="1083510"/>
            <a:ext cx="6536603" cy="435610"/>
          </a:xfrm>
          <a:prstGeom prst="rect">
            <a:avLst/>
          </a:prstGeom>
          <a:noFill/>
        </p:spPr>
        <p:txBody>
          <a:bodyPr wrap="square" rtlCol="0">
            <a:spAutoFit/>
          </a:bodyPr>
          <a:lstStyle/>
          <a:p>
            <a:r>
              <a:rPr lang="en-US" altLang="en-US" sz="2240">
                <a:latin typeface="Times New Roman Regular" panose="02020503050405090304" charset="0"/>
                <a:cs typeface="Times New Roman Regular" panose="02020503050405090304" charset="0"/>
              </a:rPr>
              <a:t>When we see a basket of tomatoes in a supermarket</a:t>
            </a:r>
          </a:p>
        </p:txBody>
      </p:sp>
      <p:sp>
        <p:nvSpPr>
          <p:cNvPr id="11" name="Text Box 10"/>
          <p:cNvSpPr txBox="1"/>
          <p:nvPr/>
        </p:nvSpPr>
        <p:spPr>
          <a:xfrm>
            <a:off x="10794342" y="5947120"/>
            <a:ext cx="4062909" cy="312420"/>
          </a:xfrm>
          <a:prstGeom prst="rect">
            <a:avLst/>
          </a:prstGeom>
          <a:noFill/>
        </p:spPr>
        <p:txBody>
          <a:bodyPr wrap="square" rtlCol="0">
            <a:spAutoFit/>
          </a:bodyPr>
          <a:lstStyle/>
          <a:p>
            <a:r>
              <a:rPr lang="en-US" sz="1440">
                <a:latin typeface="Times New Roman Regular" panose="02020503050405090304" charset="0"/>
                <a:cs typeface="Times New Roman Regular" panose="02020503050405090304" charset="0"/>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90" y="1316054"/>
            <a:ext cx="12071948" cy="1073863"/>
          </a:xfrm>
          <a:prstGeom prst="rect">
            <a:avLst/>
          </a:prstGeom>
        </p:spPr>
      </p:pic>
      <p:sp>
        <p:nvSpPr>
          <p:cNvPr id="7" name="Text 0"/>
          <p:cNvSpPr/>
          <p:nvPr/>
        </p:nvSpPr>
        <p:spPr>
          <a:xfrm>
            <a:off x="-1785546" y="396441"/>
            <a:ext cx="10433380" cy="672650"/>
          </a:xfrm>
          <a:prstGeom prst="rect">
            <a:avLst/>
          </a:prstGeom>
          <a:solidFill>
            <a:srgbClr val="FFFFFF">
              <a:alpha val="0"/>
            </a:srgbClr>
          </a:solidFill>
        </p:spPr>
        <p:txBody>
          <a:bodyPr wrap="square" lIns="0" tIns="0" rIns="0" bIns="0" rtlCol="0" anchor="ctr"/>
          <a:lstStyle/>
          <a:p>
            <a:pPr algn="ctr">
              <a:lnSpc>
                <a:spcPct val="125000"/>
              </a:lnSpc>
            </a:pPr>
            <a:r>
              <a:rPr lang="en-US" sz="2880" b="1" dirty="0">
                <a:solidFill>
                  <a:srgbClr val="000000"/>
                </a:solidFill>
                <a:latin typeface="Times New Roman Regular" panose="02020503050405090304" charset="0"/>
                <a:ea typeface="HarmonyOS Sans" pitchFamily="34" charset="-122"/>
                <a:cs typeface="Times New Roman Regular" panose="02020503050405090304" charset="0"/>
                <a:sym typeface="+mn-ea"/>
              </a:rPr>
              <a:t>Literature Review</a:t>
            </a:r>
            <a:endParaRPr lang="en-US" altLang="zh-CN" sz="2880" b="1" dirty="0">
              <a:solidFill>
                <a:srgbClr val="000000"/>
              </a:solidFill>
              <a:latin typeface="Times New Roman Regular" panose="02020503050405090304" charset="0"/>
              <a:ea typeface="HarmonyOS Sans" pitchFamily="34" charset="-122"/>
              <a:cs typeface="Times New Roman Regular" panose="02020503050405090304" charset="0"/>
              <a:sym typeface="+mn-ea"/>
            </a:endParaRPr>
          </a:p>
        </p:txBody>
      </p:sp>
      <p:pic>
        <p:nvPicPr>
          <p:cNvPr id="14" name="Image 5"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8737" y="365570"/>
            <a:ext cx="489864" cy="687272"/>
          </a:xfrm>
          <a:prstGeom prst="rect">
            <a:avLst/>
          </a:prstGeom>
        </p:spPr>
      </p:pic>
      <p:sp>
        <p:nvSpPr>
          <p:cNvPr id="12" name="Text 2"/>
          <p:cNvSpPr/>
          <p:nvPr/>
        </p:nvSpPr>
        <p:spPr>
          <a:xfrm>
            <a:off x="830009" y="1772509"/>
            <a:ext cx="11243830" cy="965208"/>
          </a:xfrm>
          <a:prstGeom prst="rect">
            <a:avLst/>
          </a:prstGeom>
          <a:solidFill>
            <a:srgbClr val="FFFFFF">
              <a:alpha val="0"/>
            </a:srgbClr>
          </a:solidFill>
        </p:spPr>
        <p:txBody>
          <a:bodyPr wrap="square" lIns="0" tIns="0" rIns="0" bIns="0" rtlCol="0" anchor="t"/>
          <a:lstStyle/>
          <a:p>
            <a:pPr marL="342900" indent="-342900" algn="just">
              <a:lnSpc>
                <a:spcPct val="125000"/>
              </a:lnSpc>
              <a:buFont typeface="Arial" panose="020B0604020202090204" pitchFamily="34" charset="0"/>
              <a:buChar char="•"/>
            </a:pPr>
            <a:r>
              <a:rPr lang="en-US" altLang="en-US" sz="1600" dirty="0">
                <a:latin typeface="Times New Roman Regular" panose="02020503050405090304" charset="0"/>
                <a:cs typeface="Times New Roman Regular" panose="02020503050405090304" charset="0"/>
              </a:rPr>
              <a:t>Paper Title: ChatGPT for Visually Impaired and Blind</a:t>
            </a:r>
          </a:p>
          <a:p>
            <a:pPr marL="342900" indent="-342900" algn="just">
              <a:lnSpc>
                <a:spcPct val="125000"/>
              </a:lnSpc>
              <a:buFont typeface="Arial" panose="020B0604020202090204" pitchFamily="34" charset="0"/>
              <a:buChar char="•"/>
            </a:pPr>
            <a:r>
              <a:rPr lang="en-US" altLang="en-US" sz="1600" dirty="0">
                <a:latin typeface="Times New Roman Regular" panose="02020503050405090304" charset="0"/>
                <a:cs typeface="Times New Roman Regular" panose="02020503050405090304" charset="0"/>
              </a:rPr>
              <a:t>Publication Venue: 2024 International Conference on Artificial Intelligence in Information and Communication (ICAIIC)</a:t>
            </a:r>
          </a:p>
          <a:p>
            <a:pPr marL="342900" indent="-342900" algn="just">
              <a:lnSpc>
                <a:spcPct val="125000"/>
              </a:lnSpc>
              <a:buFont typeface="Arial" panose="020B0604020202090204" pitchFamily="34" charset="0"/>
              <a:buChar char="•"/>
            </a:pPr>
            <a:endParaRPr lang="en-US" altLang="en-US" sz="1600" dirty="0">
              <a:latin typeface="Times New Roman Regular" panose="02020503050405090304" charset="0"/>
              <a:cs typeface="Times New Roman Regular" panose="02020503050405090304" charset="0"/>
            </a:endParaRPr>
          </a:p>
        </p:txBody>
      </p:sp>
      <p:sp>
        <p:nvSpPr>
          <p:cNvPr id="5" name="Text Box 4"/>
          <p:cNvSpPr txBox="1"/>
          <p:nvPr/>
        </p:nvSpPr>
        <p:spPr>
          <a:xfrm>
            <a:off x="832547" y="1355149"/>
            <a:ext cx="5449538" cy="435610"/>
          </a:xfrm>
          <a:prstGeom prst="rect">
            <a:avLst/>
          </a:prstGeom>
        </p:spPr>
        <p:txBody>
          <a:bodyPr wrap="square">
            <a:spAutoFit/>
          </a:bodyPr>
          <a:lstStyle/>
          <a:p>
            <a:r>
              <a:rPr lang="en-US" altLang="zh-CN" sz="2240" b="1">
                <a:latin typeface="Times New Roman Regular" panose="02020503050405090304" charset="0"/>
                <a:cs typeface="Times New Roman Regular" panose="02020503050405090304" charset="0"/>
              </a:rPr>
              <a:t>ChatGPT for Visually Impaired and Blind</a:t>
            </a:r>
          </a:p>
        </p:txBody>
      </p:sp>
      <p:sp>
        <p:nvSpPr>
          <p:cNvPr id="29" name="Text Box 28"/>
          <p:cNvSpPr txBox="1"/>
          <p:nvPr/>
        </p:nvSpPr>
        <p:spPr>
          <a:xfrm>
            <a:off x="10891827" y="6415761"/>
            <a:ext cx="4062909" cy="312420"/>
          </a:xfrm>
          <a:prstGeom prst="rect">
            <a:avLst/>
          </a:prstGeom>
          <a:noFill/>
        </p:spPr>
        <p:txBody>
          <a:bodyPr wrap="square" rtlCol="0">
            <a:spAutoFit/>
          </a:bodyPr>
          <a:lstStyle/>
          <a:p>
            <a:r>
              <a:rPr lang="en-US" sz="1440">
                <a:latin typeface="Times New Roman Regular" panose="02020503050405090304" charset="0"/>
                <a:cs typeface="Times New Roman Regular" panose="02020503050405090304" charset="0"/>
              </a:rPr>
              <a:t>7</a:t>
            </a:r>
          </a:p>
        </p:txBody>
      </p:sp>
      <p:sp>
        <p:nvSpPr>
          <p:cNvPr id="21" name="Text Box 20"/>
          <p:cNvSpPr txBox="1"/>
          <p:nvPr/>
        </p:nvSpPr>
        <p:spPr>
          <a:xfrm>
            <a:off x="979283" y="2652924"/>
            <a:ext cx="5471879" cy="3924297"/>
          </a:xfrm>
          <a:prstGeom prst="rect">
            <a:avLst/>
          </a:prstGeom>
        </p:spPr>
        <p:txBody>
          <a:bodyPr>
            <a:noAutofit/>
          </a:bodyPr>
          <a:lstStyle/>
          <a:p>
            <a:pPr defTabSz="266700"/>
            <a:r>
              <a:rPr lang="en-US" altLang="zh-CN" sz="1600" b="1">
                <a:latin typeface="Times New Roman Regular" panose="02020503050405090304" charset="0"/>
                <a:ea typeface="宋体"/>
                <a:cs typeface="Times New Roman Regular" panose="02020503050405090304" charset="0"/>
              </a:rPr>
              <a:t>Limitations:</a:t>
            </a:r>
          </a:p>
          <a:p>
            <a:pPr marL="457200" indent="-228600" defTabSz="266700">
              <a:spcBef>
                <a:spcPts val="500"/>
              </a:spcBef>
              <a:spcAft>
                <a:spcPts val="500"/>
              </a:spcAft>
            </a:pPr>
            <a:r>
              <a:rPr lang="en-US" altLang="zh-CN" sz="1600" b="1">
                <a:latin typeface="Times New Roman Regular" panose="02020503050405090304" charset="0"/>
                <a:ea typeface="Times New Roman" panose="02020503050405090304"/>
                <a:cs typeface="Times New Roman Regular" panose="02020503050405090304" charset="0"/>
              </a:rPr>
              <a:t>1. </a:t>
            </a:r>
            <a:r>
              <a:rPr lang="en-US" altLang="zh-CN" sz="1600" b="1">
                <a:latin typeface="Times New Roman Regular" panose="02020503050405090304" charset="0"/>
                <a:ea typeface="宋体"/>
                <a:cs typeface="Times New Roman Regular" panose="02020503050405090304" charset="0"/>
              </a:rPr>
              <a:t>Data Privacy Risks</a:t>
            </a:r>
          </a:p>
          <a:p>
            <a:pPr marL="457200" indent="-228600" defTabSz="266700">
              <a:spcBef>
                <a:spcPts val="500"/>
              </a:spcBef>
              <a:spcAft>
                <a:spcPts val="500"/>
              </a:spcAft>
            </a:pPr>
            <a:r>
              <a:rPr lang="en-US" altLang="zh-CN" sz="1600" b="1">
                <a:latin typeface="Times New Roman Regular" panose="02020503050405090304" charset="0"/>
                <a:ea typeface="Times New Roman" panose="02020503050405090304"/>
                <a:cs typeface="Times New Roman Regular" panose="02020503050405090304" charset="0"/>
              </a:rPr>
              <a:t>2. </a:t>
            </a:r>
            <a:r>
              <a:rPr lang="en-US" altLang="zh-CN" sz="1600" b="1">
                <a:latin typeface="Times New Roman Regular" panose="02020503050405090304" charset="0"/>
                <a:ea typeface="宋体"/>
                <a:cs typeface="Times New Roman Regular" panose="02020503050405090304" charset="0"/>
              </a:rPr>
              <a:t>Voice Function Issues</a:t>
            </a:r>
          </a:p>
          <a:p>
            <a:pPr marL="457200" indent="-228600" defTabSz="266700">
              <a:spcBef>
                <a:spcPts val="500"/>
              </a:spcBef>
              <a:spcAft>
                <a:spcPts val="500"/>
              </a:spcAft>
            </a:pPr>
            <a:r>
              <a:rPr lang="en-US" altLang="zh-CN" sz="1600" b="1">
                <a:latin typeface="Times New Roman Regular" panose="02020503050405090304" charset="0"/>
                <a:ea typeface="Times New Roman" panose="02020503050405090304"/>
                <a:cs typeface="Times New Roman Regular" panose="02020503050405090304" charset="0"/>
              </a:rPr>
              <a:t>3. </a:t>
            </a:r>
            <a:r>
              <a:rPr lang="en-US" altLang="zh-CN" sz="1600" b="1">
                <a:latin typeface="Times New Roman Regular" panose="02020503050405090304" charset="0"/>
                <a:ea typeface="宋体"/>
                <a:cs typeface="Times New Roman Regular" panose="02020503050405090304" charset="0"/>
              </a:rPr>
              <a:t>High Cost</a:t>
            </a:r>
          </a:p>
          <a:p>
            <a:pPr marL="457200" indent="-228600" defTabSz="266700">
              <a:spcBef>
                <a:spcPts val="500"/>
              </a:spcBef>
              <a:spcAft>
                <a:spcPts val="500"/>
              </a:spcAft>
            </a:pPr>
            <a:r>
              <a:rPr lang="en-US" altLang="zh-CN" sz="1600" b="1">
                <a:latin typeface="Times New Roman Regular" panose="02020503050405090304" charset="0"/>
                <a:ea typeface="Times New Roman" panose="02020503050405090304"/>
                <a:cs typeface="Times New Roman Regular" panose="02020503050405090304" charset="0"/>
              </a:rPr>
              <a:t>4. </a:t>
            </a:r>
            <a:r>
              <a:rPr lang="en-US" altLang="zh-CN" sz="1600" b="1">
                <a:latin typeface="Times New Roman Regular" panose="02020503050405090304" charset="0"/>
                <a:ea typeface="宋体"/>
                <a:cs typeface="Times New Roman Regular" panose="02020503050405090304" charset="0"/>
              </a:rPr>
              <a:t>Restricted Development Access</a:t>
            </a:r>
            <a:endParaRPr lang="en-US" altLang="zh-CN" sz="1600">
              <a:latin typeface="Times New Roman Regular" panose="02020503050405090304" charset="0"/>
              <a:ea typeface="宋体"/>
              <a:cs typeface="Times New Roman Regular" panose="02020503050405090304" charset="0"/>
            </a:endParaRPr>
          </a:p>
        </p:txBody>
      </p:sp>
      <p:sp>
        <p:nvSpPr>
          <p:cNvPr id="22" name="Text Box 21"/>
          <p:cNvSpPr txBox="1"/>
          <p:nvPr/>
        </p:nvSpPr>
        <p:spPr>
          <a:xfrm>
            <a:off x="6733971" y="3070792"/>
            <a:ext cx="4769171" cy="2450337"/>
          </a:xfrm>
          <a:prstGeom prst="rect">
            <a:avLst/>
          </a:prstGeom>
        </p:spPr>
        <p:txBody>
          <a:bodyPr wrap="square">
            <a:noAutofit/>
          </a:bodyPr>
          <a:lstStyle/>
          <a:p>
            <a:pPr marL="228600" indent="0" algn="l" defTabSz="266700">
              <a:spcBef>
                <a:spcPts val="500"/>
              </a:spcBef>
              <a:spcAft>
                <a:spcPts val="500"/>
              </a:spcAft>
              <a:buClrTx/>
              <a:buSzTx/>
              <a:buFontTx/>
              <a:buNone/>
            </a:pPr>
            <a:r>
              <a:rPr lang="en-US" altLang="zh-CN" sz="1600">
                <a:latin typeface="Times New Roman Regular" panose="02020503050405090304" charset="0"/>
                <a:ea typeface="宋体"/>
                <a:cs typeface="Times New Roman Regular" panose="02020503050405090304" charset="0"/>
              </a:rPr>
              <a:t>Meta AI's LLaMA and Llama 2 Models</a:t>
            </a:r>
          </a:p>
          <a:p>
            <a:pPr marL="228600" indent="0" algn="l" defTabSz="266700">
              <a:spcBef>
                <a:spcPts val="500"/>
              </a:spcBef>
              <a:spcAft>
                <a:spcPts val="500"/>
              </a:spcAft>
              <a:buClrTx/>
              <a:buSzTx/>
              <a:buFontTx/>
              <a:buNone/>
            </a:pPr>
            <a:r>
              <a:rPr lang="en-US" altLang="en-US" sz="1600">
                <a:latin typeface="Times New Roman Regular" panose="02020503050405090304" charset="0"/>
                <a:ea typeface="宋体"/>
                <a:cs typeface="Times New Roman Regular" panose="02020503050405090304" charset="0"/>
              </a:rPr>
              <a:t>As a large language model, it supports voice interaction only, lacking image input capability.</a:t>
            </a:r>
          </a:p>
        </p:txBody>
      </p:sp>
      <p:sp>
        <p:nvSpPr>
          <p:cNvPr id="23" name="Text Box 22"/>
          <p:cNvSpPr txBox="1"/>
          <p:nvPr/>
        </p:nvSpPr>
        <p:spPr>
          <a:xfrm>
            <a:off x="6906348" y="2716899"/>
            <a:ext cx="4061894" cy="337185"/>
          </a:xfrm>
          <a:prstGeom prst="rect">
            <a:avLst/>
          </a:prstGeom>
        </p:spPr>
        <p:txBody>
          <a:bodyPr>
            <a:spAutoFit/>
          </a:bodyPr>
          <a:lstStyle/>
          <a:p>
            <a:pPr algn="l" defTabSz="266700">
              <a:spcBef>
                <a:spcPts val="500"/>
              </a:spcBef>
              <a:spcAft>
                <a:spcPts val="500"/>
              </a:spcAft>
            </a:pPr>
            <a:r>
              <a:rPr lang="en-US" altLang="zh-CN" sz="1600" b="1">
                <a:latin typeface="Times New Roman Regular" panose="02020503050405090304" charset="0"/>
                <a:ea typeface="宋体"/>
                <a:cs typeface="Times New Roman Regular" panose="02020503050405090304" charset="0"/>
              </a:rPr>
              <a:t>Open-Source Alternatives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0"/>
          <p:cNvSpPr/>
          <p:nvPr/>
        </p:nvSpPr>
        <p:spPr>
          <a:xfrm>
            <a:off x="831195" y="1324438"/>
            <a:ext cx="10433380" cy="672650"/>
          </a:xfrm>
          <a:prstGeom prst="rect">
            <a:avLst/>
          </a:prstGeom>
          <a:solidFill>
            <a:srgbClr val="FFFFFF">
              <a:alpha val="0"/>
            </a:srgbClr>
          </a:solidFill>
        </p:spPr>
        <p:txBody>
          <a:bodyPr wrap="square" lIns="0" tIns="0" rIns="0" bIns="0" rtlCol="0" anchor="ctr"/>
          <a:lstStyle/>
          <a:p>
            <a:pPr algn="l">
              <a:lnSpc>
                <a:spcPct val="125000"/>
              </a:lnSpc>
            </a:pPr>
            <a:r>
              <a:rPr lang="en-US" altLang="zh-CN" sz="2400" b="1" dirty="0">
                <a:solidFill>
                  <a:srgbClr val="000000"/>
                </a:solidFill>
                <a:latin typeface="Times New Roman Regular" panose="02020503050405090304" charset="0"/>
                <a:ea typeface="HarmonyOS Sans" pitchFamily="34" charset="-122"/>
                <a:cs typeface="Times New Roman Regular" panose="02020503050405090304" charset="0"/>
              </a:rPr>
              <a:t> </a:t>
            </a:r>
          </a:p>
        </p:txBody>
      </p:sp>
      <p:pic>
        <p:nvPicPr>
          <p:cNvPr id="14" name="Image 5"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8737" y="365570"/>
            <a:ext cx="489864" cy="687272"/>
          </a:xfrm>
          <a:prstGeom prst="rect">
            <a:avLst/>
          </a:prstGeom>
        </p:spPr>
      </p:pic>
      <p:sp>
        <p:nvSpPr>
          <p:cNvPr id="3" name="Text Box 2"/>
          <p:cNvSpPr txBox="1"/>
          <p:nvPr/>
        </p:nvSpPr>
        <p:spPr>
          <a:xfrm>
            <a:off x="5850124" y="2999462"/>
            <a:ext cx="10857442" cy="2992093"/>
          </a:xfrm>
          <a:prstGeom prst="rect">
            <a:avLst/>
          </a:prstGeom>
          <a:noFill/>
        </p:spPr>
        <p:txBody>
          <a:bodyPr wrap="square" rtlCol="0">
            <a:noAutofit/>
          </a:bodyPr>
          <a:lstStyle/>
          <a:p>
            <a:pPr algn="just"/>
            <a:endParaRPr lang="en-US" altLang="en-US" sz="2240">
              <a:latin typeface="Times New Roman Regular" panose="02020503050405090304" charset="0"/>
              <a:cs typeface="Times New Roman Regular" panose="02020503050405090304" charset="0"/>
            </a:endParaRPr>
          </a:p>
          <a:p>
            <a:pPr marL="457200" indent="-457200" algn="just">
              <a:buFont typeface="Arial" panose="020B0604020202090204" pitchFamily="34" charset="0"/>
              <a:buChar char="•"/>
            </a:pPr>
            <a:r>
              <a:rPr lang="en-US" altLang="en-US" sz="2240">
                <a:latin typeface="Times New Roman Regular" panose="02020503050405090304" charset="0"/>
                <a:cs typeface="Times New Roman Regular" panose="02020503050405090304" charset="0"/>
              </a:rPr>
              <a:t>A multimodal artificial intelligence model</a:t>
            </a:r>
          </a:p>
          <a:p>
            <a:pPr marL="457200" indent="-457200" algn="just">
              <a:buFont typeface="Arial" panose="020B0604020202090204" pitchFamily="34" charset="0"/>
              <a:buChar char="•"/>
            </a:pPr>
            <a:r>
              <a:rPr lang="en-US" altLang="en-US" sz="2240">
                <a:latin typeface="Times New Roman Regular" panose="02020503050405090304" charset="0"/>
                <a:cs typeface="Times New Roman Regular" panose="02020503050405090304" charset="0"/>
              </a:rPr>
              <a:t>Visual and textual data simultaneously </a:t>
            </a:r>
          </a:p>
          <a:p>
            <a:pPr algn="just"/>
            <a:r>
              <a:rPr lang="en-US" altLang="en-US" sz="2240">
                <a:latin typeface="Times New Roman Regular" panose="02020503050405090304" charset="0"/>
                <a:cs typeface="Times New Roman Regular" panose="02020503050405090304" charset="0"/>
              </a:rPr>
              <a:t> </a:t>
            </a:r>
          </a:p>
        </p:txBody>
      </p:sp>
      <p:sp>
        <p:nvSpPr>
          <p:cNvPr id="29" name="Text Box 28"/>
          <p:cNvSpPr txBox="1"/>
          <p:nvPr/>
        </p:nvSpPr>
        <p:spPr>
          <a:xfrm>
            <a:off x="10891827" y="6415761"/>
            <a:ext cx="4062909" cy="312420"/>
          </a:xfrm>
          <a:prstGeom prst="rect">
            <a:avLst/>
          </a:prstGeom>
          <a:noFill/>
        </p:spPr>
        <p:txBody>
          <a:bodyPr wrap="square" rtlCol="0">
            <a:spAutoFit/>
          </a:bodyPr>
          <a:lstStyle/>
          <a:p>
            <a:r>
              <a:rPr lang="en-US" sz="1440">
                <a:latin typeface="Times New Roman Regular" panose="02020503050405090304" charset="0"/>
                <a:cs typeface="Times New Roman Regular" panose="02020503050405090304" charset="0"/>
              </a:rPr>
              <a:t>8</a:t>
            </a:r>
          </a:p>
        </p:txBody>
      </p:sp>
      <p:sp>
        <p:nvSpPr>
          <p:cNvPr id="2" name="Text Box 1"/>
          <p:cNvSpPr txBox="1"/>
          <p:nvPr/>
        </p:nvSpPr>
        <p:spPr>
          <a:xfrm>
            <a:off x="786130" y="2755900"/>
            <a:ext cx="5019040" cy="673100"/>
          </a:xfrm>
          <a:prstGeom prst="rect">
            <a:avLst/>
          </a:prstGeom>
          <a:noFill/>
        </p:spPr>
        <p:txBody>
          <a:bodyPr wrap="square" rtlCol="0">
            <a:noAutofit/>
          </a:bodyPr>
          <a:lstStyle/>
          <a:p>
            <a:r>
              <a:rPr lang="en-US" altLang="en-US" sz="2400" b="1" dirty="0">
                <a:solidFill>
                  <a:srgbClr val="000000"/>
                </a:solidFill>
                <a:latin typeface="Times New Roman Regular" panose="02020503050405090304" charset="0"/>
                <a:ea typeface="HarmonyOS Sans" pitchFamily="34" charset="-122"/>
                <a:cs typeface="Times New Roman Regular" panose="02020503050405090304" charset="0"/>
                <a:sym typeface="+mn-ea"/>
              </a:rPr>
              <a:t>Vision-Language Model</a:t>
            </a:r>
          </a:p>
          <a:p>
            <a:endParaRPr lang="en-US" altLang="en-US" sz="2400" b="1" dirty="0">
              <a:solidFill>
                <a:srgbClr val="000000"/>
              </a:solidFill>
              <a:latin typeface="Times New Roman Regular" panose="02020503050405090304" charset="0"/>
              <a:ea typeface="HarmonyOS Sans" pitchFamily="34" charset="-122"/>
              <a:cs typeface="Times New Roman Regular" panose="02020503050405090304" charset="0"/>
              <a:sym typeface="+mn-ea"/>
            </a:endParaRPr>
          </a:p>
          <a:p>
            <a:endParaRPr lang="en-US" altLang="en-US" sz="2400" b="1" dirty="0">
              <a:solidFill>
                <a:srgbClr val="000000"/>
              </a:solidFill>
              <a:latin typeface="Times New Roman Regular" panose="02020503050405090304" charset="0"/>
              <a:ea typeface="HarmonyOS Sans" pitchFamily="34" charset="-122"/>
              <a:cs typeface="Times New Roman Regular" panose="02020503050405090304" charset="0"/>
              <a:sym typeface="+mn-ea"/>
            </a:endParaRPr>
          </a:p>
          <a:p>
            <a:r>
              <a:rPr lang="en-US" sz="2400" b="1" dirty="0">
                <a:solidFill>
                  <a:srgbClr val="000000"/>
                </a:solidFill>
                <a:latin typeface="Times New Roman Regular" panose="02020503050405090304" charset="0"/>
                <a:ea typeface="HarmonyOS Sans" pitchFamily="34" charset="-122"/>
                <a:cs typeface="Times New Roman Regular" panose="02020503050405090304" charset="0"/>
                <a:sym typeface="+mn-ea"/>
              </a:rPr>
              <a:t>LLaMa3</a:t>
            </a:r>
            <a:r>
              <a:rPr lang="en-US" altLang="zh-CN" sz="2400" b="1">
                <a:latin typeface="Times New Roman Regular" panose="02020503050405090304" charset="0"/>
                <a:cs typeface="Times New Roman Regular" panose="02020503050405090304" charset="0"/>
                <a:sym typeface="+mn-ea"/>
              </a:rPr>
              <a:t>.2         </a:t>
            </a:r>
            <a:r>
              <a:rPr lang="en-US" sz="2400" b="1" dirty="0">
                <a:solidFill>
                  <a:srgbClr val="000000"/>
                </a:solidFill>
                <a:latin typeface="Times New Roman Regular" panose="02020503050405090304" charset="0"/>
                <a:ea typeface="HarmonyOS Sans" pitchFamily="34" charset="-122"/>
                <a:cs typeface="Times New Roman Regular" panose="02020503050405090304" charset="0"/>
                <a:sym typeface="+mn-ea"/>
              </a:rPr>
              <a:t>Qwen2-VL</a:t>
            </a:r>
          </a:p>
          <a:p>
            <a:endParaRPr lang="en-US" sz="2400" dirty="0">
              <a:latin typeface="Times New Roman Regular" panose="02020503050405090304" charset="0"/>
              <a:cs typeface="Times New Roman Regular" panose="02020503050405090304" charset="0"/>
            </a:endParaRPr>
          </a:p>
          <a:p>
            <a:endParaRPr lang="en-US" sz="2400">
              <a:latin typeface="Times New Roman Regular" panose="02020503050405090304" charset="0"/>
              <a:cs typeface="Times New Roman Regular" panose="02020503050405090304" charset="0"/>
            </a:endParaRPr>
          </a:p>
        </p:txBody>
      </p:sp>
      <p:sp>
        <p:nvSpPr>
          <p:cNvPr id="30" name="Text 1"/>
          <p:cNvSpPr/>
          <p:nvPr/>
        </p:nvSpPr>
        <p:spPr>
          <a:xfrm>
            <a:off x="608965" y="365760"/>
            <a:ext cx="4847590" cy="716915"/>
          </a:xfrm>
          <a:prstGeom prst="rect">
            <a:avLst/>
          </a:prstGeom>
          <a:solidFill>
            <a:srgbClr val="FFFFFF">
              <a:alpha val="0"/>
            </a:srgbClr>
          </a:solidFill>
        </p:spPr>
        <p:txBody>
          <a:bodyPr wrap="square" lIns="0" tIns="0" rIns="0" bIns="0" rtlCol="0" anchor="t"/>
          <a:lstStyle/>
          <a:p>
            <a:pPr algn="ctr">
              <a:lnSpc>
                <a:spcPct val="125000"/>
              </a:lnSpc>
            </a:pPr>
            <a:r>
              <a:rPr lang="en-US" sz="3200" b="1" dirty="0">
                <a:solidFill>
                  <a:srgbClr val="000000"/>
                </a:solidFill>
                <a:latin typeface="Times New Roman Regular" panose="02020503050405090304" charset="0"/>
                <a:ea typeface="HarmonyOS Sans" pitchFamily="34" charset="-122"/>
                <a:cs typeface="Times New Roman Regular" panose="02020503050405090304" charset="0"/>
              </a:rPr>
              <a:t>Model Introduction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0"/>
          <p:cNvSpPr/>
          <p:nvPr/>
        </p:nvSpPr>
        <p:spPr>
          <a:xfrm>
            <a:off x="601527" y="1699903"/>
            <a:ext cx="5265738" cy="4142116"/>
          </a:xfrm>
          <a:prstGeom prst="rect">
            <a:avLst/>
          </a:prstGeom>
          <a:noFill/>
          <a:ln w="19050">
            <a:solidFill>
              <a:srgbClr val="C55A40"/>
            </a:solidFill>
            <a:prstDash val="solid"/>
            <a:headEnd type="none"/>
            <a:tailEnd type="none"/>
          </a:ln>
          <a:effectLst>
            <a:outerShdw blurRad="101600" dist="50800" dir="16200000" algn="bl" rotWithShape="0">
              <a:srgbClr val="000000">
                <a:alpha val="0"/>
              </a:srgbClr>
            </a:outerShdw>
          </a:effectLst>
        </p:spPr>
        <p:txBody>
          <a:bodyPr/>
          <a:lstStyle/>
          <a:p>
            <a:endParaRPr lang="en-US"/>
          </a:p>
        </p:txBody>
      </p:sp>
      <p:sp>
        <p:nvSpPr>
          <p:cNvPr id="6" name="Shape 1"/>
          <p:cNvSpPr/>
          <p:nvPr/>
        </p:nvSpPr>
        <p:spPr>
          <a:xfrm>
            <a:off x="5867265" y="1699903"/>
            <a:ext cx="5688682" cy="4142116"/>
          </a:xfrm>
          <a:prstGeom prst="rect">
            <a:avLst/>
          </a:prstGeom>
          <a:noFill/>
          <a:ln w="19050">
            <a:solidFill>
              <a:srgbClr val="C55A40"/>
            </a:solidFill>
            <a:prstDash val="solid"/>
            <a:headEnd type="none"/>
            <a:tailEnd type="none"/>
          </a:ln>
          <a:effectLst>
            <a:outerShdw blurRad="101600" dist="50800" dir="16200000" algn="bl" rotWithShape="0">
              <a:srgbClr val="000000">
                <a:alpha val="0"/>
              </a:srgbClr>
            </a:outerShdw>
          </a:effectLst>
        </p:spPr>
        <p:txBody>
          <a:bodyPr/>
          <a:lstStyle/>
          <a:p>
            <a:endParaRPr lang="en-US"/>
          </a:p>
        </p:txBody>
      </p:sp>
      <p:sp>
        <p:nvSpPr>
          <p:cNvPr id="8" name="Text 3"/>
          <p:cNvSpPr/>
          <p:nvPr/>
        </p:nvSpPr>
        <p:spPr>
          <a:xfrm>
            <a:off x="781266" y="1780125"/>
            <a:ext cx="3789747" cy="482350"/>
          </a:xfrm>
          <a:prstGeom prst="rect">
            <a:avLst/>
          </a:prstGeom>
          <a:solidFill>
            <a:srgbClr val="FFFFFF">
              <a:alpha val="0"/>
            </a:srgbClr>
          </a:solidFill>
        </p:spPr>
        <p:txBody>
          <a:bodyPr wrap="square" lIns="0" tIns="0" rIns="0" bIns="0" rtlCol="0" anchor="ctr"/>
          <a:lstStyle/>
          <a:p>
            <a:pPr algn="l">
              <a:lnSpc>
                <a:spcPct val="125000"/>
              </a:lnSpc>
              <a:buClrTx/>
              <a:buSzTx/>
              <a:buFontTx/>
            </a:pPr>
            <a:r>
              <a:rPr lang="en-US" sz="1920" b="1" dirty="0">
                <a:solidFill>
                  <a:srgbClr val="000000"/>
                </a:solidFill>
                <a:latin typeface="Times New Roman Regular" panose="02020503050405090304" charset="0"/>
                <a:ea typeface="HarmonyOS Sans" pitchFamily="34" charset="-122"/>
                <a:cs typeface="Times New Roman Regular" panose="02020503050405090304" charset="0"/>
              </a:rPr>
              <a:t>BLEU Score Comparison</a:t>
            </a:r>
          </a:p>
        </p:txBody>
      </p:sp>
      <p:sp>
        <p:nvSpPr>
          <p:cNvPr id="9" name="Text 4"/>
          <p:cNvSpPr/>
          <p:nvPr/>
        </p:nvSpPr>
        <p:spPr>
          <a:xfrm>
            <a:off x="718306" y="2354375"/>
            <a:ext cx="4991052" cy="2149757"/>
          </a:xfrm>
          <a:prstGeom prst="rect">
            <a:avLst/>
          </a:prstGeom>
          <a:solidFill>
            <a:srgbClr val="FFFFFF">
              <a:alpha val="0"/>
            </a:srgbClr>
          </a:solidFill>
        </p:spPr>
        <p:txBody>
          <a:bodyPr wrap="square" lIns="0" tIns="0" rIns="0" bIns="0" rtlCol="0" anchor="t"/>
          <a:lstStyle/>
          <a:p>
            <a:pPr marL="285750" indent="-285750" algn="just">
              <a:lnSpc>
                <a:spcPct val="125000"/>
              </a:lnSpc>
              <a:buFont typeface="Arial" panose="020B0604020202090204" pitchFamily="34" charset="0"/>
              <a:buChar char="•"/>
            </a:pPr>
            <a:r>
              <a:rPr lang="en-US" sz="1920" dirty="0">
                <a:solidFill>
                  <a:srgbClr val="000000"/>
                </a:solidFill>
                <a:latin typeface="Times New Roman Regular" panose="02020503050405090304" charset="0"/>
                <a:ea typeface="HarmonyOS Sans" pitchFamily="34" charset="-122"/>
                <a:cs typeface="Times New Roman Regular" panose="02020503050405090304" charset="0"/>
              </a:rPr>
              <a:t>Bilingual Evaluation Understudy</a:t>
            </a:r>
          </a:p>
          <a:p>
            <a:pPr marL="285750" indent="-285750" algn="just">
              <a:lnSpc>
                <a:spcPct val="125000"/>
              </a:lnSpc>
              <a:buFont typeface="Arial" panose="020B0604020202090204" pitchFamily="34" charset="0"/>
              <a:buChar char="•"/>
            </a:pPr>
            <a:r>
              <a:rPr lang="en-US" altLang="en-US" sz="1920" dirty="0">
                <a:solidFill>
                  <a:srgbClr val="000000"/>
                </a:solidFill>
                <a:latin typeface="Times New Roman Regular" panose="02020503050405090304" charset="0"/>
                <a:ea typeface="HarmonyOS Sans" pitchFamily="34" charset="-122"/>
                <a:cs typeface="Times New Roman Regular" panose="02020503050405090304" charset="0"/>
              </a:rPr>
              <a:t>Accuracy </a:t>
            </a:r>
          </a:p>
          <a:p>
            <a:pPr marL="285750" indent="-285750" algn="just">
              <a:lnSpc>
                <a:spcPct val="125000"/>
              </a:lnSpc>
              <a:buFont typeface="Arial" panose="020B0604020202090204" pitchFamily="34" charset="0"/>
              <a:buChar char="•"/>
            </a:pPr>
            <a:r>
              <a:rPr lang="en-US" altLang="en-US" sz="1920" dirty="0">
                <a:solidFill>
                  <a:srgbClr val="000000"/>
                </a:solidFill>
                <a:latin typeface="Times New Roman Regular" panose="02020503050405090304" charset="0"/>
                <a:ea typeface="HarmonyOS Sans" pitchFamily="34" charset="-122"/>
                <a:cs typeface="Times New Roman Regular" panose="02020503050405090304" charset="0"/>
              </a:rPr>
              <a:t> Fluency</a:t>
            </a:r>
            <a:r>
              <a:rPr lang="en-US" altLang="en-US" sz="1440" dirty="0">
                <a:solidFill>
                  <a:srgbClr val="000000"/>
                </a:solidFill>
                <a:latin typeface="Times New Roman Regular" panose="02020503050405090304" charset="0"/>
                <a:ea typeface="HarmonyOS Sans" pitchFamily="34" charset="-122"/>
                <a:cs typeface="Times New Roman Regular" panose="02020503050405090304" charset="0"/>
              </a:rPr>
              <a:t> </a:t>
            </a:r>
          </a:p>
        </p:txBody>
      </p:sp>
      <p:sp>
        <p:nvSpPr>
          <p:cNvPr id="10" name="Text 5"/>
          <p:cNvSpPr/>
          <p:nvPr/>
        </p:nvSpPr>
        <p:spPr>
          <a:xfrm>
            <a:off x="6146520" y="1728336"/>
            <a:ext cx="3644534" cy="482350"/>
          </a:xfrm>
          <a:prstGeom prst="rect">
            <a:avLst/>
          </a:prstGeom>
          <a:solidFill>
            <a:srgbClr val="FFFFFF">
              <a:alpha val="0"/>
            </a:srgbClr>
          </a:solidFill>
        </p:spPr>
        <p:txBody>
          <a:bodyPr wrap="square" lIns="0" tIns="0" rIns="0" bIns="0" rtlCol="0" anchor="ctr"/>
          <a:lstStyle/>
          <a:p>
            <a:pPr algn="l">
              <a:lnSpc>
                <a:spcPct val="125000"/>
              </a:lnSpc>
            </a:pPr>
            <a:r>
              <a:rPr lang="en-US" sz="1920" b="1" dirty="0">
                <a:solidFill>
                  <a:srgbClr val="000000"/>
                </a:solidFill>
                <a:latin typeface="Times New Roman Regular" panose="02020503050405090304" charset="0"/>
                <a:ea typeface="HarmonyOS Sans" pitchFamily="34" charset="-122"/>
                <a:cs typeface="Times New Roman Regular" panose="02020503050405090304" charset="0"/>
              </a:rPr>
              <a:t>ROUGE Score Comparison</a:t>
            </a:r>
            <a:endParaRPr lang="en-US" sz="1200" b="1" dirty="0">
              <a:solidFill>
                <a:srgbClr val="000000"/>
              </a:solidFill>
              <a:latin typeface="Times New Roman Regular" panose="02020503050405090304" charset="0"/>
              <a:ea typeface="HarmonyOS Sans" pitchFamily="34" charset="-122"/>
              <a:cs typeface="Times New Roman Regular" panose="02020503050405090304" charset="0"/>
            </a:endParaRPr>
          </a:p>
        </p:txBody>
      </p:sp>
      <p:sp>
        <p:nvSpPr>
          <p:cNvPr id="11" name="Text 6"/>
          <p:cNvSpPr/>
          <p:nvPr/>
        </p:nvSpPr>
        <p:spPr>
          <a:xfrm>
            <a:off x="6146520" y="2210686"/>
            <a:ext cx="5087522" cy="2149757"/>
          </a:xfrm>
          <a:prstGeom prst="rect">
            <a:avLst/>
          </a:prstGeom>
          <a:solidFill>
            <a:srgbClr val="FFFFFF">
              <a:alpha val="0"/>
            </a:srgbClr>
          </a:solidFill>
        </p:spPr>
        <p:txBody>
          <a:bodyPr wrap="square" lIns="0" tIns="0" rIns="0" bIns="0" rtlCol="0" anchor="t"/>
          <a:lstStyle/>
          <a:p>
            <a:pPr marL="285750" indent="-285750" algn="just">
              <a:lnSpc>
                <a:spcPct val="125000"/>
              </a:lnSpc>
              <a:buFont typeface="Arial" panose="020B0604020202090204" pitchFamily="34" charset="0"/>
              <a:buChar char="•"/>
            </a:pPr>
            <a:r>
              <a:rPr lang="en-US" sz="1920" dirty="0">
                <a:solidFill>
                  <a:srgbClr val="000000"/>
                </a:solidFill>
                <a:latin typeface="Times New Roman Regular" panose="02020503050405090304" charset="0"/>
                <a:ea typeface="HarmonyOS Sans" pitchFamily="34" charset="-122"/>
                <a:cs typeface="Times New Roman Regular" panose="02020503050405090304" charset="0"/>
              </a:rPr>
              <a:t>Recall-Oriented Understudy for </a:t>
            </a:r>
            <a:r>
              <a:rPr lang="en-US" sz="1920" dirty="0" err="1">
                <a:solidFill>
                  <a:srgbClr val="000000"/>
                </a:solidFill>
                <a:latin typeface="Times New Roman Regular" panose="02020503050405090304" charset="0"/>
                <a:ea typeface="HarmonyOS Sans" pitchFamily="34" charset="-122"/>
                <a:cs typeface="Times New Roman Regular" panose="02020503050405090304" charset="0"/>
              </a:rPr>
              <a:t>Gisting</a:t>
            </a:r>
            <a:r>
              <a:rPr lang="en-US" sz="1920" dirty="0">
                <a:solidFill>
                  <a:srgbClr val="000000"/>
                </a:solidFill>
                <a:latin typeface="Times New Roman Regular" panose="02020503050405090304" charset="0"/>
                <a:ea typeface="HarmonyOS Sans" pitchFamily="34" charset="-122"/>
                <a:cs typeface="Times New Roman Regular" panose="02020503050405090304" charset="0"/>
              </a:rPr>
              <a:t> Evaluation</a:t>
            </a:r>
          </a:p>
          <a:p>
            <a:pPr marL="285750" indent="-285750" algn="just">
              <a:lnSpc>
                <a:spcPct val="125000"/>
              </a:lnSpc>
              <a:buFont typeface="Arial" panose="020B0604020202090204" pitchFamily="34" charset="0"/>
              <a:buChar char="•"/>
            </a:pPr>
            <a:r>
              <a:rPr lang="en-US" altLang="en-US" sz="1920" dirty="0">
                <a:solidFill>
                  <a:srgbClr val="000000"/>
                </a:solidFill>
                <a:latin typeface="Times New Roman Regular" panose="02020503050405090304" charset="0"/>
                <a:ea typeface="HarmonyOS Sans" pitchFamily="34" charset="-122"/>
                <a:cs typeface="Times New Roman Regular" panose="02020503050405090304" charset="0"/>
              </a:rPr>
              <a:t>Comprehensiveness</a:t>
            </a:r>
          </a:p>
          <a:p>
            <a:pPr marL="285750" indent="-285750" algn="just">
              <a:lnSpc>
                <a:spcPct val="125000"/>
              </a:lnSpc>
              <a:buFont typeface="Arial" panose="020B0604020202090204" pitchFamily="34" charset="0"/>
              <a:buChar char="•"/>
            </a:pPr>
            <a:r>
              <a:rPr lang="en-US" altLang="en-US" sz="1920" dirty="0">
                <a:solidFill>
                  <a:srgbClr val="000000"/>
                </a:solidFill>
                <a:latin typeface="Times New Roman Regular" panose="02020503050405090304" charset="0"/>
                <a:ea typeface="HarmonyOS Sans" pitchFamily="34" charset="-122"/>
                <a:cs typeface="Times New Roman Regular" panose="02020503050405090304" charset="0"/>
              </a:rPr>
              <a:t>Relevance</a:t>
            </a:r>
          </a:p>
        </p:txBody>
      </p:sp>
      <p:sp>
        <p:nvSpPr>
          <p:cNvPr id="14" name="Shape 9"/>
          <p:cNvSpPr/>
          <p:nvPr/>
        </p:nvSpPr>
        <p:spPr>
          <a:xfrm>
            <a:off x="781367" y="1780023"/>
            <a:ext cx="584027" cy="29246"/>
          </a:xfrm>
          <a:prstGeom prst="rect">
            <a:avLst/>
          </a:prstGeom>
          <a:solidFill>
            <a:srgbClr val="C55A40"/>
          </a:solidFill>
          <a:effectLst>
            <a:outerShdw blurRad="101600" dist="50800" dir="16200000" algn="bl" rotWithShape="0">
              <a:srgbClr val="000000">
                <a:alpha val="0"/>
              </a:srgbClr>
            </a:outerShdw>
          </a:effectLst>
        </p:spPr>
        <p:txBody>
          <a:bodyPr/>
          <a:lstStyle/>
          <a:p>
            <a:endParaRPr lang="en-US"/>
          </a:p>
        </p:txBody>
      </p:sp>
      <p:sp>
        <p:nvSpPr>
          <p:cNvPr id="15" name="Shape 10"/>
          <p:cNvSpPr/>
          <p:nvPr/>
        </p:nvSpPr>
        <p:spPr>
          <a:xfrm>
            <a:off x="6146621" y="1776469"/>
            <a:ext cx="584027" cy="29246"/>
          </a:xfrm>
          <a:prstGeom prst="rect">
            <a:avLst/>
          </a:prstGeom>
          <a:solidFill>
            <a:srgbClr val="C55A40"/>
          </a:solidFill>
          <a:effectLst>
            <a:outerShdw blurRad="101600" dist="50800" dir="16200000" algn="bl" rotWithShape="0">
              <a:srgbClr val="000000">
                <a:alpha val="0"/>
              </a:srgbClr>
            </a:outerShdw>
          </a:effectLst>
        </p:spPr>
        <p:txBody>
          <a:bodyPr/>
          <a:lstStyle/>
          <a:p>
            <a:endParaRPr lang="en-US"/>
          </a:p>
        </p:txBody>
      </p:sp>
      <p:sp>
        <p:nvSpPr>
          <p:cNvPr id="17" name="Text 12"/>
          <p:cNvSpPr/>
          <p:nvPr/>
        </p:nvSpPr>
        <p:spPr>
          <a:xfrm>
            <a:off x="1237518" y="372882"/>
            <a:ext cx="10433380" cy="679961"/>
          </a:xfrm>
          <a:prstGeom prst="rect">
            <a:avLst/>
          </a:prstGeom>
          <a:solidFill>
            <a:srgbClr val="FFFFFF">
              <a:alpha val="0"/>
            </a:srgbClr>
          </a:solidFill>
        </p:spPr>
        <p:txBody>
          <a:bodyPr wrap="square" lIns="0" tIns="0" rIns="0" bIns="0" rtlCol="0" anchor="ctr"/>
          <a:lstStyle/>
          <a:p>
            <a:pPr algn="l">
              <a:lnSpc>
                <a:spcPct val="125000"/>
              </a:lnSpc>
            </a:pPr>
            <a:r>
              <a:rPr lang="en-US" sz="2880" b="1" dirty="0">
                <a:solidFill>
                  <a:srgbClr val="000000"/>
                </a:solidFill>
                <a:latin typeface="Times New Roman Regular" panose="02020503050405090304" charset="0"/>
                <a:ea typeface="HarmonyOS Sans" pitchFamily="34" charset="-122"/>
                <a:cs typeface="Times New Roman Regular" panose="02020503050405090304" charset="0"/>
              </a:rPr>
              <a:t>Model Comparison</a:t>
            </a:r>
          </a:p>
        </p:txBody>
      </p:sp>
      <p:pic>
        <p:nvPicPr>
          <p:cNvPr id="18"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8737" y="365570"/>
            <a:ext cx="489864" cy="687272"/>
          </a:xfrm>
          <a:prstGeom prst="rect">
            <a:avLst/>
          </a:prstGeom>
        </p:spPr>
      </p:pic>
      <p:sp>
        <p:nvSpPr>
          <p:cNvPr id="29" name="Text Box 28"/>
          <p:cNvSpPr txBox="1"/>
          <p:nvPr/>
        </p:nvSpPr>
        <p:spPr>
          <a:xfrm>
            <a:off x="10891827" y="6121274"/>
            <a:ext cx="4062909" cy="312420"/>
          </a:xfrm>
          <a:prstGeom prst="rect">
            <a:avLst/>
          </a:prstGeom>
          <a:noFill/>
        </p:spPr>
        <p:txBody>
          <a:bodyPr wrap="square" rtlCol="0">
            <a:spAutoFit/>
          </a:bodyPr>
          <a:lstStyle/>
          <a:p>
            <a:r>
              <a:rPr lang="en-US" sz="1440">
                <a:latin typeface="Times New Roman Regular" panose="02020503050405090304" charset="0"/>
                <a:cs typeface="Times New Roman Regular" panose="02020503050405090304" charset="0"/>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emo"/>
          <p:cNvPicPr>
            <a:picLocks noChangeAspect="1"/>
          </p:cNvPicPr>
          <p:nvPr/>
        </p:nvPicPr>
        <p:blipFill>
          <a:blip r:embed="rId3"/>
          <a:stretch>
            <a:fillRect/>
          </a:stretch>
        </p:blipFill>
        <p:spPr>
          <a:xfrm>
            <a:off x="256774" y="2212717"/>
            <a:ext cx="4077634" cy="4077634"/>
          </a:xfrm>
          <a:prstGeom prst="rect">
            <a:avLst/>
          </a:prstGeom>
        </p:spPr>
      </p:pic>
      <p:sp>
        <p:nvSpPr>
          <p:cNvPr id="17" name="Text 12"/>
          <p:cNvSpPr/>
          <p:nvPr/>
        </p:nvSpPr>
        <p:spPr>
          <a:xfrm>
            <a:off x="916121" y="372882"/>
            <a:ext cx="10433380" cy="679961"/>
          </a:xfrm>
          <a:prstGeom prst="rect">
            <a:avLst/>
          </a:prstGeom>
          <a:solidFill>
            <a:srgbClr val="FFFFFF">
              <a:alpha val="0"/>
            </a:srgbClr>
          </a:solidFill>
        </p:spPr>
        <p:txBody>
          <a:bodyPr wrap="square" lIns="0" tIns="0" rIns="0" bIns="0" rtlCol="0" anchor="ctr"/>
          <a:lstStyle/>
          <a:p>
            <a:pPr algn="l">
              <a:lnSpc>
                <a:spcPct val="125000"/>
              </a:lnSpc>
            </a:pPr>
            <a:r>
              <a:rPr lang="en-US" sz="2880" b="1" dirty="0">
                <a:solidFill>
                  <a:srgbClr val="000000"/>
                </a:solidFill>
                <a:latin typeface="HarmonyOS Sans" pitchFamily="34" charset="-122"/>
                <a:ea typeface="HarmonyOS Sans" pitchFamily="34" charset="-122"/>
                <a:cs typeface="HarmonyOS Sans" pitchFamily="34" charset="-120"/>
              </a:rPr>
              <a:t>Model Comparison</a:t>
            </a:r>
            <a:endParaRPr lang="en-US" sz="2880" dirty="0"/>
          </a:p>
        </p:txBody>
      </p:sp>
      <p:sp>
        <p:nvSpPr>
          <p:cNvPr id="6" name="Text Box 5"/>
          <p:cNvSpPr txBox="1"/>
          <p:nvPr/>
        </p:nvSpPr>
        <p:spPr>
          <a:xfrm>
            <a:off x="642654" y="1194705"/>
            <a:ext cx="6092841" cy="386080"/>
          </a:xfrm>
          <a:prstGeom prst="rect">
            <a:avLst/>
          </a:prstGeom>
          <a:noFill/>
        </p:spPr>
        <p:txBody>
          <a:bodyPr wrap="square" rtlCol="0" anchor="t">
            <a:spAutoFit/>
          </a:bodyPr>
          <a:lstStyle/>
          <a:p>
            <a:r>
              <a:rPr lang="en-US" altLang="en-US" sz="1920">
                <a:latin typeface="Times New Roman Regular" panose="02020503050405090304" charset="0"/>
                <a:cs typeface="Times New Roman Regular" panose="02020503050405090304" charset="0"/>
              </a:rPr>
              <a:t>Example</a:t>
            </a:r>
            <a:endParaRPr lang="en-US" sz="1920">
              <a:latin typeface="Times New Roman Regular" panose="02020503050405090304" charset="0"/>
              <a:cs typeface="Times New Roman Regular" panose="02020503050405090304" charset="0"/>
            </a:endParaRPr>
          </a:p>
        </p:txBody>
      </p:sp>
      <p:pic>
        <p:nvPicPr>
          <p:cNvPr id="9" name="Picture 8" descr="Screenshot 2024-11-26 at 19.30.16"/>
          <p:cNvPicPr>
            <a:picLocks noChangeAspect="1"/>
          </p:cNvPicPr>
          <p:nvPr/>
        </p:nvPicPr>
        <p:blipFill>
          <a:blip r:embed="rId4"/>
          <a:stretch>
            <a:fillRect/>
          </a:stretch>
        </p:blipFill>
        <p:spPr>
          <a:xfrm>
            <a:off x="4721303" y="1053046"/>
            <a:ext cx="6732589" cy="1157640"/>
          </a:xfrm>
          <a:prstGeom prst="rect">
            <a:avLst/>
          </a:prstGeom>
        </p:spPr>
      </p:pic>
      <p:pic>
        <p:nvPicPr>
          <p:cNvPr id="10" name="Picture 9" descr="Screenshot 2024-11-26 at 19.30.02"/>
          <p:cNvPicPr>
            <a:picLocks noChangeAspect="1"/>
          </p:cNvPicPr>
          <p:nvPr/>
        </p:nvPicPr>
        <p:blipFill>
          <a:blip r:embed="rId5"/>
          <a:stretch>
            <a:fillRect/>
          </a:stretch>
        </p:blipFill>
        <p:spPr>
          <a:xfrm>
            <a:off x="5273720" y="2595550"/>
            <a:ext cx="6075578" cy="2428505"/>
          </a:xfrm>
          <a:prstGeom prst="rect">
            <a:avLst/>
          </a:prstGeom>
        </p:spPr>
      </p:pic>
      <p:sp>
        <p:nvSpPr>
          <p:cNvPr id="11" name="Text Box 10"/>
          <p:cNvSpPr txBox="1"/>
          <p:nvPr/>
        </p:nvSpPr>
        <p:spPr>
          <a:xfrm>
            <a:off x="8370407" y="1105851"/>
            <a:ext cx="4062909" cy="337185"/>
          </a:xfrm>
          <a:prstGeom prst="rect">
            <a:avLst/>
          </a:prstGeom>
          <a:noFill/>
        </p:spPr>
        <p:txBody>
          <a:bodyPr wrap="square" rtlCol="0">
            <a:spAutoFit/>
          </a:bodyPr>
          <a:lstStyle/>
          <a:p>
            <a:r>
              <a:rPr lang="en-US" sz="1600">
                <a:latin typeface="Times New Roman Regular" panose="02020503050405090304" charset="0"/>
                <a:cs typeface="Times New Roman Regular" panose="02020503050405090304" charset="0"/>
              </a:rPr>
              <a:t>LLaMa</a:t>
            </a:r>
          </a:p>
        </p:txBody>
      </p:sp>
      <p:sp>
        <p:nvSpPr>
          <p:cNvPr id="12" name="Text Box 11"/>
          <p:cNvSpPr txBox="1"/>
          <p:nvPr/>
        </p:nvSpPr>
        <p:spPr>
          <a:xfrm>
            <a:off x="8662355" y="2924056"/>
            <a:ext cx="4062909" cy="337185"/>
          </a:xfrm>
          <a:prstGeom prst="rect">
            <a:avLst/>
          </a:prstGeom>
          <a:noFill/>
        </p:spPr>
        <p:txBody>
          <a:bodyPr wrap="square" rtlCol="0">
            <a:spAutoFit/>
          </a:bodyPr>
          <a:lstStyle/>
          <a:p>
            <a:r>
              <a:rPr lang="en-US" sz="1600">
                <a:latin typeface="Times New Roman Regular" panose="02020503050405090304" charset="0"/>
                <a:cs typeface="Times New Roman Regular" panose="02020503050405090304" charset="0"/>
              </a:rPr>
              <a:t>Qwen2-VL</a:t>
            </a:r>
          </a:p>
        </p:txBody>
      </p:sp>
      <p:sp>
        <p:nvSpPr>
          <p:cNvPr id="14" name="Rectangles 13"/>
          <p:cNvSpPr/>
          <p:nvPr/>
        </p:nvSpPr>
        <p:spPr>
          <a:xfrm>
            <a:off x="6735494" y="4249249"/>
            <a:ext cx="4405124" cy="337645"/>
          </a:xfrm>
          <a:prstGeom prst="rect">
            <a:avLst/>
          </a:prstGeom>
          <a:noFill/>
          <a:ln w="12700">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sz="1440"/>
          </a:p>
        </p:txBody>
      </p:sp>
      <p:sp>
        <p:nvSpPr>
          <p:cNvPr id="15" name="Rectangles 14"/>
          <p:cNvSpPr/>
          <p:nvPr/>
        </p:nvSpPr>
        <p:spPr>
          <a:xfrm>
            <a:off x="7336655" y="1554182"/>
            <a:ext cx="4405124" cy="318351"/>
          </a:xfrm>
          <a:prstGeom prst="rect">
            <a:avLst/>
          </a:prstGeom>
          <a:noFill/>
          <a:ln w="12700">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sz="1440"/>
          </a:p>
        </p:txBody>
      </p:sp>
      <p:pic>
        <p:nvPicPr>
          <p:cNvPr id="16" name="Picture 15" descr="Screenshot 2024-11-26 at 19.34.55"/>
          <p:cNvPicPr>
            <a:picLocks noChangeAspect="1"/>
          </p:cNvPicPr>
          <p:nvPr/>
        </p:nvPicPr>
        <p:blipFill>
          <a:blip r:embed="rId6"/>
          <a:stretch>
            <a:fillRect/>
          </a:stretch>
        </p:blipFill>
        <p:spPr>
          <a:xfrm>
            <a:off x="4535471" y="5593736"/>
            <a:ext cx="7419049" cy="696615"/>
          </a:xfrm>
          <a:prstGeom prst="rect">
            <a:avLst/>
          </a:prstGeom>
        </p:spPr>
      </p:pic>
      <p:sp>
        <p:nvSpPr>
          <p:cNvPr id="29" name="Text Box 28"/>
          <p:cNvSpPr txBox="1"/>
          <p:nvPr/>
        </p:nvSpPr>
        <p:spPr>
          <a:xfrm>
            <a:off x="10891827" y="6290350"/>
            <a:ext cx="4062909" cy="312420"/>
          </a:xfrm>
          <a:prstGeom prst="rect">
            <a:avLst/>
          </a:prstGeom>
          <a:noFill/>
        </p:spPr>
        <p:txBody>
          <a:bodyPr wrap="square" rtlCol="0">
            <a:spAutoFit/>
          </a:bodyPr>
          <a:lstStyle/>
          <a:p>
            <a:r>
              <a:rPr lang="en-US" sz="1440"/>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12"/>
          <p:cNvSpPr/>
          <p:nvPr/>
        </p:nvSpPr>
        <p:spPr>
          <a:xfrm>
            <a:off x="337809" y="179942"/>
            <a:ext cx="10433380" cy="679961"/>
          </a:xfrm>
          <a:prstGeom prst="rect">
            <a:avLst/>
          </a:prstGeom>
          <a:solidFill>
            <a:srgbClr val="FFFFFF">
              <a:alpha val="0"/>
            </a:srgbClr>
          </a:solidFill>
        </p:spPr>
        <p:txBody>
          <a:bodyPr wrap="square" lIns="0" tIns="0" rIns="0" bIns="0" rtlCol="0" anchor="ctr"/>
          <a:lstStyle/>
          <a:p>
            <a:pPr algn="l">
              <a:lnSpc>
                <a:spcPct val="125000"/>
              </a:lnSpc>
            </a:pPr>
            <a:r>
              <a:rPr lang="en-US" sz="2880" b="1" dirty="0">
                <a:solidFill>
                  <a:srgbClr val="000000"/>
                </a:solidFill>
                <a:latin typeface="HarmonyOS Sans" pitchFamily="34" charset="-122"/>
                <a:ea typeface="HarmonyOS Sans" pitchFamily="34" charset="-122"/>
                <a:cs typeface="HarmonyOS Sans" pitchFamily="34" charset="-120"/>
              </a:rPr>
              <a:t>Model Comparison</a:t>
            </a:r>
            <a:endParaRPr lang="en-US" sz="2880" dirty="0"/>
          </a:p>
        </p:txBody>
      </p:sp>
      <p:sp>
        <p:nvSpPr>
          <p:cNvPr id="2" name="Text Box 1"/>
          <p:cNvSpPr txBox="1"/>
          <p:nvPr/>
        </p:nvSpPr>
        <p:spPr>
          <a:xfrm>
            <a:off x="642654" y="1488684"/>
            <a:ext cx="9561190" cy="1147485"/>
          </a:xfrm>
          <a:prstGeom prst="rect">
            <a:avLst/>
          </a:prstGeom>
          <a:noFill/>
        </p:spPr>
        <p:txBody>
          <a:bodyPr wrap="square" rtlCol="0">
            <a:noAutofit/>
          </a:bodyPr>
          <a:lstStyle/>
          <a:p>
            <a:r>
              <a:rPr lang="en-US" altLang="en-US" sz="1600">
                <a:latin typeface="Times New Roman Regular" panose="02020503050405090304" charset="0"/>
                <a:cs typeface="Times New Roman Regular" panose="02020503050405090304" charset="0"/>
              </a:rPr>
              <a:t>Qwen2-VL：Yes, the image shows tomatoes. The price tag indicates that the price for one tomato is 177 yen. To buy two tomatoes, you would pay 354 yen (177yen*2</a:t>
            </a:r>
            <a:r>
              <a:rPr lang="zh-CN" altLang="en-US" sz="1600">
                <a:latin typeface="Times New Roman Regular" panose="02020503050405090304" charset="0"/>
                <a:cs typeface="Times New Roman Regular" panose="02020503050405090304" charset="0"/>
              </a:rPr>
              <a:t>）</a:t>
            </a:r>
          </a:p>
          <a:p>
            <a:r>
              <a:rPr lang="en-US" altLang="zh-CN" sz="1600">
                <a:latin typeface="Times New Roman Regular" panose="02020503050405090304" charset="0"/>
                <a:cs typeface="Times New Roman Regular" panose="02020503050405090304" charset="0"/>
              </a:rPr>
              <a:t>LLaMa3.2: </a:t>
            </a:r>
            <a:r>
              <a:rPr lang="en-US" altLang="en-US" sz="1600">
                <a:latin typeface="Times New Roman Regular" panose="02020503050405090304" charset="0"/>
                <a:cs typeface="Times New Roman Regular" panose="02020503050405090304" charset="0"/>
              </a:rPr>
              <a:t>Yes, these are tomatoes. The price is 177 yen for one, so two tomatoes would cost 354 yen</a:t>
            </a:r>
          </a:p>
          <a:p>
            <a:endParaRPr lang="en-US" altLang="zh-CN" sz="1440"/>
          </a:p>
          <a:p>
            <a:endParaRPr lang="en-US" altLang="zh-CN" sz="1440"/>
          </a:p>
        </p:txBody>
      </p:sp>
      <p:sp>
        <p:nvSpPr>
          <p:cNvPr id="6" name="Text Box 5"/>
          <p:cNvSpPr txBox="1"/>
          <p:nvPr/>
        </p:nvSpPr>
        <p:spPr>
          <a:xfrm>
            <a:off x="642654" y="1001765"/>
            <a:ext cx="6092841" cy="386080"/>
          </a:xfrm>
          <a:prstGeom prst="rect">
            <a:avLst/>
          </a:prstGeom>
          <a:noFill/>
        </p:spPr>
        <p:txBody>
          <a:bodyPr wrap="square" rtlCol="0" anchor="t">
            <a:spAutoFit/>
          </a:bodyPr>
          <a:lstStyle/>
          <a:p>
            <a:r>
              <a:rPr lang="en-US" altLang="en-US" sz="1920">
                <a:latin typeface="Times New Roman Regular" panose="02020503050405090304" charset="0"/>
                <a:cs typeface="Times New Roman Regular" panose="02020503050405090304" charset="0"/>
              </a:rPr>
              <a:t>Example</a:t>
            </a:r>
            <a:r>
              <a:rPr lang="ja-JP" altLang="en-US" sz="1920">
                <a:latin typeface="Times New Roman Regular" panose="02020503050405090304" charset="0"/>
                <a:cs typeface="Times New Roman Regular" panose="02020503050405090304" charset="0"/>
              </a:rPr>
              <a:t>　</a:t>
            </a:r>
            <a:r>
              <a:rPr lang="en-US" altLang="ja-JP" sz="1920">
                <a:latin typeface="Times New Roman Regular" panose="02020503050405090304" charset="0"/>
                <a:cs typeface="Times New Roman Regular" panose="02020503050405090304" charset="0"/>
              </a:rPr>
              <a:t>Output</a:t>
            </a:r>
          </a:p>
        </p:txBody>
      </p:sp>
      <p:sp>
        <p:nvSpPr>
          <p:cNvPr id="7" name="Text Box 6"/>
          <p:cNvSpPr txBox="1"/>
          <p:nvPr/>
        </p:nvSpPr>
        <p:spPr>
          <a:xfrm>
            <a:off x="539784" y="2561560"/>
            <a:ext cx="4062909" cy="435610"/>
          </a:xfrm>
          <a:prstGeom prst="rect">
            <a:avLst/>
          </a:prstGeom>
          <a:noFill/>
        </p:spPr>
        <p:txBody>
          <a:bodyPr wrap="square" rtlCol="0">
            <a:spAutoFit/>
          </a:bodyPr>
          <a:lstStyle/>
          <a:p>
            <a:r>
              <a:rPr lang="en-US" sz="2240" b="1" dirty="0">
                <a:solidFill>
                  <a:srgbClr val="000000"/>
                </a:solidFill>
                <a:latin typeface="Times New Roman" panose="02020503050405090304" pitchFamily="18" charset="0"/>
                <a:ea typeface="HarmonyOS Sans" pitchFamily="34" charset="-122"/>
                <a:cs typeface="Times New Roman" panose="02020503050405090304" pitchFamily="18" charset="0"/>
                <a:sym typeface="+mn-ea"/>
              </a:rPr>
              <a:t>BLEU</a:t>
            </a:r>
            <a:r>
              <a:rPr lang="en-US" sz="1440" dirty="0">
                <a:solidFill>
                  <a:srgbClr val="000000"/>
                </a:solidFill>
                <a:latin typeface="Times New Roman" panose="02020503050405090304" pitchFamily="18" charset="0"/>
                <a:ea typeface="HarmonyOS Sans" pitchFamily="34" charset="-122"/>
                <a:cs typeface="Times New Roman" panose="02020503050405090304" pitchFamily="18" charset="0"/>
                <a:sym typeface="+mn-ea"/>
              </a:rPr>
              <a:t> </a:t>
            </a:r>
            <a:endParaRPr lang="en-US" sz="1440"/>
          </a:p>
        </p:txBody>
      </p:sp>
      <p:sp>
        <p:nvSpPr>
          <p:cNvPr id="29" name="Text Box 28"/>
          <p:cNvSpPr txBox="1"/>
          <p:nvPr/>
        </p:nvSpPr>
        <p:spPr>
          <a:xfrm>
            <a:off x="10891827" y="6290350"/>
            <a:ext cx="4062909" cy="312420"/>
          </a:xfrm>
          <a:prstGeom prst="rect">
            <a:avLst/>
          </a:prstGeom>
          <a:noFill/>
        </p:spPr>
        <p:txBody>
          <a:bodyPr wrap="square" rtlCol="0">
            <a:spAutoFit/>
          </a:bodyPr>
          <a:lstStyle/>
          <a:p>
            <a:r>
              <a:rPr lang="en-US" sz="1440"/>
              <a:t>11</a:t>
            </a:r>
          </a:p>
        </p:txBody>
      </p:sp>
      <p:pic>
        <p:nvPicPr>
          <p:cNvPr id="3" name="Picture 2" descr="output (1)"/>
          <p:cNvPicPr>
            <a:picLocks noChangeAspect="1"/>
          </p:cNvPicPr>
          <p:nvPr/>
        </p:nvPicPr>
        <p:blipFill>
          <a:blip r:embed="rId3"/>
          <a:stretch>
            <a:fillRect/>
          </a:stretch>
        </p:blipFill>
        <p:spPr>
          <a:xfrm>
            <a:off x="3440430" y="2561590"/>
            <a:ext cx="7451090" cy="4013835"/>
          </a:xfrm>
          <a:prstGeom prst="rect">
            <a:avLst/>
          </a:prstGeom>
        </p:spPr>
      </p:pic>
      <p:sp>
        <p:nvSpPr>
          <p:cNvPr id="8" name="Text Box 7"/>
          <p:cNvSpPr txBox="1"/>
          <p:nvPr/>
        </p:nvSpPr>
        <p:spPr>
          <a:xfrm>
            <a:off x="642620" y="3951605"/>
            <a:ext cx="4064000" cy="645160"/>
          </a:xfrm>
          <a:prstGeom prst="rect">
            <a:avLst/>
          </a:prstGeom>
          <a:noFill/>
        </p:spPr>
        <p:txBody>
          <a:bodyPr wrap="square" rtlCol="0">
            <a:spAutoFit/>
          </a:bodyPr>
          <a:lstStyle/>
          <a:p>
            <a:r>
              <a:rPr lang="en-US" altLang="en-US">
                <a:latin typeface="Times New Roman Regular" panose="02020503050405090304" charset="0"/>
                <a:cs typeface="Times New Roman Regular" panose="02020503050405090304" charset="0"/>
              </a:rPr>
              <a:t>Qwen2-VL: 0.90</a:t>
            </a:r>
          </a:p>
          <a:p>
            <a:r>
              <a:rPr lang="en-US" altLang="en-US">
                <a:latin typeface="Times New Roman Regular" panose="02020503050405090304" charset="0"/>
                <a:cs typeface="Times New Roman Regular" panose="02020503050405090304" charset="0"/>
              </a:rPr>
              <a:t>LLaMa: 0.75</a:t>
            </a:r>
            <a:endParaRPr lang="en-US">
              <a:latin typeface="Times New Roman Regular" panose="02020503050405090304" charset="0"/>
              <a:cs typeface="Times New Roman Regular" panose="0202050305040509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12"/>
          <p:cNvSpPr/>
          <p:nvPr/>
        </p:nvSpPr>
        <p:spPr>
          <a:xfrm>
            <a:off x="337809" y="179942"/>
            <a:ext cx="10433380" cy="679961"/>
          </a:xfrm>
          <a:prstGeom prst="rect">
            <a:avLst/>
          </a:prstGeom>
          <a:solidFill>
            <a:srgbClr val="FFFFFF">
              <a:alpha val="0"/>
            </a:srgbClr>
          </a:solidFill>
        </p:spPr>
        <p:txBody>
          <a:bodyPr wrap="square" lIns="0" tIns="0" rIns="0" bIns="0" rtlCol="0" anchor="ctr"/>
          <a:lstStyle/>
          <a:p>
            <a:pPr algn="l">
              <a:lnSpc>
                <a:spcPct val="125000"/>
              </a:lnSpc>
            </a:pPr>
            <a:r>
              <a:rPr lang="en-US" sz="2880" b="1" dirty="0">
                <a:solidFill>
                  <a:srgbClr val="000000"/>
                </a:solidFill>
                <a:latin typeface="HarmonyOS Sans" pitchFamily="34" charset="-122"/>
                <a:ea typeface="HarmonyOS Sans" pitchFamily="34" charset="-122"/>
                <a:cs typeface="HarmonyOS Sans" pitchFamily="34" charset="-120"/>
              </a:rPr>
              <a:t>Model Comparison</a:t>
            </a:r>
            <a:endParaRPr lang="en-US" sz="2880" dirty="0"/>
          </a:p>
        </p:txBody>
      </p:sp>
      <p:sp>
        <p:nvSpPr>
          <p:cNvPr id="2" name="Text Box 1"/>
          <p:cNvSpPr txBox="1"/>
          <p:nvPr/>
        </p:nvSpPr>
        <p:spPr>
          <a:xfrm>
            <a:off x="337758" y="1025628"/>
            <a:ext cx="4061894" cy="337185"/>
          </a:xfrm>
          <a:prstGeom prst="rect">
            <a:avLst/>
          </a:prstGeom>
        </p:spPr>
        <p:txBody>
          <a:bodyPr>
            <a:spAutoFit/>
          </a:bodyPr>
          <a:lstStyle/>
          <a:p>
            <a:pPr marL="0" indent="0"/>
            <a:r>
              <a:rPr lang="en-US" altLang="zh-CN" sz="1600" b="1" i="0">
                <a:solidFill>
                  <a:srgbClr val="202122"/>
                </a:solidFill>
                <a:latin typeface="Times New Roman Bold" panose="02020503050405090304" charset="0"/>
                <a:ea typeface="sans-serif"/>
                <a:cs typeface="Times New Roman Bold" panose="02020503050405090304" charset="0"/>
              </a:rPr>
              <a:t>ROUGE</a:t>
            </a:r>
          </a:p>
        </p:txBody>
      </p:sp>
      <p:sp>
        <p:nvSpPr>
          <p:cNvPr id="6" name="Text Box 5"/>
          <p:cNvSpPr txBox="1"/>
          <p:nvPr/>
        </p:nvSpPr>
        <p:spPr>
          <a:xfrm>
            <a:off x="6627854" y="179739"/>
            <a:ext cx="4663562" cy="3851910"/>
          </a:xfrm>
          <a:prstGeom prst="rect">
            <a:avLst/>
          </a:prstGeom>
          <a:noFill/>
        </p:spPr>
        <p:txBody>
          <a:bodyPr wrap="square" rtlCol="0">
            <a:spAutoFit/>
          </a:bodyPr>
          <a:lstStyle/>
          <a:p>
            <a:pPr algn="just"/>
            <a:r>
              <a:rPr lang="en-US" altLang="en-US" sz="1440">
                <a:latin typeface="Times New Roman Regular" panose="02020503050405090304" charset="0"/>
                <a:cs typeface="Times New Roman Regular" panose="02020503050405090304" charset="0"/>
              </a:rPr>
              <a:t>1. ROUGE-N</a:t>
            </a:r>
          </a:p>
          <a:p>
            <a:pPr algn="just"/>
            <a:r>
              <a:rPr lang="en-US" altLang="en-US" sz="1440">
                <a:latin typeface="Times New Roman Regular" panose="02020503050405090304" charset="0"/>
                <a:cs typeface="Times New Roman Regular" panose="02020503050405090304" charset="0"/>
              </a:rPr>
              <a:t>Definition: Measures the overlap of n-grams (sequences of n words) between the system-generated and reference summaries.</a:t>
            </a:r>
          </a:p>
          <a:p>
            <a:pPr algn="just"/>
            <a:r>
              <a:rPr lang="en-US" altLang="en-US" sz="1440">
                <a:latin typeface="Times New Roman Regular" panose="02020503050405090304" charset="0"/>
                <a:cs typeface="Times New Roman Regular" panose="02020503050405090304" charset="0"/>
              </a:rPr>
              <a:t>Subtypes:</a:t>
            </a:r>
          </a:p>
          <a:p>
            <a:pPr algn="just"/>
            <a:r>
              <a:rPr lang="en-US" altLang="en-US" sz="1440">
                <a:latin typeface="Times New Roman Regular" panose="02020503050405090304" charset="0"/>
                <a:cs typeface="Times New Roman Regular" panose="02020503050405090304" charset="0"/>
              </a:rPr>
              <a:t>ROUGE-1: Evaluates the overlap of unigrams (individual words).</a:t>
            </a:r>
          </a:p>
          <a:p>
            <a:pPr algn="just"/>
            <a:r>
              <a:rPr lang="en-US" altLang="en-US" sz="1440">
                <a:latin typeface="Times New Roman Regular" panose="02020503050405090304" charset="0"/>
                <a:cs typeface="Times New Roman Regular" panose="02020503050405090304" charset="0"/>
              </a:rPr>
              <a:t>ROUGE-2: Evaluates the overlap of bigrams (pairs of consecutive words).</a:t>
            </a:r>
          </a:p>
          <a:p>
            <a:pPr algn="just"/>
            <a:r>
              <a:rPr lang="en-US" altLang="en-US" sz="1440">
                <a:latin typeface="Times New Roman Regular" panose="02020503050405090304" charset="0"/>
                <a:cs typeface="Times New Roman Regular" panose="02020503050405090304" charset="0"/>
              </a:rPr>
              <a:t>2. ROUGE-L</a:t>
            </a:r>
          </a:p>
          <a:p>
            <a:pPr algn="just"/>
            <a:r>
              <a:rPr lang="en-US" altLang="en-US" sz="1440">
                <a:latin typeface="Times New Roman Regular" panose="02020503050405090304" charset="0"/>
                <a:cs typeface="Times New Roman Regular" panose="02020503050405090304" charset="0"/>
              </a:rPr>
              <a:t>Definition: Based on the Longest Common Subsequence (LCS), it calculates statistics for the longest shared sequence of words between the system and reference summaries.</a:t>
            </a:r>
          </a:p>
          <a:p>
            <a:pPr algn="just"/>
            <a:r>
              <a:rPr lang="en-US" altLang="en-US" sz="1440">
                <a:latin typeface="Times New Roman Regular" panose="02020503050405090304" charset="0"/>
                <a:cs typeface="Times New Roman Regular" panose="02020503050405090304" charset="0"/>
              </a:rPr>
              <a:t>3. ROUGE-W</a:t>
            </a:r>
          </a:p>
          <a:p>
            <a:pPr algn="just"/>
            <a:r>
              <a:rPr lang="en-US" altLang="en-US" sz="1440">
                <a:latin typeface="Times New Roman Regular" panose="02020503050405090304" charset="0"/>
                <a:cs typeface="Times New Roman Regular" panose="02020503050405090304" charset="0"/>
              </a:rPr>
              <a:t>4. ROUGE-S</a:t>
            </a:r>
          </a:p>
          <a:p>
            <a:pPr algn="just"/>
            <a:r>
              <a:rPr lang="en-US" altLang="en-US" sz="1440">
                <a:latin typeface="Times New Roman Regular" panose="02020503050405090304" charset="0"/>
                <a:cs typeface="Times New Roman Regular" panose="02020503050405090304" charset="0"/>
              </a:rPr>
              <a:t>5. ROUGE-SU</a:t>
            </a:r>
          </a:p>
          <a:p>
            <a:pPr algn="just"/>
            <a:endParaRPr lang="en-US" altLang="en-US" sz="1440">
              <a:latin typeface="Times New Roman Regular" panose="02020503050405090304" charset="0"/>
              <a:cs typeface="Times New Roman Regular" panose="02020503050405090304" charset="0"/>
            </a:endParaRPr>
          </a:p>
        </p:txBody>
      </p:sp>
      <p:sp>
        <p:nvSpPr>
          <p:cNvPr id="29" name="Text Box 28"/>
          <p:cNvSpPr txBox="1"/>
          <p:nvPr/>
        </p:nvSpPr>
        <p:spPr>
          <a:xfrm>
            <a:off x="10891827" y="6290350"/>
            <a:ext cx="4062909" cy="312420"/>
          </a:xfrm>
          <a:prstGeom prst="rect">
            <a:avLst/>
          </a:prstGeom>
          <a:noFill/>
        </p:spPr>
        <p:txBody>
          <a:bodyPr wrap="square" rtlCol="0">
            <a:spAutoFit/>
          </a:bodyPr>
          <a:lstStyle/>
          <a:p>
            <a:r>
              <a:rPr lang="en-US" sz="1440"/>
              <a:t>12</a:t>
            </a:r>
          </a:p>
        </p:txBody>
      </p:sp>
      <p:pic>
        <p:nvPicPr>
          <p:cNvPr id="9" name="Picture 8" descr="output (2)"/>
          <p:cNvPicPr>
            <a:picLocks noChangeAspect="1"/>
          </p:cNvPicPr>
          <p:nvPr/>
        </p:nvPicPr>
        <p:blipFill>
          <a:blip r:embed="rId3"/>
          <a:stretch>
            <a:fillRect/>
          </a:stretch>
        </p:blipFill>
        <p:spPr>
          <a:xfrm>
            <a:off x="0" y="1362710"/>
            <a:ext cx="6492875" cy="5392420"/>
          </a:xfrm>
          <a:prstGeom prst="rect">
            <a:avLst/>
          </a:prstGeom>
        </p:spPr>
      </p:pic>
      <p:pic>
        <p:nvPicPr>
          <p:cNvPr id="10" name="Picture 9" descr="output (3)"/>
          <p:cNvPicPr>
            <a:picLocks noChangeAspect="1"/>
          </p:cNvPicPr>
          <p:nvPr/>
        </p:nvPicPr>
        <p:blipFill>
          <a:blip r:embed="rId4"/>
          <a:srcRect l="19163" t="30413" r="23753" b="18355"/>
          <a:stretch>
            <a:fillRect/>
          </a:stretch>
        </p:blipFill>
        <p:spPr>
          <a:xfrm>
            <a:off x="6804660" y="3787775"/>
            <a:ext cx="5097145" cy="18796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237518" y="387505"/>
            <a:ext cx="10433380" cy="672650"/>
          </a:xfrm>
          <a:prstGeom prst="rect">
            <a:avLst/>
          </a:prstGeom>
          <a:solidFill>
            <a:srgbClr val="FFFFFF">
              <a:alpha val="0"/>
            </a:srgbClr>
          </a:solidFill>
        </p:spPr>
        <p:txBody>
          <a:bodyPr wrap="square" lIns="0" tIns="0" rIns="0" bIns="0" rtlCol="0" anchor="ctr"/>
          <a:lstStyle/>
          <a:p>
            <a:pPr algn="l">
              <a:lnSpc>
                <a:spcPct val="125000"/>
              </a:lnSpc>
            </a:pPr>
            <a:r>
              <a:rPr lang="en-US" sz="2880" b="1" dirty="0">
                <a:solidFill>
                  <a:srgbClr val="000000"/>
                </a:solidFill>
                <a:latin typeface="HarmonyOS Sans" pitchFamily="34" charset="-122"/>
                <a:ea typeface="HarmonyOS Sans" pitchFamily="34" charset="-122"/>
                <a:cs typeface="HarmonyOS Sans" pitchFamily="34" charset="-120"/>
              </a:rPr>
              <a:t>System Architecture</a:t>
            </a:r>
            <a:endParaRPr lang="en-US" sz="2880" dirty="0"/>
          </a:p>
        </p:txBody>
      </p:sp>
      <p:sp>
        <p:nvSpPr>
          <p:cNvPr id="3" name="Text 1"/>
          <p:cNvSpPr/>
          <p:nvPr/>
        </p:nvSpPr>
        <p:spPr>
          <a:xfrm>
            <a:off x="703785" y="1319811"/>
            <a:ext cx="10762394" cy="365570"/>
          </a:xfrm>
          <a:prstGeom prst="rect">
            <a:avLst/>
          </a:prstGeom>
          <a:solidFill>
            <a:srgbClr val="FFFFFF">
              <a:alpha val="0"/>
            </a:srgbClr>
          </a:solidFill>
        </p:spPr>
        <p:txBody>
          <a:bodyPr wrap="square" lIns="0" tIns="0" rIns="0" bIns="0" rtlCol="0" anchor="ctr"/>
          <a:lstStyle/>
          <a:p>
            <a:pPr algn="l">
              <a:lnSpc>
                <a:spcPct val="125000"/>
              </a:lnSpc>
              <a:buSzPct val="100000"/>
            </a:pPr>
            <a:r>
              <a:rPr lang="en-US" sz="1600" b="1" dirty="0">
                <a:solidFill>
                  <a:srgbClr val="000000"/>
                </a:solidFill>
                <a:latin typeface="微软雅黑" charset="-122"/>
                <a:ea typeface="微软雅黑" charset="-122"/>
                <a:cs typeface="HarmonyOS Sans" pitchFamily="34" charset="-120"/>
              </a:rPr>
              <a:t>System Architecture Overview</a:t>
            </a:r>
            <a:endParaRPr lang="en-US" sz="1600" dirty="0">
              <a:latin typeface="微软雅黑" charset="-122"/>
              <a:ea typeface="微软雅黑" charset="-122"/>
            </a:endParaRPr>
          </a:p>
        </p:txBody>
      </p:sp>
      <p:sp>
        <p:nvSpPr>
          <p:cNvPr id="4" name="Text 2"/>
          <p:cNvSpPr/>
          <p:nvPr/>
        </p:nvSpPr>
        <p:spPr>
          <a:xfrm>
            <a:off x="466977" y="1685178"/>
            <a:ext cx="4057832" cy="4291899"/>
          </a:xfrm>
          <a:prstGeom prst="rect">
            <a:avLst/>
          </a:prstGeom>
          <a:solidFill>
            <a:srgbClr val="FFFFFF">
              <a:alpha val="0"/>
            </a:srgbClr>
          </a:solidFill>
        </p:spPr>
        <p:txBody>
          <a:bodyPr wrap="square" lIns="0" tIns="0" rIns="0" bIns="0" rtlCol="0" anchor="t"/>
          <a:lstStyle/>
          <a:p>
            <a:pPr marL="342900" indent="-342900" algn="l">
              <a:lnSpc>
                <a:spcPct val="150000"/>
              </a:lnSpc>
              <a:buSzPct val="100000"/>
              <a:buChar char="▪"/>
            </a:pPr>
            <a:r>
              <a:rPr lang="en-US" sz="1280" dirty="0">
                <a:solidFill>
                  <a:srgbClr val="000000"/>
                </a:solidFill>
                <a:latin typeface="微软雅黑" charset="-122"/>
                <a:ea typeface="微软雅黑" charset="-122"/>
                <a:cs typeface="HarmonyOS Sans" pitchFamily="34" charset="-120"/>
              </a:rPr>
              <a:t>Image Capture Module: Users capture product images using a smartphone</a:t>
            </a:r>
            <a:endParaRPr lang="en-US" sz="1280" dirty="0">
              <a:latin typeface="微软雅黑" charset="-122"/>
              <a:ea typeface="微软雅黑" charset="-122"/>
            </a:endParaRPr>
          </a:p>
          <a:p>
            <a:pPr marL="342900" indent="-342900" algn="l">
              <a:lnSpc>
                <a:spcPct val="150000"/>
              </a:lnSpc>
              <a:buSzPct val="100000"/>
              <a:buChar char="▪"/>
            </a:pPr>
            <a:r>
              <a:rPr lang="en-US" sz="1280" dirty="0">
                <a:solidFill>
                  <a:srgbClr val="000000"/>
                </a:solidFill>
                <a:latin typeface="微软雅黑" charset="-122"/>
                <a:ea typeface="微软雅黑" charset="-122"/>
                <a:cs typeface="HarmonyOS Sans" pitchFamily="34" charset="-120"/>
              </a:rPr>
              <a:t>Image Deblurring Module: Enhances image clarity with DeblurGAN</a:t>
            </a:r>
            <a:endParaRPr lang="en-US" sz="1280" dirty="0">
              <a:latin typeface="微软雅黑" charset="-122"/>
              <a:ea typeface="微软雅黑" charset="-122"/>
            </a:endParaRPr>
          </a:p>
          <a:p>
            <a:pPr marL="342900" indent="-342900" algn="l">
              <a:lnSpc>
                <a:spcPct val="150000"/>
              </a:lnSpc>
              <a:buSzPct val="100000"/>
              <a:buChar char="▪"/>
            </a:pPr>
            <a:r>
              <a:rPr lang="en-US" sz="1280" dirty="0">
                <a:solidFill>
                  <a:srgbClr val="000000"/>
                </a:solidFill>
                <a:latin typeface="微软雅黑" charset="-122"/>
                <a:ea typeface="微软雅黑" charset="-122"/>
                <a:cs typeface="HarmonyOS Sans" pitchFamily="34" charset="-120"/>
              </a:rPr>
              <a:t>VLM Module: Generates product descriptions with Qwen2-VL</a:t>
            </a:r>
            <a:endParaRPr lang="en-US" sz="1280" dirty="0">
              <a:latin typeface="微软雅黑" charset="-122"/>
              <a:ea typeface="微软雅黑" charset="-122"/>
            </a:endParaRPr>
          </a:p>
          <a:p>
            <a:pPr marL="342900" indent="-342900" algn="l">
              <a:lnSpc>
                <a:spcPct val="150000"/>
              </a:lnSpc>
              <a:buSzPct val="100000"/>
              <a:buChar char="▪"/>
            </a:pPr>
            <a:r>
              <a:rPr lang="en-US" sz="1280" dirty="0">
                <a:solidFill>
                  <a:srgbClr val="000000"/>
                </a:solidFill>
                <a:latin typeface="微软雅黑" charset="-122"/>
                <a:ea typeface="微软雅黑" charset="-122"/>
                <a:cs typeface="HarmonyOS Sans" pitchFamily="34" charset="-120"/>
              </a:rPr>
              <a:t>TTS Conversion Module: Converts text to speech using TTS technology</a:t>
            </a:r>
          </a:p>
          <a:p>
            <a:pPr marL="342900" indent="-342900" algn="l">
              <a:lnSpc>
                <a:spcPct val="150000"/>
              </a:lnSpc>
              <a:buSzPct val="100000"/>
              <a:buChar char="▪"/>
            </a:pPr>
            <a:r>
              <a:rPr lang="en-US" sz="1280" dirty="0">
                <a:latin typeface="微软雅黑" charset="-122"/>
                <a:ea typeface="微软雅黑" charset="-122"/>
              </a:rPr>
              <a:t>User can ask questions based on the description, microphone module will record the input audio</a:t>
            </a:r>
          </a:p>
          <a:p>
            <a:pPr marL="342900" indent="-342900" algn="l">
              <a:lnSpc>
                <a:spcPct val="150000"/>
              </a:lnSpc>
              <a:buSzPct val="100000"/>
              <a:buChar char="▪"/>
            </a:pPr>
            <a:r>
              <a:rPr lang="en-US" sz="1280" dirty="0">
                <a:latin typeface="微软雅黑" charset="-122"/>
                <a:ea typeface="微软雅黑" charset="-122"/>
              </a:rPr>
              <a:t>ASR Module will turn the audio into text</a:t>
            </a:r>
          </a:p>
          <a:p>
            <a:pPr marL="342900" indent="-342900" algn="l">
              <a:lnSpc>
                <a:spcPct val="150000"/>
              </a:lnSpc>
              <a:buSzPct val="100000"/>
              <a:buChar char="▪"/>
            </a:pPr>
            <a:r>
              <a:rPr lang="en-US" sz="1280" dirty="0">
                <a:latin typeface="微软雅黑" charset="-122"/>
                <a:ea typeface="微软雅黑" charset="-122"/>
              </a:rPr>
              <a:t>VLM Module will process the further questions based on the chat history</a:t>
            </a:r>
          </a:p>
          <a:p>
            <a:pPr marL="342900" indent="-342900" algn="l">
              <a:lnSpc>
                <a:spcPct val="150000"/>
              </a:lnSpc>
              <a:buSzPct val="100000"/>
              <a:buChar char="▪"/>
            </a:pPr>
            <a:endParaRPr lang="en-US" sz="1280" dirty="0">
              <a:latin typeface="微软雅黑" charset="-122"/>
              <a:ea typeface="微软雅黑" charset="-122"/>
            </a:endParaRPr>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8737" y="365570"/>
            <a:ext cx="489864" cy="687272"/>
          </a:xfrm>
          <a:prstGeom prst="rect">
            <a:avLst/>
          </a:prstGeom>
        </p:spPr>
      </p:pic>
      <p:pic>
        <p:nvPicPr>
          <p:cNvPr id="7" name="图片 1" descr="a2574ac9ffeeef8ad8f54a2dce01aab"/>
          <p:cNvPicPr>
            <a:picLocks noChangeAspect="1"/>
          </p:cNvPicPr>
          <p:nvPr/>
        </p:nvPicPr>
        <p:blipFill>
          <a:blip r:embed="rId5"/>
          <a:stretch>
            <a:fillRect/>
          </a:stretch>
        </p:blipFill>
        <p:spPr>
          <a:xfrm>
            <a:off x="4741612" y="1501378"/>
            <a:ext cx="7112884" cy="4556429"/>
          </a:xfrm>
          <a:prstGeom prst="rect">
            <a:avLst/>
          </a:prstGeom>
        </p:spPr>
      </p:pic>
      <p:sp>
        <p:nvSpPr>
          <p:cNvPr id="29" name="Text Box 28"/>
          <p:cNvSpPr txBox="1"/>
          <p:nvPr/>
        </p:nvSpPr>
        <p:spPr>
          <a:xfrm>
            <a:off x="10891827" y="6251255"/>
            <a:ext cx="4062909" cy="312420"/>
          </a:xfrm>
          <a:prstGeom prst="rect">
            <a:avLst/>
          </a:prstGeom>
          <a:noFill/>
        </p:spPr>
        <p:txBody>
          <a:bodyPr wrap="square" rtlCol="0">
            <a:spAutoFit/>
          </a:bodyPr>
          <a:lstStyle/>
          <a:p>
            <a:r>
              <a:rPr lang="en-US" sz="1440"/>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237518" y="372882"/>
            <a:ext cx="10433380" cy="679961"/>
          </a:xfrm>
          <a:prstGeom prst="rect">
            <a:avLst/>
          </a:prstGeom>
          <a:solidFill>
            <a:srgbClr val="FFFFFF">
              <a:alpha val="0"/>
            </a:srgbClr>
          </a:solidFill>
        </p:spPr>
        <p:txBody>
          <a:bodyPr wrap="square" lIns="0" tIns="0" rIns="0" bIns="0" rtlCol="0" anchor="ctr"/>
          <a:lstStyle/>
          <a:p>
            <a:pPr algn="l">
              <a:lnSpc>
                <a:spcPct val="125000"/>
              </a:lnSpc>
            </a:pPr>
            <a:r>
              <a:rPr lang="en-US" sz="2880" b="1" dirty="0">
                <a:solidFill>
                  <a:srgbClr val="000000"/>
                </a:solidFill>
                <a:latin typeface="Times New Roman Regular" panose="02020503050405090304" charset="0"/>
                <a:ea typeface="HarmonyOS Sans" pitchFamily="34" charset="-122"/>
                <a:cs typeface="Times New Roman Regular" panose="02020503050405090304" charset="0"/>
              </a:rPr>
              <a:t>Overview of Deblur GAN</a:t>
            </a:r>
          </a:p>
        </p:txBody>
      </p:sp>
      <p:pic>
        <p:nvPicPr>
          <p:cNvPr id="4"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22350" y="1614805"/>
            <a:ext cx="76200" cy="1210945"/>
          </a:xfrm>
          <a:prstGeom prst="rect">
            <a:avLst/>
          </a:prstGeom>
        </p:spPr>
      </p:pic>
      <p:pic>
        <p:nvPicPr>
          <p:cNvPr id="5"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10828020" y="1583690"/>
            <a:ext cx="76200" cy="1242060"/>
          </a:xfrm>
          <a:prstGeom prst="rect">
            <a:avLst/>
          </a:prstGeom>
        </p:spPr>
      </p:pic>
      <p:pic>
        <p:nvPicPr>
          <p:cNvPr id="6" name="Image 3"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59500" y="1365250"/>
            <a:ext cx="95885" cy="1760855"/>
          </a:xfrm>
          <a:prstGeom prst="rect">
            <a:avLst/>
          </a:prstGeom>
        </p:spPr>
      </p:pic>
      <p:sp>
        <p:nvSpPr>
          <p:cNvPr id="7" name="Text 1"/>
          <p:cNvSpPr/>
          <p:nvPr/>
        </p:nvSpPr>
        <p:spPr>
          <a:xfrm>
            <a:off x="3022440" y="1052986"/>
            <a:ext cx="438685" cy="438685"/>
          </a:xfrm>
          <a:prstGeom prst="ellipse">
            <a:avLst/>
          </a:prstGeom>
          <a:noFill/>
          <a:ln w="19050">
            <a:solidFill>
              <a:srgbClr val="C55A40"/>
            </a:solidFill>
            <a:prstDash val="solid"/>
            <a:headEnd type="none"/>
            <a:tailEnd type="none"/>
          </a:ln>
          <a:effectLst>
            <a:outerShdw blurRad="101600" dist="50800" dir="16200000" algn="bl" rotWithShape="0">
              <a:srgbClr val="000000">
                <a:alpha val="0"/>
              </a:srgbClr>
            </a:outerShdw>
          </a:effectLst>
        </p:spPr>
        <p:txBody>
          <a:bodyPr wrap="square" lIns="913" tIns="0" rIns="913" bIns="0" rtlCol="0" anchor="ctr"/>
          <a:lstStyle/>
          <a:p>
            <a:pPr algn="ctr">
              <a:lnSpc>
                <a:spcPct val="125000"/>
              </a:lnSpc>
            </a:pPr>
            <a:r>
              <a:rPr lang="en-US" sz="1120" dirty="0">
                <a:solidFill>
                  <a:srgbClr val="FFFFFF"/>
                </a:solidFill>
                <a:latin typeface="Times New Roman Regular" panose="02020503050405090304" charset="0"/>
                <a:ea typeface="Source Han Sans CN" panose="020B0500000000000000" pitchFamily="34" charset="-122"/>
                <a:cs typeface="Times New Roman Regular" panose="02020503050405090304" charset="0"/>
              </a:rPr>
              <a:t> </a:t>
            </a:r>
          </a:p>
        </p:txBody>
      </p:sp>
      <p:sp>
        <p:nvSpPr>
          <p:cNvPr id="8" name="Text 2"/>
          <p:cNvSpPr/>
          <p:nvPr/>
        </p:nvSpPr>
        <p:spPr>
          <a:xfrm>
            <a:off x="3022600" y="1119505"/>
            <a:ext cx="438785" cy="311785"/>
          </a:xfrm>
          <a:prstGeom prst="rect">
            <a:avLst/>
          </a:prstGeom>
          <a:solidFill>
            <a:srgbClr val="FFFFFF">
              <a:alpha val="0"/>
            </a:srgbClr>
          </a:solidFill>
        </p:spPr>
        <p:txBody>
          <a:bodyPr wrap="square" lIns="0" tIns="0" rIns="0" bIns="0" rtlCol="0" anchor="ctr"/>
          <a:lstStyle/>
          <a:p>
            <a:pPr algn="ctr">
              <a:lnSpc>
                <a:spcPct val="125000"/>
              </a:lnSpc>
            </a:pPr>
            <a:r>
              <a:rPr lang="en-US" sz="1120" b="1" dirty="0">
                <a:solidFill>
                  <a:srgbClr val="000000"/>
                </a:solidFill>
                <a:latin typeface="Times New Roman Regular" panose="02020503050405090304" charset="0"/>
                <a:ea typeface="Barlow" panose="00000500000000000000" pitchFamily="34" charset="-122"/>
                <a:cs typeface="Times New Roman Regular" panose="02020503050405090304" charset="0"/>
              </a:rPr>
              <a:t>01</a:t>
            </a:r>
          </a:p>
        </p:txBody>
      </p:sp>
      <p:sp>
        <p:nvSpPr>
          <p:cNvPr id="9" name="Text 3"/>
          <p:cNvSpPr/>
          <p:nvPr/>
        </p:nvSpPr>
        <p:spPr>
          <a:xfrm>
            <a:off x="1237615" y="1737995"/>
            <a:ext cx="4258310" cy="1901190"/>
          </a:xfrm>
          <a:prstGeom prst="rect">
            <a:avLst/>
          </a:prstGeom>
          <a:solidFill>
            <a:srgbClr val="FFFFFF">
              <a:alpha val="0"/>
            </a:srgbClr>
          </a:solidFill>
        </p:spPr>
        <p:txBody>
          <a:bodyPr wrap="square" lIns="0" tIns="0" rIns="0" bIns="0" rtlCol="0" anchor="t"/>
          <a:lstStyle/>
          <a:p>
            <a:pPr algn="ctr">
              <a:lnSpc>
                <a:spcPct val="125000"/>
              </a:lnSpc>
            </a:pPr>
            <a:r>
              <a:rPr lang="en-US" altLang="zh-CN" sz="1280" dirty="0">
                <a:latin typeface="Times New Roman Regular" panose="02020503050405090304" charset="0"/>
                <a:cs typeface="Times New Roman Regular" panose="02020503050405090304" charset="0"/>
              </a:rPr>
              <a:t>DeblurGAN is an image deblurring model based on Generative Adversarial Networks (GANs) designed to remove motion blur or camera blur from images</a:t>
            </a:r>
          </a:p>
        </p:txBody>
      </p:sp>
      <p:sp>
        <p:nvSpPr>
          <p:cNvPr id="10" name="Text 4"/>
          <p:cNvSpPr/>
          <p:nvPr/>
        </p:nvSpPr>
        <p:spPr>
          <a:xfrm>
            <a:off x="8320405" y="1119505"/>
            <a:ext cx="439420" cy="438785"/>
          </a:xfrm>
          <a:prstGeom prst="ellipse">
            <a:avLst/>
          </a:prstGeom>
          <a:noFill/>
          <a:ln w="19050">
            <a:solidFill>
              <a:srgbClr val="000000"/>
            </a:solidFill>
            <a:prstDash val="solid"/>
            <a:headEnd type="none"/>
            <a:tailEnd type="none"/>
          </a:ln>
          <a:effectLst>
            <a:outerShdw blurRad="101600" dist="50800" dir="16200000" algn="bl" rotWithShape="0">
              <a:srgbClr val="000000">
                <a:alpha val="0"/>
              </a:srgbClr>
            </a:outerShdw>
          </a:effectLst>
        </p:spPr>
        <p:txBody>
          <a:bodyPr wrap="square" lIns="913" tIns="0" rIns="913" bIns="0" rtlCol="0" anchor="ctr"/>
          <a:lstStyle/>
          <a:p>
            <a:pPr algn="ctr">
              <a:lnSpc>
                <a:spcPct val="125000"/>
              </a:lnSpc>
            </a:pPr>
            <a:r>
              <a:rPr lang="en-US" sz="1120" dirty="0">
                <a:solidFill>
                  <a:srgbClr val="FFFFFF"/>
                </a:solidFill>
                <a:latin typeface="Times New Roman Regular" panose="02020503050405090304" charset="0"/>
                <a:ea typeface="Source Han Sans CN" panose="020B0500000000000000" pitchFamily="34" charset="-122"/>
                <a:cs typeface="Times New Roman Regular" panose="02020503050405090304" charset="0"/>
              </a:rPr>
              <a:t> </a:t>
            </a:r>
          </a:p>
        </p:txBody>
      </p:sp>
      <p:sp>
        <p:nvSpPr>
          <p:cNvPr id="11" name="Text 5"/>
          <p:cNvSpPr/>
          <p:nvPr/>
        </p:nvSpPr>
        <p:spPr>
          <a:xfrm>
            <a:off x="8395970" y="1179830"/>
            <a:ext cx="307340" cy="311785"/>
          </a:xfrm>
          <a:prstGeom prst="rect">
            <a:avLst/>
          </a:prstGeom>
          <a:solidFill>
            <a:srgbClr val="FFFFFF">
              <a:alpha val="0"/>
            </a:srgbClr>
          </a:solidFill>
        </p:spPr>
        <p:txBody>
          <a:bodyPr wrap="square" lIns="0" tIns="0" rIns="0" bIns="0" rtlCol="0" anchor="ctr"/>
          <a:lstStyle/>
          <a:p>
            <a:pPr algn="ctr">
              <a:lnSpc>
                <a:spcPct val="125000"/>
              </a:lnSpc>
            </a:pPr>
            <a:r>
              <a:rPr lang="en-US" sz="1120" b="1" dirty="0">
                <a:solidFill>
                  <a:srgbClr val="000000"/>
                </a:solidFill>
                <a:latin typeface="Times New Roman Regular" panose="02020503050405090304" charset="0"/>
                <a:ea typeface="Barlow" panose="00000500000000000000" pitchFamily="34" charset="-122"/>
                <a:cs typeface="Times New Roman Regular" panose="02020503050405090304" charset="0"/>
              </a:rPr>
              <a:t>02</a:t>
            </a:r>
          </a:p>
        </p:txBody>
      </p:sp>
      <p:sp>
        <p:nvSpPr>
          <p:cNvPr id="12" name="Text 6"/>
          <p:cNvSpPr/>
          <p:nvPr/>
        </p:nvSpPr>
        <p:spPr>
          <a:xfrm>
            <a:off x="6763543" y="1819740"/>
            <a:ext cx="3553345" cy="1900966"/>
          </a:xfrm>
          <a:prstGeom prst="rect">
            <a:avLst/>
          </a:prstGeom>
          <a:solidFill>
            <a:srgbClr val="FFFFFF">
              <a:alpha val="0"/>
            </a:srgbClr>
          </a:solidFill>
        </p:spPr>
        <p:txBody>
          <a:bodyPr wrap="square" lIns="0" tIns="0" rIns="0" bIns="0" rtlCol="0" anchor="t"/>
          <a:lstStyle/>
          <a:p>
            <a:pPr algn="ctr">
              <a:lnSpc>
                <a:spcPct val="125000"/>
              </a:lnSpc>
            </a:pPr>
            <a:r>
              <a:rPr lang="en-US" altLang="zh-CN" sz="1280" dirty="0">
                <a:latin typeface="Times New Roman Regular" panose="02020503050405090304" charset="0"/>
                <a:cs typeface="Times New Roman Regular" panose="02020503050405090304" charset="0"/>
              </a:rPr>
              <a:t>The goal of the model is to recover a sharp image from a blurry one</a:t>
            </a:r>
          </a:p>
        </p:txBody>
      </p:sp>
      <p:pic>
        <p:nvPicPr>
          <p:cNvPr id="14" name="Image 5"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08737" y="365570"/>
            <a:ext cx="489864" cy="687272"/>
          </a:xfrm>
          <a:prstGeom prst="rect">
            <a:avLst/>
          </a:prstGeom>
        </p:spPr>
      </p:pic>
      <p:sp>
        <p:nvSpPr>
          <p:cNvPr id="29" name="Text Box 28"/>
          <p:cNvSpPr txBox="1"/>
          <p:nvPr/>
        </p:nvSpPr>
        <p:spPr>
          <a:xfrm>
            <a:off x="10891827" y="6322338"/>
            <a:ext cx="4062909" cy="312420"/>
          </a:xfrm>
          <a:prstGeom prst="rect">
            <a:avLst/>
          </a:prstGeom>
          <a:noFill/>
        </p:spPr>
        <p:txBody>
          <a:bodyPr wrap="square" rtlCol="0">
            <a:spAutoFit/>
          </a:bodyPr>
          <a:lstStyle/>
          <a:p>
            <a:r>
              <a:rPr lang="en-US" sz="1440">
                <a:latin typeface="Times New Roman Regular" panose="02020503050405090304" charset="0"/>
                <a:cs typeface="Times New Roman Regular" panose="02020503050405090304" charset="0"/>
              </a:rPr>
              <a:t>14</a:t>
            </a:r>
          </a:p>
        </p:txBody>
      </p:sp>
      <p:pic>
        <p:nvPicPr>
          <p:cNvPr id="13" name="Picture 12" descr="/Users/cocodowney/Library/Containers/com.kingsoft.wpsoffice.mac/Data/tmp/picturecompress_20241127035556/output_1.pngoutput_1"/>
          <p:cNvPicPr>
            <a:picLocks noChangeAspect="1"/>
          </p:cNvPicPr>
          <p:nvPr/>
        </p:nvPicPr>
        <p:blipFill>
          <a:blip r:embed="rId9"/>
          <a:stretch>
            <a:fillRect/>
          </a:stretch>
        </p:blipFill>
        <p:spPr>
          <a:xfrm>
            <a:off x="3437563" y="3428787"/>
            <a:ext cx="5222580" cy="2615352"/>
          </a:xfrm>
          <a:prstGeom prst="rect">
            <a:avLst/>
          </a:prstGeom>
        </p:spPr>
      </p:pic>
      <p:sp>
        <p:nvSpPr>
          <p:cNvPr id="15" name="Text Box 14"/>
          <p:cNvSpPr txBox="1"/>
          <p:nvPr/>
        </p:nvSpPr>
        <p:spPr>
          <a:xfrm>
            <a:off x="5145216" y="6215390"/>
            <a:ext cx="4062909" cy="312420"/>
          </a:xfrm>
          <a:prstGeom prst="rect">
            <a:avLst/>
          </a:prstGeom>
          <a:noFill/>
        </p:spPr>
        <p:txBody>
          <a:bodyPr wrap="square" rtlCol="0">
            <a:spAutoFit/>
          </a:bodyPr>
          <a:lstStyle/>
          <a:p>
            <a:r>
              <a:rPr lang="en-US" sz="1440"/>
              <a:t>Data </a:t>
            </a:r>
            <a:r>
              <a:rPr lang="en-US" sz="1440">
                <a:latin typeface="Times New Roman Regular" panose="02020503050405090304" charset="0"/>
                <a:cs typeface="Times New Roman Regular" panose="02020503050405090304" charset="0"/>
              </a:rPr>
              <a:t>sample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237518" y="372882"/>
            <a:ext cx="10433380" cy="679961"/>
          </a:xfrm>
          <a:prstGeom prst="rect">
            <a:avLst/>
          </a:prstGeom>
          <a:solidFill>
            <a:srgbClr val="FFFFFF">
              <a:alpha val="0"/>
            </a:srgbClr>
          </a:solidFill>
        </p:spPr>
        <p:txBody>
          <a:bodyPr wrap="square" lIns="0" tIns="0" rIns="0" bIns="0" rtlCol="0" anchor="ctr"/>
          <a:lstStyle/>
          <a:p>
            <a:pPr algn="l">
              <a:lnSpc>
                <a:spcPct val="125000"/>
              </a:lnSpc>
            </a:pPr>
            <a:r>
              <a:rPr lang="en-US" sz="2880" b="1" dirty="0">
                <a:solidFill>
                  <a:srgbClr val="000000"/>
                </a:solidFill>
                <a:latin typeface="Times New Roman Regular" panose="02020503050405090304" charset="0"/>
                <a:ea typeface="HarmonyOS Sans" pitchFamily="34" charset="-122"/>
                <a:cs typeface="Times New Roman Regular" panose="02020503050405090304" charset="0"/>
                <a:sym typeface="+mn-ea"/>
              </a:rPr>
              <a:t>Overview</a:t>
            </a:r>
            <a:r>
              <a:rPr lang="en-US" sz="2880" b="1" dirty="0">
                <a:solidFill>
                  <a:srgbClr val="000000"/>
                </a:solidFill>
                <a:latin typeface="Times New Roman Regular" panose="02020503050405090304" charset="0"/>
                <a:ea typeface="HarmonyOS Sans" pitchFamily="34" charset="-122"/>
                <a:cs typeface="Times New Roman Regular" panose="02020503050405090304" charset="0"/>
              </a:rPr>
              <a:t> of Deblur GAN with Qwen 2 VL</a:t>
            </a:r>
            <a:endParaRPr lang="en-US" sz="2880" dirty="0">
              <a:latin typeface="Times New Roman Regular" panose="02020503050405090304" charset="0"/>
              <a:cs typeface="Times New Roman Regular" panose="02020503050405090304" charset="0"/>
            </a:endParaRPr>
          </a:p>
        </p:txBody>
      </p:sp>
      <p:pic>
        <p:nvPicPr>
          <p:cNvPr id="14" name="Image 5"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8737" y="365570"/>
            <a:ext cx="489864" cy="687272"/>
          </a:xfrm>
          <a:prstGeom prst="rect">
            <a:avLst/>
          </a:prstGeom>
        </p:spPr>
      </p:pic>
      <p:pic>
        <p:nvPicPr>
          <p:cNvPr id="3" name="图片 2" descr="6"/>
          <p:cNvPicPr>
            <a:picLocks noChangeAspect="1"/>
          </p:cNvPicPr>
          <p:nvPr/>
        </p:nvPicPr>
        <p:blipFill>
          <a:blip r:embed="rId5"/>
          <a:stretch>
            <a:fillRect/>
          </a:stretch>
        </p:blipFill>
        <p:spPr>
          <a:xfrm>
            <a:off x="8669971" y="1913152"/>
            <a:ext cx="2930149" cy="2930149"/>
          </a:xfrm>
          <a:prstGeom prst="rect">
            <a:avLst/>
          </a:prstGeom>
        </p:spPr>
      </p:pic>
      <p:pic>
        <p:nvPicPr>
          <p:cNvPr id="17" name="图片 16" descr="5bba197f4fe437ef6d572f39c7ee998"/>
          <p:cNvPicPr>
            <a:picLocks noChangeAspect="1"/>
          </p:cNvPicPr>
          <p:nvPr/>
        </p:nvPicPr>
        <p:blipFill>
          <a:blip r:embed="rId6"/>
          <a:stretch>
            <a:fillRect/>
          </a:stretch>
        </p:blipFill>
        <p:spPr>
          <a:xfrm>
            <a:off x="4908150" y="1913152"/>
            <a:ext cx="2930149" cy="2930149"/>
          </a:xfrm>
          <a:prstGeom prst="rect">
            <a:avLst/>
          </a:prstGeom>
        </p:spPr>
      </p:pic>
      <p:pic>
        <p:nvPicPr>
          <p:cNvPr id="18" name="图片 17" descr="a1aa7fc9bc55f333f6432c0de3aa26d"/>
          <p:cNvPicPr>
            <a:picLocks noChangeAspect="1"/>
          </p:cNvPicPr>
          <p:nvPr/>
        </p:nvPicPr>
        <p:blipFill>
          <a:blip r:embed="rId7"/>
          <a:stretch>
            <a:fillRect/>
          </a:stretch>
        </p:blipFill>
        <p:spPr>
          <a:xfrm>
            <a:off x="904646" y="1913152"/>
            <a:ext cx="2930656" cy="2930656"/>
          </a:xfrm>
          <a:prstGeom prst="rect">
            <a:avLst/>
          </a:prstGeom>
        </p:spPr>
      </p:pic>
      <p:sp>
        <p:nvSpPr>
          <p:cNvPr id="19" name="文本框 18"/>
          <p:cNvSpPr txBox="1"/>
          <p:nvPr/>
        </p:nvSpPr>
        <p:spPr>
          <a:xfrm>
            <a:off x="2131060" y="5115560"/>
            <a:ext cx="770255" cy="312420"/>
          </a:xfrm>
          <a:prstGeom prst="rect">
            <a:avLst/>
          </a:prstGeom>
          <a:noFill/>
        </p:spPr>
        <p:txBody>
          <a:bodyPr wrap="square" rtlCol="0">
            <a:spAutoFit/>
          </a:bodyPr>
          <a:lstStyle/>
          <a:p>
            <a:r>
              <a:rPr lang="en-US" altLang="zh-CN" sz="1440" b="1">
                <a:latin typeface="Times New Roman Regular" panose="02020503050405090304" charset="0"/>
                <a:cs typeface="Times New Roman Regular" panose="02020503050405090304" charset="0"/>
              </a:rPr>
              <a:t>Blur</a:t>
            </a:r>
          </a:p>
        </p:txBody>
      </p:sp>
      <p:sp>
        <p:nvSpPr>
          <p:cNvPr id="20" name="文本框 19"/>
          <p:cNvSpPr txBox="1"/>
          <p:nvPr/>
        </p:nvSpPr>
        <p:spPr>
          <a:xfrm>
            <a:off x="6134100" y="5217160"/>
            <a:ext cx="1176655" cy="312420"/>
          </a:xfrm>
          <a:prstGeom prst="rect">
            <a:avLst/>
          </a:prstGeom>
          <a:noFill/>
        </p:spPr>
        <p:txBody>
          <a:bodyPr wrap="square" rtlCol="0">
            <a:spAutoFit/>
          </a:bodyPr>
          <a:lstStyle/>
          <a:p>
            <a:r>
              <a:rPr lang="en-US" altLang="zh-CN" sz="1440" b="1">
                <a:latin typeface="Times New Roman Regular" panose="02020503050405090304" charset="0"/>
                <a:cs typeface="Times New Roman Regular" panose="02020503050405090304" charset="0"/>
              </a:rPr>
              <a:t>DeBlur</a:t>
            </a:r>
          </a:p>
        </p:txBody>
      </p:sp>
      <p:sp>
        <p:nvSpPr>
          <p:cNvPr id="21" name="文本框 20"/>
          <p:cNvSpPr txBox="1"/>
          <p:nvPr/>
        </p:nvSpPr>
        <p:spPr>
          <a:xfrm>
            <a:off x="9498090" y="5216995"/>
            <a:ext cx="1274419" cy="533400"/>
          </a:xfrm>
          <a:prstGeom prst="rect">
            <a:avLst/>
          </a:prstGeom>
          <a:noFill/>
        </p:spPr>
        <p:txBody>
          <a:bodyPr wrap="square" rtlCol="0">
            <a:spAutoFit/>
          </a:bodyPr>
          <a:lstStyle/>
          <a:p>
            <a:r>
              <a:rPr lang="en-US" altLang="zh-CN" sz="1440" b="1">
                <a:latin typeface="Times New Roman Regular" panose="02020503050405090304" charset="0"/>
                <a:cs typeface="Times New Roman Regular" panose="02020503050405090304" charset="0"/>
              </a:rPr>
              <a:t>Ground Truth</a:t>
            </a:r>
          </a:p>
        </p:txBody>
      </p:sp>
      <p:sp>
        <p:nvSpPr>
          <p:cNvPr id="29" name="Text Box 28"/>
          <p:cNvSpPr txBox="1"/>
          <p:nvPr/>
        </p:nvSpPr>
        <p:spPr>
          <a:xfrm>
            <a:off x="10891827" y="6121274"/>
            <a:ext cx="4062909" cy="312420"/>
          </a:xfrm>
          <a:prstGeom prst="rect">
            <a:avLst/>
          </a:prstGeom>
          <a:noFill/>
        </p:spPr>
        <p:txBody>
          <a:bodyPr wrap="square" rtlCol="0">
            <a:spAutoFit/>
          </a:bodyPr>
          <a:lstStyle/>
          <a:p>
            <a:r>
              <a:rPr lang="en-US" sz="1440">
                <a:latin typeface="Times New Roman Regular" panose="02020503050405090304" charset="0"/>
                <a:cs typeface="Times New Roman Regular" panose="02020503050405090304" charset="0"/>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052DF-B76F-41AD-18E6-E2D6A44599E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0F5EFE8-48E6-D17E-B54C-DD59ACF38F5C}"/>
              </a:ext>
            </a:extLst>
          </p:cNvPr>
          <p:cNvSpPr/>
          <p:nvPr/>
        </p:nvSpPr>
        <p:spPr>
          <a:xfrm>
            <a:off x="1237518" y="372882"/>
            <a:ext cx="10433380" cy="679961"/>
          </a:xfrm>
          <a:prstGeom prst="rect">
            <a:avLst/>
          </a:prstGeom>
          <a:solidFill>
            <a:srgbClr val="FFFFFF">
              <a:alpha val="0"/>
            </a:srgbClr>
          </a:solidFill>
        </p:spPr>
        <p:txBody>
          <a:bodyPr wrap="square" lIns="0" tIns="0" rIns="0" bIns="0" rtlCol="0" anchor="ctr"/>
          <a:lstStyle/>
          <a:p>
            <a:pPr algn="l">
              <a:lnSpc>
                <a:spcPct val="125000"/>
              </a:lnSpc>
            </a:pPr>
            <a:r>
              <a:rPr lang="en-US" sz="2880" b="1" dirty="0">
                <a:solidFill>
                  <a:srgbClr val="000000"/>
                </a:solidFill>
                <a:latin typeface="HarmonyOS Sans" pitchFamily="34" charset="-122"/>
                <a:ea typeface="HarmonyOS Sans" pitchFamily="34" charset="-122"/>
                <a:cs typeface="HarmonyOS Sans" pitchFamily="34" charset="-120"/>
              </a:rPr>
              <a:t>Overview of Deblur GAN with Qwen 2 VL</a:t>
            </a:r>
            <a:endParaRPr lang="en-US" sz="2880" dirty="0"/>
          </a:p>
        </p:txBody>
      </p:sp>
      <p:pic>
        <p:nvPicPr>
          <p:cNvPr id="14" name="Image 5" descr="preencoded.png">
            <a:extLst>
              <a:ext uri="{FF2B5EF4-FFF2-40B4-BE49-F238E27FC236}">
                <a16:creationId xmlns:a16="http://schemas.microsoft.com/office/drawing/2014/main" id="{5676EE43-423F-73D6-75A8-581DEAB9FB4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8737" y="365570"/>
            <a:ext cx="489864" cy="687272"/>
          </a:xfrm>
          <a:prstGeom prst="rect">
            <a:avLst/>
          </a:prstGeom>
        </p:spPr>
      </p:pic>
      <p:sp>
        <p:nvSpPr>
          <p:cNvPr id="19" name="文本框 18">
            <a:extLst>
              <a:ext uri="{FF2B5EF4-FFF2-40B4-BE49-F238E27FC236}">
                <a16:creationId xmlns:a16="http://schemas.microsoft.com/office/drawing/2014/main" id="{DA5869CD-2AD4-18EB-383C-BC5C8B785127}"/>
              </a:ext>
            </a:extLst>
          </p:cNvPr>
          <p:cNvSpPr txBox="1"/>
          <p:nvPr/>
        </p:nvSpPr>
        <p:spPr>
          <a:xfrm>
            <a:off x="1838325" y="5427980"/>
            <a:ext cx="770255" cy="312420"/>
          </a:xfrm>
          <a:prstGeom prst="rect">
            <a:avLst/>
          </a:prstGeom>
          <a:noFill/>
        </p:spPr>
        <p:txBody>
          <a:bodyPr wrap="square" rtlCol="0">
            <a:spAutoFit/>
          </a:bodyPr>
          <a:lstStyle/>
          <a:p>
            <a:r>
              <a:rPr lang="en-US" altLang="zh-CN" sz="1440" b="1"/>
              <a:t>Blur</a:t>
            </a:r>
          </a:p>
        </p:txBody>
      </p:sp>
      <p:sp>
        <p:nvSpPr>
          <p:cNvPr id="20" name="文本框 19">
            <a:extLst>
              <a:ext uri="{FF2B5EF4-FFF2-40B4-BE49-F238E27FC236}">
                <a16:creationId xmlns:a16="http://schemas.microsoft.com/office/drawing/2014/main" id="{AD2A1964-4385-C6F7-4F8C-BEC3B004E922}"/>
              </a:ext>
            </a:extLst>
          </p:cNvPr>
          <p:cNvSpPr txBox="1"/>
          <p:nvPr/>
        </p:nvSpPr>
        <p:spPr>
          <a:xfrm>
            <a:off x="5560695" y="5427980"/>
            <a:ext cx="1273810" cy="312420"/>
          </a:xfrm>
          <a:prstGeom prst="rect">
            <a:avLst/>
          </a:prstGeom>
          <a:noFill/>
        </p:spPr>
        <p:txBody>
          <a:bodyPr wrap="square" rtlCol="0">
            <a:spAutoFit/>
          </a:bodyPr>
          <a:lstStyle/>
          <a:p>
            <a:r>
              <a:rPr lang="en-US" altLang="zh-CN" sz="1440" b="1"/>
              <a:t>DeBlur</a:t>
            </a:r>
          </a:p>
        </p:txBody>
      </p:sp>
      <p:sp>
        <p:nvSpPr>
          <p:cNvPr id="21" name="文本框 20">
            <a:extLst>
              <a:ext uri="{FF2B5EF4-FFF2-40B4-BE49-F238E27FC236}">
                <a16:creationId xmlns:a16="http://schemas.microsoft.com/office/drawing/2014/main" id="{3919981D-BC28-F9F2-A833-1A72F79852E1}"/>
              </a:ext>
            </a:extLst>
          </p:cNvPr>
          <p:cNvSpPr txBox="1"/>
          <p:nvPr/>
        </p:nvSpPr>
        <p:spPr>
          <a:xfrm>
            <a:off x="9498090" y="5633339"/>
            <a:ext cx="1274419" cy="533400"/>
          </a:xfrm>
          <a:prstGeom prst="rect">
            <a:avLst/>
          </a:prstGeom>
          <a:noFill/>
        </p:spPr>
        <p:txBody>
          <a:bodyPr wrap="square" rtlCol="0">
            <a:spAutoFit/>
          </a:bodyPr>
          <a:lstStyle/>
          <a:p>
            <a:r>
              <a:rPr lang="en-US" altLang="zh-CN" sz="1440" b="1"/>
              <a:t>Ground Truth</a:t>
            </a:r>
          </a:p>
        </p:txBody>
      </p:sp>
      <p:sp>
        <p:nvSpPr>
          <p:cNvPr id="5" name="文本框 4">
            <a:extLst>
              <a:ext uri="{FF2B5EF4-FFF2-40B4-BE49-F238E27FC236}">
                <a16:creationId xmlns:a16="http://schemas.microsoft.com/office/drawing/2014/main" id="{4D7502D2-4E05-4975-48EF-7D80BB39A73D}"/>
              </a:ext>
            </a:extLst>
          </p:cNvPr>
          <p:cNvSpPr txBox="1"/>
          <p:nvPr/>
        </p:nvSpPr>
        <p:spPr>
          <a:xfrm>
            <a:off x="8421688" y="1424202"/>
            <a:ext cx="3650119" cy="4072890"/>
          </a:xfrm>
          <a:prstGeom prst="rect">
            <a:avLst/>
          </a:prstGeom>
          <a:noFill/>
        </p:spPr>
        <p:txBody>
          <a:bodyPr wrap="square" rtlCol="0">
            <a:spAutoFit/>
          </a:bodyPr>
          <a:lstStyle/>
          <a:p>
            <a:r>
              <a:rPr lang="en-US" altLang="zh-CN" sz="1440"/>
              <a:t>This image shows a bunch of tomatoes neatly arranged in two wooden crates, placed on a supermarket shelf. Each tomato is red and looks very fresh.</a:t>
            </a:r>
          </a:p>
          <a:p>
            <a:endParaRPr lang="en-US" altLang="zh-CN" sz="1440"/>
          </a:p>
          <a:p>
            <a:r>
              <a:rPr lang="en-US" altLang="zh-CN" sz="1440"/>
              <a:t>Below the shelf, there is a label that reads "</a:t>
            </a:r>
            <a:r>
              <a:rPr lang="zh-CN" altLang="en-US" sz="1440"/>
              <a:t>福島県産</a:t>
            </a:r>
            <a:r>
              <a:rPr lang="en-US" altLang="zh-CN" sz="1440"/>
              <a:t>" (Fukushima Prefecture), indicating that these tomatoes are produced in Fukushima, Japan. The label also displays the price, with each tomato costing 177 yen (191.46 yen including tax).</a:t>
            </a:r>
          </a:p>
          <a:p>
            <a:endParaRPr lang="en-US" altLang="zh-CN" sz="1440"/>
          </a:p>
          <a:p>
            <a:r>
              <a:rPr lang="en-US" altLang="zh-CN" sz="1440"/>
              <a:t>Additionally, there are some plastic bags hanging on the shelf, likely for customers to use for packing the tomatoes. Overall, this is a photo showcasing fresh tomatoes from Fukushima Prefecture for sale in a supermarket.</a:t>
            </a:r>
          </a:p>
        </p:txBody>
      </p:sp>
      <p:sp>
        <p:nvSpPr>
          <p:cNvPr id="6" name="文本框 5">
            <a:extLst>
              <a:ext uri="{FF2B5EF4-FFF2-40B4-BE49-F238E27FC236}">
                <a16:creationId xmlns:a16="http://schemas.microsoft.com/office/drawing/2014/main" id="{6EC961BC-FED1-9B0B-C7D8-3D53029FA5AD}"/>
              </a:ext>
            </a:extLst>
          </p:cNvPr>
          <p:cNvSpPr txBox="1"/>
          <p:nvPr/>
        </p:nvSpPr>
        <p:spPr>
          <a:xfrm>
            <a:off x="608635" y="1575507"/>
            <a:ext cx="3828843" cy="3630930"/>
          </a:xfrm>
          <a:prstGeom prst="rect">
            <a:avLst/>
          </a:prstGeom>
          <a:noFill/>
        </p:spPr>
        <p:txBody>
          <a:bodyPr wrap="square" rtlCol="0">
            <a:spAutoFit/>
          </a:bodyPr>
          <a:lstStyle/>
          <a:p>
            <a:r>
              <a:rPr lang="en-US" altLang="zh-CN" sz="1440"/>
              <a:t>This is a photo showcasing products on a supermarket shelf. In the image, two wooden crates filled with red tomatoes can be seen. The tomatoes appear fresh and vibrant in color.</a:t>
            </a:r>
          </a:p>
          <a:p>
            <a:endParaRPr lang="en-US" altLang="zh-CN" sz="1440"/>
          </a:p>
          <a:p>
            <a:r>
              <a:rPr lang="en-US" altLang="zh-CN" sz="1440"/>
              <a:t>Below the shelf, there is a label with price information. Although the image is somewhat blurry, the price of </a:t>
            </a:r>
            <a:r>
              <a:rPr lang="en-US" altLang="zh-CN" sz="1440">
                <a:solidFill>
                  <a:srgbClr val="FF0000"/>
                </a:solidFill>
              </a:rPr>
              <a:t>"17.8 yen"</a:t>
            </a:r>
            <a:r>
              <a:rPr lang="en-US" altLang="zh-CN" sz="1440"/>
              <a:t> is legible. Next to the label, there is a</a:t>
            </a:r>
            <a:r>
              <a:rPr lang="en-US" altLang="zh-CN" sz="1440">
                <a:solidFill>
                  <a:srgbClr val="FF0000"/>
                </a:solidFill>
              </a:rPr>
              <a:t> QR code</a:t>
            </a:r>
            <a:r>
              <a:rPr lang="en-US" altLang="zh-CN" sz="1440"/>
              <a:t>, likely for scanning to obtain more information or for payment.</a:t>
            </a:r>
          </a:p>
          <a:p>
            <a:endParaRPr lang="en-US" altLang="zh-CN" sz="1440"/>
          </a:p>
          <a:p>
            <a:r>
              <a:rPr lang="en-US" altLang="zh-CN" sz="1440"/>
              <a:t>In summary, this image displays fresh tomatoes on a supermarket shelf, priced at </a:t>
            </a:r>
            <a:r>
              <a:rPr lang="en-US" altLang="zh-CN" sz="1440">
                <a:solidFill>
                  <a:srgbClr val="FF0000"/>
                </a:solidFill>
              </a:rPr>
              <a:t>17.8 yen</a:t>
            </a:r>
            <a:r>
              <a:rPr lang="en-US" altLang="zh-CN" sz="1440"/>
              <a:t>.</a:t>
            </a:r>
          </a:p>
        </p:txBody>
      </p:sp>
      <p:sp>
        <p:nvSpPr>
          <p:cNvPr id="7" name="文本框 6">
            <a:extLst>
              <a:ext uri="{FF2B5EF4-FFF2-40B4-BE49-F238E27FC236}">
                <a16:creationId xmlns:a16="http://schemas.microsoft.com/office/drawing/2014/main" id="{2B74E89F-A8EC-4B41-D062-6904AE329609}"/>
              </a:ext>
            </a:extLst>
          </p:cNvPr>
          <p:cNvSpPr txBox="1"/>
          <p:nvPr/>
        </p:nvSpPr>
        <p:spPr>
          <a:xfrm>
            <a:off x="4406506" y="1424202"/>
            <a:ext cx="3583098" cy="3168785"/>
          </a:xfrm>
          <a:prstGeom prst="rect">
            <a:avLst/>
          </a:prstGeom>
          <a:noFill/>
        </p:spPr>
        <p:txBody>
          <a:bodyPr wrap="square" rtlCol="0">
            <a:noAutofit/>
          </a:bodyPr>
          <a:lstStyle/>
          <a:p>
            <a:r>
              <a:rPr lang="en-US" altLang="zh-CN" sz="1440"/>
              <a:t>This image shows a pile of tomatoes neatly arranged in two wooden crates, each filled with many red tomatoes. The tomatoes appear fresh and plump.</a:t>
            </a:r>
          </a:p>
          <a:p>
            <a:endParaRPr lang="en-US" altLang="zh-CN" sz="1440"/>
          </a:p>
          <a:p>
            <a:r>
              <a:rPr lang="en-US" altLang="zh-CN" sz="1440"/>
              <a:t>Below the crates, there is a label with some text and numbers. According to the information in the image, the price of these tomatoes is </a:t>
            </a:r>
            <a:r>
              <a:rPr lang="en-US" altLang="zh-CN" sz="1440">
                <a:solidFill>
                  <a:schemeClr val="accent6"/>
                </a:solidFill>
              </a:rPr>
              <a:t>177 yen per kilogram</a:t>
            </a:r>
            <a:r>
              <a:rPr lang="en-US" altLang="zh-CN" sz="1440"/>
              <a:t>. The label also mentions "</a:t>
            </a:r>
            <a:r>
              <a:rPr lang="zh-CN" altLang="en-US" sz="1440">
                <a:solidFill>
                  <a:schemeClr val="accent6"/>
                </a:solidFill>
              </a:rPr>
              <a:t>福島県産</a:t>
            </a:r>
            <a:r>
              <a:rPr lang="en-US" altLang="zh-CN" sz="1440"/>
              <a:t>" (Fukushima Prefecture), indicating that these tomatoes are produced in Fukushima, Japan.</a:t>
            </a:r>
          </a:p>
          <a:p>
            <a:endParaRPr lang="en-US" altLang="zh-CN" sz="1440"/>
          </a:p>
          <a:p>
            <a:r>
              <a:rPr lang="en-US" altLang="zh-CN" sz="1440"/>
              <a:t>In summary, this image showcases tomatoes from Fukushima Prefecture being sold at a price of </a:t>
            </a:r>
            <a:r>
              <a:rPr lang="en-US" altLang="zh-CN" sz="1440">
                <a:solidFill>
                  <a:schemeClr val="accent6"/>
                </a:solidFill>
              </a:rPr>
              <a:t>177 yen per kilogram</a:t>
            </a:r>
            <a:r>
              <a:rPr lang="en-US" altLang="zh-CN" sz="1440"/>
              <a:t>.</a:t>
            </a:r>
          </a:p>
        </p:txBody>
      </p:sp>
      <p:sp>
        <p:nvSpPr>
          <p:cNvPr id="29" name="Text Box 28">
            <a:extLst>
              <a:ext uri="{FF2B5EF4-FFF2-40B4-BE49-F238E27FC236}">
                <a16:creationId xmlns:a16="http://schemas.microsoft.com/office/drawing/2014/main" id="{01EEAE50-DBE8-5524-532E-4735F57283B0}"/>
              </a:ext>
            </a:extLst>
          </p:cNvPr>
          <p:cNvSpPr txBox="1"/>
          <p:nvPr/>
        </p:nvSpPr>
        <p:spPr>
          <a:xfrm>
            <a:off x="10891827" y="6121274"/>
            <a:ext cx="4062909" cy="312420"/>
          </a:xfrm>
          <a:prstGeom prst="rect">
            <a:avLst/>
          </a:prstGeom>
          <a:noFill/>
        </p:spPr>
        <p:txBody>
          <a:bodyPr wrap="square" rtlCol="0">
            <a:spAutoFit/>
          </a:bodyPr>
          <a:lstStyle/>
          <a:p>
            <a:r>
              <a:rPr lang="en-US" sz="1440"/>
              <a:t>19</a:t>
            </a:r>
          </a:p>
        </p:txBody>
      </p:sp>
    </p:spTree>
    <p:extLst>
      <p:ext uri="{BB962C8B-B14F-4D97-AF65-F5344CB8AC3E}">
        <p14:creationId xmlns:p14="http://schemas.microsoft.com/office/powerpoint/2010/main" val="4194566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237518" y="372882"/>
            <a:ext cx="10433380" cy="679961"/>
          </a:xfrm>
          <a:prstGeom prst="rect">
            <a:avLst/>
          </a:prstGeom>
          <a:solidFill>
            <a:srgbClr val="FFFFFF">
              <a:alpha val="0"/>
            </a:srgbClr>
          </a:solidFill>
        </p:spPr>
        <p:txBody>
          <a:bodyPr wrap="square" lIns="0" tIns="0" rIns="0" bIns="0" rtlCol="0" anchor="ctr"/>
          <a:lstStyle/>
          <a:p>
            <a:pPr algn="l">
              <a:lnSpc>
                <a:spcPct val="125000"/>
              </a:lnSpc>
            </a:pPr>
            <a:r>
              <a:rPr lang="en-US" sz="2880" b="1" dirty="0">
                <a:solidFill>
                  <a:srgbClr val="000000"/>
                </a:solidFill>
                <a:latin typeface="HarmonyOS Sans" pitchFamily="34" charset="-122"/>
                <a:ea typeface="HarmonyOS Sans" pitchFamily="34" charset="-122"/>
                <a:cs typeface="HarmonyOS Sans" pitchFamily="34" charset="-120"/>
              </a:rPr>
              <a:t>Overview of TTS and ASR</a:t>
            </a:r>
            <a:endParaRPr lang="en-US" sz="2880" dirty="0"/>
          </a:p>
        </p:txBody>
      </p:sp>
      <p:pic>
        <p:nvPicPr>
          <p:cNvPr id="4"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9805" y="2598420"/>
            <a:ext cx="76200" cy="2066290"/>
          </a:xfrm>
          <a:prstGeom prst="rect">
            <a:avLst/>
          </a:prstGeom>
        </p:spPr>
      </p:pic>
      <p:sp>
        <p:nvSpPr>
          <p:cNvPr id="9" name="Text 3"/>
          <p:cNvSpPr/>
          <p:nvPr/>
        </p:nvSpPr>
        <p:spPr>
          <a:xfrm>
            <a:off x="1237615" y="1666875"/>
            <a:ext cx="4769485" cy="2640965"/>
          </a:xfrm>
          <a:prstGeom prst="rect">
            <a:avLst/>
          </a:prstGeom>
          <a:solidFill>
            <a:srgbClr val="FFFFFF">
              <a:alpha val="0"/>
            </a:srgbClr>
          </a:solidFill>
        </p:spPr>
        <p:txBody>
          <a:bodyPr wrap="square" lIns="0" tIns="0" rIns="0" bIns="0" rtlCol="0" anchor="t"/>
          <a:lstStyle/>
          <a:p>
            <a:pPr algn="ctr">
              <a:lnSpc>
                <a:spcPct val="125000"/>
              </a:lnSpc>
            </a:pPr>
            <a:r>
              <a:rPr lang="en-US" altLang="zh-CN" b="1" dirty="0">
                <a:latin typeface="Times New Roman Bold" panose="02020503050405090304" charset="0"/>
                <a:cs typeface="Times New Roman Bold" panose="02020503050405090304" charset="0"/>
              </a:rPr>
              <a:t>GPT-Sovits is a text-to-speech (TTS) technology </a:t>
            </a:r>
          </a:p>
        </p:txBody>
      </p:sp>
      <p:sp>
        <p:nvSpPr>
          <p:cNvPr id="12" name="Text 6"/>
          <p:cNvSpPr/>
          <p:nvPr/>
        </p:nvSpPr>
        <p:spPr>
          <a:xfrm>
            <a:off x="1098550" y="3244850"/>
            <a:ext cx="4769485" cy="1901190"/>
          </a:xfrm>
          <a:prstGeom prst="rect">
            <a:avLst/>
          </a:prstGeom>
          <a:solidFill>
            <a:srgbClr val="FFFFFF">
              <a:alpha val="0"/>
            </a:srgbClr>
          </a:solidFill>
        </p:spPr>
        <p:txBody>
          <a:bodyPr wrap="square" lIns="0" tIns="0" rIns="0" bIns="0" rtlCol="0" anchor="t"/>
          <a:lstStyle/>
          <a:p>
            <a:pPr algn="ctr">
              <a:lnSpc>
                <a:spcPct val="125000"/>
              </a:lnSpc>
            </a:pPr>
            <a:r>
              <a:rPr lang="en-US" altLang="zh-CN" b="1" dirty="0">
                <a:latin typeface="Times New Roman Bold" panose="02020503050405090304" charset="0"/>
                <a:cs typeface="Times New Roman Bold" panose="02020503050405090304" charset="0"/>
              </a:rPr>
              <a:t>Whisper is an automatic speech recognition (ASR) </a:t>
            </a:r>
          </a:p>
        </p:txBody>
      </p:sp>
      <p:pic>
        <p:nvPicPr>
          <p:cNvPr id="14" name="Image 5"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8737" y="365570"/>
            <a:ext cx="489864" cy="687272"/>
          </a:xfrm>
          <a:prstGeom prst="rect">
            <a:avLst/>
          </a:prstGeom>
        </p:spPr>
      </p:pic>
      <p:sp>
        <p:nvSpPr>
          <p:cNvPr id="3" name="Text Box 2"/>
          <p:cNvSpPr txBox="1"/>
          <p:nvPr/>
        </p:nvSpPr>
        <p:spPr>
          <a:xfrm>
            <a:off x="1237470" y="2141810"/>
            <a:ext cx="6092841" cy="1196975"/>
          </a:xfrm>
          <a:prstGeom prst="rect">
            <a:avLst/>
          </a:prstGeom>
          <a:noFill/>
        </p:spPr>
        <p:txBody>
          <a:bodyPr wrap="square" rtlCol="0" anchor="t">
            <a:spAutoFit/>
          </a:bodyPr>
          <a:lstStyle/>
          <a:p>
            <a:r>
              <a:rPr lang="en-US" altLang="en-US" sz="1440">
                <a:latin typeface="Times New Roman Regular" panose="02020503050405090304" charset="0"/>
                <a:cs typeface="Times New Roman Regular" panose="02020503050405090304" charset="0"/>
                <a:sym typeface="+mn-ea"/>
              </a:rPr>
              <a:t>Zero-shot TTS</a:t>
            </a:r>
          </a:p>
          <a:p>
            <a:pPr marL="285750" indent="-285750">
              <a:buFont typeface="Arial" panose="020B0604020202090204" pitchFamily="34" charset="0"/>
              <a:buChar char="•"/>
            </a:pPr>
            <a:r>
              <a:rPr lang="en-US" altLang="zh-CN" sz="1440">
                <a:latin typeface="Times New Roman Regular" panose="02020503050405090304" charset="0"/>
                <a:ea typeface="宋体"/>
                <a:cs typeface="Times New Roman Regular" panose="02020503050405090304" charset="0"/>
                <a:sym typeface="+mn-ea"/>
              </a:rPr>
              <a:t>A 5-second voice</a:t>
            </a:r>
          </a:p>
          <a:p>
            <a:pPr marL="285750" indent="-285750">
              <a:buFont typeface="Arial" panose="020B0604020202090204" pitchFamily="34" charset="0"/>
              <a:buChar char="•"/>
            </a:pPr>
            <a:r>
              <a:rPr lang="en-US" altLang="zh-CN" sz="1440">
                <a:latin typeface="Times New Roman Regular" panose="02020503050405090304" charset="0"/>
                <a:ea typeface="宋体"/>
                <a:cs typeface="Times New Roman Regular" panose="02020503050405090304" charset="0"/>
                <a:sym typeface="+mn-ea"/>
              </a:rPr>
              <a:t>No need for retraining</a:t>
            </a:r>
            <a:endParaRPr lang="en-US" altLang="zh-CN" sz="1440">
              <a:latin typeface="Times New Roman Regular" panose="02020503050405090304" charset="0"/>
              <a:ea typeface="宋体"/>
              <a:cs typeface="Times New Roman Regular" panose="02020503050405090304" charset="0"/>
            </a:endParaRPr>
          </a:p>
          <a:p>
            <a:endParaRPr lang="en-US" altLang="zh-CN" sz="1440">
              <a:latin typeface="Times New Roman Regular" panose="02020503050405090304" charset="0"/>
              <a:ea typeface="宋体"/>
              <a:cs typeface="Times New Roman Regular" panose="02020503050405090304" charset="0"/>
            </a:endParaRPr>
          </a:p>
          <a:p>
            <a:endParaRPr lang="en-US" altLang="en-US" sz="1440">
              <a:latin typeface="Times New Roman Regular" panose="02020503050405090304" charset="0"/>
              <a:cs typeface="Times New Roman Regular" panose="02020503050405090304" charset="0"/>
              <a:sym typeface="+mn-ea"/>
            </a:endParaRPr>
          </a:p>
        </p:txBody>
      </p:sp>
      <p:sp>
        <p:nvSpPr>
          <p:cNvPr id="18" name="Text Box 17"/>
          <p:cNvSpPr txBox="1"/>
          <p:nvPr/>
        </p:nvSpPr>
        <p:spPr>
          <a:xfrm>
            <a:off x="1237626" y="4428104"/>
            <a:ext cx="4061894" cy="1055370"/>
          </a:xfrm>
          <a:prstGeom prst="rect">
            <a:avLst/>
          </a:prstGeom>
        </p:spPr>
        <p:txBody>
          <a:bodyPr>
            <a:spAutoFit/>
          </a:bodyPr>
          <a:lstStyle/>
          <a:p>
            <a:pPr marL="0" indent="0" algn="l" defTabSz="266700">
              <a:spcBef>
                <a:spcPts val="500"/>
              </a:spcBef>
              <a:spcAft>
                <a:spcPts val="500"/>
              </a:spcAft>
            </a:pPr>
            <a:r>
              <a:rPr lang="en-US" altLang="zh-CN" sz="1360">
                <a:latin typeface="Times New Roman" panose="02020503050405090304"/>
                <a:ea typeface="宋体"/>
              </a:rPr>
              <a:t>When the user provides a voice command, it is transcribed into text using </a:t>
            </a:r>
            <a:r>
              <a:rPr lang="en-US" altLang="zh-CN" sz="1280" b="1">
                <a:latin typeface="Times New Roman" panose="02020503050405090304"/>
                <a:ea typeface="宋体"/>
              </a:rPr>
              <a:t>Whisper</a:t>
            </a:r>
            <a:r>
              <a:rPr lang="en-US" altLang="zh-CN" sz="1360">
                <a:latin typeface="Times New Roman" panose="02020503050405090304"/>
                <a:ea typeface="宋体"/>
              </a:rPr>
              <a:t>.</a:t>
            </a:r>
          </a:p>
          <a:p>
            <a:pPr marL="0" indent="0" algn="l" defTabSz="266700">
              <a:spcBef>
                <a:spcPts val="500"/>
              </a:spcBef>
              <a:spcAft>
                <a:spcPts val="500"/>
              </a:spcAft>
            </a:pPr>
            <a:r>
              <a:rPr lang="en-US" altLang="zh-CN" sz="1360">
                <a:latin typeface="Times New Roman" panose="02020503050405090304"/>
                <a:ea typeface="宋体"/>
              </a:rPr>
              <a:t>The text is then input into the </a:t>
            </a:r>
            <a:r>
              <a:rPr lang="en-US" altLang="zh-CN" sz="1280" b="1">
                <a:latin typeface="Times New Roman" panose="02020503050405090304"/>
                <a:ea typeface="宋体"/>
              </a:rPr>
              <a:t>GPT-SoVITS</a:t>
            </a:r>
            <a:r>
              <a:rPr lang="en-US" altLang="zh-CN" sz="1360">
                <a:latin typeface="Times New Roman" panose="02020503050405090304"/>
                <a:ea typeface="宋体"/>
              </a:rPr>
              <a:t> model, which generates a corresponding voice response.</a:t>
            </a:r>
          </a:p>
        </p:txBody>
      </p:sp>
      <p:pic>
        <p:nvPicPr>
          <p:cNvPr id="13" name="Picture 12" descr="Screenshot 2024-11-25 at 00.11.43"/>
          <p:cNvPicPr>
            <a:picLocks noChangeAspect="1"/>
          </p:cNvPicPr>
          <p:nvPr/>
        </p:nvPicPr>
        <p:blipFill>
          <a:blip r:embed="rId7"/>
          <a:stretch>
            <a:fillRect/>
          </a:stretch>
        </p:blipFill>
        <p:spPr>
          <a:xfrm>
            <a:off x="6790055" y="-191770"/>
            <a:ext cx="5095875" cy="7239000"/>
          </a:xfrm>
          <a:prstGeom prst="rect">
            <a:avLst/>
          </a:prstGeom>
        </p:spPr>
      </p:pic>
      <p:sp>
        <p:nvSpPr>
          <p:cNvPr id="5" name="Text Box 4"/>
          <p:cNvSpPr txBox="1"/>
          <p:nvPr/>
        </p:nvSpPr>
        <p:spPr>
          <a:xfrm>
            <a:off x="11133455" y="6525260"/>
            <a:ext cx="4064000" cy="368300"/>
          </a:xfrm>
          <a:prstGeom prst="rect">
            <a:avLst/>
          </a:prstGeom>
          <a:noFill/>
        </p:spPr>
        <p:txBody>
          <a:bodyPr wrap="square" rtlCol="0">
            <a:spAutoFit/>
          </a:bodyPr>
          <a:lstStyle/>
          <a:p>
            <a:r>
              <a:rPr lang="en-US">
                <a:solidFill>
                  <a:schemeClr val="bg1"/>
                </a:solidFill>
                <a:latin typeface="Times New Roman Regular" panose="02020503050405090304" charset="0"/>
                <a:cs typeface="Times New Roman Regular" panose="02020503050405090304" charset="0"/>
              </a:rPr>
              <a:t>16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1237518" y="372882"/>
            <a:ext cx="10162858" cy="672650"/>
          </a:xfrm>
          <a:prstGeom prst="rect">
            <a:avLst/>
          </a:prstGeom>
          <a:solidFill>
            <a:srgbClr val="FFFFFF">
              <a:alpha val="0"/>
            </a:srgbClr>
          </a:solidFill>
        </p:spPr>
        <p:txBody>
          <a:bodyPr wrap="square" lIns="0" tIns="0" rIns="0" bIns="0" rtlCol="0" anchor="ctr"/>
          <a:lstStyle/>
          <a:p>
            <a:pPr>
              <a:lnSpc>
                <a:spcPct val="125000"/>
              </a:lnSpc>
            </a:pPr>
            <a:r>
              <a:rPr lang="en-US" sz="2880" b="1" dirty="0">
                <a:solidFill>
                  <a:srgbClr val="000000"/>
                </a:solidFill>
                <a:latin typeface="Times New Roman Regular" panose="02020503050405090304" charset="0"/>
                <a:ea typeface="HarmonyOS Sans" pitchFamily="34" charset="-122"/>
                <a:cs typeface="Times New Roman Regular" panose="02020503050405090304" charset="0"/>
              </a:rPr>
              <a:t>Future Work and Improvement Directions</a:t>
            </a:r>
          </a:p>
        </p:txBody>
      </p:sp>
      <p:sp>
        <p:nvSpPr>
          <p:cNvPr id="5" name="Text 2"/>
          <p:cNvSpPr/>
          <p:nvPr/>
        </p:nvSpPr>
        <p:spPr>
          <a:xfrm>
            <a:off x="1149781" y="1984844"/>
            <a:ext cx="3114660" cy="277834"/>
          </a:xfrm>
          <a:prstGeom prst="rect">
            <a:avLst/>
          </a:prstGeom>
          <a:solidFill>
            <a:srgbClr val="FFFFFF">
              <a:alpha val="0"/>
            </a:srgbClr>
          </a:solidFill>
        </p:spPr>
        <p:txBody>
          <a:bodyPr wrap="square" lIns="0" tIns="0" rIns="0" bIns="0" rtlCol="0" anchor="ctr"/>
          <a:lstStyle/>
          <a:p>
            <a:pPr algn="l">
              <a:lnSpc>
                <a:spcPct val="125000"/>
              </a:lnSpc>
            </a:pPr>
            <a:r>
              <a:rPr lang="en-US" sz="1440" b="1" dirty="0">
                <a:solidFill>
                  <a:srgbClr val="000000"/>
                </a:solidFill>
                <a:latin typeface="Times New Roman Regular" panose="02020503050405090304" charset="0"/>
                <a:ea typeface="HarmonyOS Sans" pitchFamily="34" charset="-122"/>
                <a:cs typeface="Times New Roman Regular" panose="02020503050405090304" charset="0"/>
              </a:rPr>
              <a:t>Image Deblurring Merge</a:t>
            </a:r>
          </a:p>
        </p:txBody>
      </p:sp>
      <p:sp>
        <p:nvSpPr>
          <p:cNvPr id="6" name="Text 3"/>
          <p:cNvSpPr/>
          <p:nvPr/>
        </p:nvSpPr>
        <p:spPr>
          <a:xfrm>
            <a:off x="1142267" y="2306648"/>
            <a:ext cx="3708509" cy="354908"/>
          </a:xfrm>
          <a:prstGeom prst="rect">
            <a:avLst/>
          </a:prstGeom>
          <a:solidFill>
            <a:srgbClr val="FFFFFF">
              <a:alpha val="0"/>
            </a:srgbClr>
          </a:solidFill>
        </p:spPr>
        <p:txBody>
          <a:bodyPr wrap="square" lIns="0" tIns="0" rIns="0" bIns="0" rtlCol="0" anchor="t"/>
          <a:lstStyle/>
          <a:p>
            <a:pPr algn="l">
              <a:lnSpc>
                <a:spcPct val="125000"/>
              </a:lnSpc>
            </a:pPr>
            <a:r>
              <a:rPr lang="en-US" sz="1200" dirty="0">
                <a:solidFill>
                  <a:srgbClr val="000000"/>
                </a:solidFill>
                <a:latin typeface="Times New Roman Regular" panose="02020503050405090304" charset="0"/>
                <a:ea typeface="HarmonyOS Sans" pitchFamily="34" charset="-122"/>
                <a:cs typeface="Times New Roman Regular" panose="02020503050405090304" charset="0"/>
              </a:rPr>
              <a:t>Merge the model into image tokenizer of VLM model.</a:t>
            </a:r>
          </a:p>
        </p:txBody>
      </p:sp>
      <p:sp>
        <p:nvSpPr>
          <p:cNvPr id="10" name="Text 4"/>
          <p:cNvSpPr/>
          <p:nvPr/>
        </p:nvSpPr>
        <p:spPr>
          <a:xfrm>
            <a:off x="1113224" y="2763509"/>
            <a:ext cx="3114660" cy="277834"/>
          </a:xfrm>
          <a:prstGeom prst="rect">
            <a:avLst/>
          </a:prstGeom>
          <a:solidFill>
            <a:srgbClr val="FFFFFF">
              <a:alpha val="0"/>
            </a:srgbClr>
          </a:solidFill>
        </p:spPr>
        <p:txBody>
          <a:bodyPr wrap="square" lIns="0" tIns="0" rIns="0" bIns="0" rtlCol="0" anchor="ctr"/>
          <a:lstStyle/>
          <a:p>
            <a:pPr algn="l">
              <a:lnSpc>
                <a:spcPct val="125000"/>
              </a:lnSpc>
            </a:pPr>
            <a:r>
              <a:rPr lang="en-US" sz="1440" b="1" dirty="0">
                <a:solidFill>
                  <a:srgbClr val="000000"/>
                </a:solidFill>
                <a:latin typeface="Times New Roman Regular" panose="02020503050405090304" charset="0"/>
                <a:ea typeface="HarmonyOS Sans" pitchFamily="34" charset="-122"/>
                <a:cs typeface="Times New Roman Regular" panose="02020503050405090304" charset="0"/>
              </a:rPr>
              <a:t>Increase modility</a:t>
            </a:r>
          </a:p>
        </p:txBody>
      </p:sp>
      <p:sp>
        <p:nvSpPr>
          <p:cNvPr id="13" name="Text 7"/>
          <p:cNvSpPr/>
          <p:nvPr/>
        </p:nvSpPr>
        <p:spPr>
          <a:xfrm>
            <a:off x="1113326" y="3085008"/>
            <a:ext cx="4782880" cy="339168"/>
          </a:xfrm>
          <a:prstGeom prst="rect">
            <a:avLst/>
          </a:prstGeom>
          <a:solidFill>
            <a:srgbClr val="FFFFFF">
              <a:alpha val="0"/>
            </a:srgbClr>
          </a:solidFill>
        </p:spPr>
        <p:txBody>
          <a:bodyPr wrap="square" lIns="0" tIns="0" rIns="0" bIns="0" rtlCol="0" anchor="t"/>
          <a:lstStyle/>
          <a:p>
            <a:pPr algn="l">
              <a:lnSpc>
                <a:spcPct val="125000"/>
              </a:lnSpc>
            </a:pPr>
            <a:r>
              <a:rPr lang="en-US" sz="1200" dirty="0">
                <a:solidFill>
                  <a:srgbClr val="000000"/>
                </a:solidFill>
                <a:latin typeface="Times New Roman Regular" panose="02020503050405090304" charset="0"/>
                <a:ea typeface="HarmonyOS Sans" pitchFamily="34" charset="-122"/>
                <a:cs typeface="Times New Roman Regular" panose="02020503050405090304" charset="0"/>
              </a:rPr>
              <a:t>Combine voice feature into VLM. Make it voice in and voice out.</a:t>
            </a:r>
          </a:p>
        </p:txBody>
      </p:sp>
      <p:pic>
        <p:nvPicPr>
          <p:cNvPr id="17" name="Image 4"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8737" y="365570"/>
            <a:ext cx="489864" cy="687272"/>
          </a:xfrm>
          <a:prstGeom prst="rect">
            <a:avLst/>
          </a:prstGeom>
        </p:spPr>
      </p:pic>
      <p:sp>
        <p:nvSpPr>
          <p:cNvPr id="2" name="矩形 1"/>
          <p:cNvSpPr/>
          <p:nvPr/>
        </p:nvSpPr>
        <p:spPr>
          <a:xfrm>
            <a:off x="440026" y="1275344"/>
            <a:ext cx="2536825" cy="460375"/>
          </a:xfrm>
          <a:prstGeom prst="rect">
            <a:avLst/>
          </a:prstGeom>
        </p:spPr>
        <p:txBody>
          <a:bodyPr wrap="none">
            <a:spAutoFit/>
          </a:bodyPr>
          <a:lstStyle/>
          <a:p>
            <a:pPr>
              <a:lnSpc>
                <a:spcPct val="125000"/>
              </a:lnSpc>
            </a:pPr>
            <a:r>
              <a:rPr lang="en-US" altLang="zh-CN" sz="1920" b="1" dirty="0">
                <a:solidFill>
                  <a:srgbClr val="000000"/>
                </a:solidFill>
                <a:latin typeface="Times New Roman Regular" panose="02020503050405090304" charset="0"/>
                <a:ea typeface="HarmonyOS Sans" pitchFamily="34" charset="-122"/>
                <a:cs typeface="Times New Roman Regular" panose="02020503050405090304" charset="0"/>
              </a:rPr>
              <a:t>System Optimization</a:t>
            </a:r>
          </a:p>
        </p:txBody>
      </p:sp>
      <p:sp>
        <p:nvSpPr>
          <p:cNvPr id="18" name="矩形 17"/>
          <p:cNvSpPr/>
          <p:nvPr/>
        </p:nvSpPr>
        <p:spPr>
          <a:xfrm>
            <a:off x="440025" y="3760959"/>
            <a:ext cx="2439670" cy="460375"/>
          </a:xfrm>
          <a:prstGeom prst="rect">
            <a:avLst/>
          </a:prstGeom>
        </p:spPr>
        <p:txBody>
          <a:bodyPr wrap="none">
            <a:spAutoFit/>
          </a:bodyPr>
          <a:lstStyle/>
          <a:p>
            <a:pPr>
              <a:lnSpc>
                <a:spcPct val="125000"/>
              </a:lnSpc>
            </a:pPr>
            <a:r>
              <a:rPr lang="en-US" altLang="zh-CN" sz="1920" b="1" dirty="0">
                <a:solidFill>
                  <a:srgbClr val="000000"/>
                </a:solidFill>
                <a:latin typeface="Times New Roman Regular" panose="02020503050405090304" charset="0"/>
                <a:ea typeface="HarmonyOS Sans" pitchFamily="34" charset="-122"/>
                <a:cs typeface="Times New Roman Regular" panose="02020503050405090304" charset="0"/>
              </a:rPr>
              <a:t>Expanding Features</a:t>
            </a:r>
          </a:p>
        </p:txBody>
      </p:sp>
      <p:sp>
        <p:nvSpPr>
          <p:cNvPr id="19" name="Text 2"/>
          <p:cNvSpPr/>
          <p:nvPr/>
        </p:nvSpPr>
        <p:spPr>
          <a:xfrm>
            <a:off x="1193650" y="4281135"/>
            <a:ext cx="3114660" cy="277834"/>
          </a:xfrm>
          <a:prstGeom prst="rect">
            <a:avLst/>
          </a:prstGeom>
          <a:solidFill>
            <a:srgbClr val="FFFFFF">
              <a:alpha val="0"/>
            </a:srgbClr>
          </a:solidFill>
        </p:spPr>
        <p:txBody>
          <a:bodyPr wrap="square" lIns="0" tIns="0" rIns="0" bIns="0" rtlCol="0" anchor="ctr"/>
          <a:lstStyle/>
          <a:p>
            <a:pPr>
              <a:lnSpc>
                <a:spcPct val="125000"/>
              </a:lnSpc>
            </a:pPr>
            <a:r>
              <a:rPr lang="en-US" sz="1440" b="1" dirty="0">
                <a:solidFill>
                  <a:srgbClr val="000000"/>
                </a:solidFill>
                <a:latin typeface="Times New Roman Regular" panose="02020503050405090304" charset="0"/>
                <a:ea typeface="HarmonyOS Sans" pitchFamily="34" charset="-122"/>
                <a:cs typeface="Times New Roman Regular" panose="02020503050405090304" charset="0"/>
              </a:rPr>
              <a:t>Expand Application Scenarios</a:t>
            </a:r>
          </a:p>
        </p:txBody>
      </p:sp>
      <p:sp>
        <p:nvSpPr>
          <p:cNvPr id="20" name="Text 3"/>
          <p:cNvSpPr/>
          <p:nvPr/>
        </p:nvSpPr>
        <p:spPr>
          <a:xfrm>
            <a:off x="1186338" y="4602837"/>
            <a:ext cx="8320383" cy="198769"/>
          </a:xfrm>
          <a:prstGeom prst="rect">
            <a:avLst/>
          </a:prstGeom>
          <a:solidFill>
            <a:srgbClr val="FFFFFF">
              <a:alpha val="0"/>
            </a:srgbClr>
          </a:solidFill>
        </p:spPr>
        <p:txBody>
          <a:bodyPr wrap="square" lIns="0" tIns="0" rIns="0" bIns="0" rtlCol="0" anchor="t"/>
          <a:lstStyle/>
          <a:p>
            <a:pPr>
              <a:lnSpc>
                <a:spcPct val="125000"/>
              </a:lnSpc>
            </a:pPr>
            <a:r>
              <a:rPr lang="en-US" sz="1200" dirty="0">
                <a:solidFill>
                  <a:srgbClr val="000000"/>
                </a:solidFill>
                <a:latin typeface="Times New Roman Regular" panose="02020503050405090304" charset="0"/>
                <a:ea typeface="HarmonyOS Sans" pitchFamily="34" charset="-122"/>
                <a:cs typeface="Times New Roman Regular" panose="02020503050405090304" charset="0"/>
              </a:rPr>
              <a:t>Explore applying the system in more daily life scenarios, such as traffic guidance, indoor navigation, etc.</a:t>
            </a:r>
          </a:p>
        </p:txBody>
      </p:sp>
      <p:sp>
        <p:nvSpPr>
          <p:cNvPr id="21" name="Text 4"/>
          <p:cNvSpPr/>
          <p:nvPr/>
        </p:nvSpPr>
        <p:spPr>
          <a:xfrm>
            <a:off x="1157093" y="5059800"/>
            <a:ext cx="3114660" cy="277834"/>
          </a:xfrm>
          <a:prstGeom prst="rect">
            <a:avLst/>
          </a:prstGeom>
          <a:solidFill>
            <a:srgbClr val="FFFFFF">
              <a:alpha val="0"/>
            </a:srgbClr>
          </a:solidFill>
        </p:spPr>
        <p:txBody>
          <a:bodyPr wrap="square" lIns="0" tIns="0" rIns="0" bIns="0" rtlCol="0" anchor="ctr"/>
          <a:lstStyle/>
          <a:p>
            <a:pPr>
              <a:lnSpc>
                <a:spcPct val="125000"/>
              </a:lnSpc>
            </a:pPr>
            <a:r>
              <a:rPr lang="en-US" sz="1440" b="1" dirty="0">
                <a:solidFill>
                  <a:srgbClr val="000000"/>
                </a:solidFill>
                <a:latin typeface="Times New Roman Regular" panose="02020503050405090304" charset="0"/>
                <a:ea typeface="HarmonyOS Sans" pitchFamily="34" charset="-122"/>
                <a:cs typeface="Times New Roman Regular" panose="02020503050405090304" charset="0"/>
              </a:rPr>
              <a:t>Smart Adaptation</a:t>
            </a:r>
          </a:p>
        </p:txBody>
      </p:sp>
      <p:sp>
        <p:nvSpPr>
          <p:cNvPr id="22" name="Text 7"/>
          <p:cNvSpPr/>
          <p:nvPr/>
        </p:nvSpPr>
        <p:spPr>
          <a:xfrm>
            <a:off x="1157093" y="5381502"/>
            <a:ext cx="9144745" cy="394816"/>
          </a:xfrm>
          <a:prstGeom prst="rect">
            <a:avLst/>
          </a:prstGeom>
          <a:solidFill>
            <a:srgbClr val="FFFFFF">
              <a:alpha val="0"/>
            </a:srgbClr>
          </a:solidFill>
        </p:spPr>
        <p:txBody>
          <a:bodyPr wrap="square" lIns="0" tIns="0" rIns="0" bIns="0" rtlCol="0" anchor="t"/>
          <a:lstStyle/>
          <a:p>
            <a:pPr>
              <a:lnSpc>
                <a:spcPct val="125000"/>
              </a:lnSpc>
            </a:pPr>
            <a:r>
              <a:rPr lang="en-US" sz="1200" dirty="0">
                <a:solidFill>
                  <a:srgbClr val="000000"/>
                </a:solidFill>
                <a:latin typeface="Times New Roman Regular" panose="02020503050405090304" charset="0"/>
                <a:ea typeface="HarmonyOS Sans" pitchFamily="34" charset="-122"/>
                <a:cs typeface="Times New Roman Regular" panose="02020503050405090304" charset="0"/>
              </a:rPr>
              <a:t>Optimize the system's adaptability in dynamic environments like  streets, and other complex backgrounds.</a:t>
            </a:r>
          </a:p>
        </p:txBody>
      </p:sp>
      <p:sp>
        <p:nvSpPr>
          <p:cNvPr id="29" name="Text Box 28"/>
          <p:cNvSpPr txBox="1"/>
          <p:nvPr/>
        </p:nvSpPr>
        <p:spPr>
          <a:xfrm>
            <a:off x="10891827" y="6259378"/>
            <a:ext cx="4062909" cy="312420"/>
          </a:xfrm>
          <a:prstGeom prst="rect">
            <a:avLst/>
          </a:prstGeom>
          <a:noFill/>
        </p:spPr>
        <p:txBody>
          <a:bodyPr wrap="square" rtlCol="0">
            <a:spAutoFit/>
          </a:bodyPr>
          <a:lstStyle/>
          <a:p>
            <a:r>
              <a:rPr lang="en-US" sz="1440">
                <a:latin typeface="Times New Roman Regular" panose="02020503050405090304" charset="0"/>
                <a:cs typeface="Times New Roman Regular" panose="02020503050405090304" charset="0"/>
              </a:rPr>
              <a:t>17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4"/>
          <p:cNvSpPr/>
          <p:nvPr/>
        </p:nvSpPr>
        <p:spPr>
          <a:xfrm>
            <a:off x="1237518" y="372882"/>
            <a:ext cx="10433380" cy="672650"/>
          </a:xfrm>
          <a:prstGeom prst="rect">
            <a:avLst/>
          </a:prstGeom>
          <a:solidFill>
            <a:srgbClr val="FFFFFF">
              <a:alpha val="0"/>
            </a:srgbClr>
          </a:solidFill>
        </p:spPr>
        <p:txBody>
          <a:bodyPr wrap="square" lIns="0" tIns="0" rIns="0" bIns="0" rtlCol="0" anchor="ctr"/>
          <a:lstStyle/>
          <a:p>
            <a:pPr algn="l">
              <a:lnSpc>
                <a:spcPct val="125000"/>
              </a:lnSpc>
            </a:pPr>
            <a:r>
              <a:rPr lang="en-US" sz="2000" b="1" dirty="0">
                <a:solidFill>
                  <a:srgbClr val="000000"/>
                </a:solidFill>
                <a:latin typeface="Times New Roman Regular" panose="02020503050405090304" charset="0"/>
                <a:ea typeface="HarmonyOS Sans" pitchFamily="34" charset="-122"/>
                <a:cs typeface="Times New Roman Regular" panose="02020503050405090304" charset="0"/>
              </a:rPr>
              <a:t>Conclusion</a:t>
            </a:r>
          </a:p>
        </p:txBody>
      </p:sp>
      <p:pic>
        <p:nvPicPr>
          <p:cNvPr id="13"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8737" y="365570"/>
            <a:ext cx="489864" cy="687272"/>
          </a:xfrm>
          <a:prstGeom prst="rect">
            <a:avLst/>
          </a:prstGeom>
        </p:spPr>
      </p:pic>
      <p:sp>
        <p:nvSpPr>
          <p:cNvPr id="20" name="Text 7"/>
          <p:cNvSpPr/>
          <p:nvPr/>
        </p:nvSpPr>
        <p:spPr>
          <a:xfrm>
            <a:off x="877523" y="1456021"/>
            <a:ext cx="9677041" cy="339090"/>
          </a:xfrm>
          <a:prstGeom prst="rect">
            <a:avLst/>
          </a:prstGeom>
          <a:solidFill>
            <a:srgbClr val="FFFFFF">
              <a:alpha val="0"/>
            </a:srgbClr>
          </a:solidFill>
        </p:spPr>
        <p:txBody>
          <a:bodyPr wrap="square" lIns="0" tIns="0" rIns="0" bIns="0" rtlCol="0" anchor="t"/>
          <a:lstStyle/>
          <a:p>
            <a:pPr algn="l"/>
            <a:r>
              <a:rPr lang="en-GB" sz="2000" b="1" i="0" dirty="0">
                <a:solidFill>
                  <a:srgbClr val="0D0D0D"/>
                </a:solidFill>
                <a:effectLst/>
                <a:latin typeface="Times New Roman" panose="02020603050405020304" pitchFamily="18" charset="0"/>
                <a:cs typeface="Times New Roman" panose="02020603050405020304" pitchFamily="18" charset="0"/>
              </a:rPr>
              <a:t>Key Features</a:t>
            </a:r>
          </a:p>
          <a:p>
            <a:pPr algn="l">
              <a:buFont typeface="Arial" panose="020B0604020202020204" pitchFamily="34" charset="0"/>
              <a:buChar char="•"/>
            </a:pPr>
            <a:r>
              <a:rPr lang="en-GB" sz="2000" b="1" i="0" dirty="0">
                <a:solidFill>
                  <a:srgbClr val="0D0D0D"/>
                </a:solidFill>
                <a:effectLst/>
                <a:latin typeface="Times New Roman" panose="02020603050405020304" pitchFamily="18" charset="0"/>
                <a:cs typeface="Times New Roman" panose="02020603050405020304" pitchFamily="18" charset="0"/>
              </a:rPr>
              <a:t>Image Analysis</a:t>
            </a:r>
            <a:r>
              <a:rPr lang="en-GB" sz="2000" b="0" i="0" dirty="0">
                <a:solidFill>
                  <a:srgbClr val="0D0D0D"/>
                </a:solidFill>
                <a:effectLst/>
                <a:latin typeface="Times New Roman" panose="02020603050405020304" pitchFamily="18" charset="0"/>
                <a:cs typeface="Times New Roman" panose="02020603050405020304" pitchFamily="18" charset="0"/>
              </a:rPr>
              <a:t>: Accurately recognize image content.</a:t>
            </a:r>
          </a:p>
          <a:p>
            <a:pPr algn="l">
              <a:buFont typeface="Arial" panose="020B0604020202020204" pitchFamily="34" charset="0"/>
              <a:buChar char="•"/>
            </a:pPr>
            <a:r>
              <a:rPr lang="en-GB" sz="2000" b="1" i="0" dirty="0">
                <a:solidFill>
                  <a:srgbClr val="0D0D0D"/>
                </a:solidFill>
                <a:effectLst/>
                <a:latin typeface="Times New Roman" panose="02020603050405020304" pitchFamily="18" charset="0"/>
                <a:cs typeface="Times New Roman" panose="02020603050405020304" pitchFamily="18" charset="0"/>
              </a:rPr>
              <a:t>Natural Language Generation</a:t>
            </a:r>
            <a:r>
              <a:rPr lang="en-GB" sz="2000" b="0" i="0" dirty="0">
                <a:solidFill>
                  <a:srgbClr val="0D0D0D"/>
                </a:solidFill>
                <a:effectLst/>
                <a:latin typeface="Times New Roman" panose="02020603050405020304" pitchFamily="18" charset="0"/>
                <a:cs typeface="Times New Roman" panose="02020603050405020304" pitchFamily="18" charset="0"/>
              </a:rPr>
              <a:t>: Generate context-appropriate answers.</a:t>
            </a:r>
          </a:p>
          <a:p>
            <a:pPr algn="l">
              <a:buFont typeface="Arial" panose="020B0604020202020204" pitchFamily="34" charset="0"/>
              <a:buChar char="•"/>
            </a:pPr>
            <a:r>
              <a:rPr lang="en-GB" sz="2000" b="1" i="0" dirty="0">
                <a:solidFill>
                  <a:srgbClr val="0D0D0D"/>
                </a:solidFill>
                <a:effectLst/>
                <a:latin typeface="Times New Roman" panose="02020603050405020304" pitchFamily="18" charset="0"/>
                <a:cs typeface="Times New Roman" panose="02020603050405020304" pitchFamily="18" charset="0"/>
              </a:rPr>
              <a:t>Voice Output</a:t>
            </a:r>
            <a:r>
              <a:rPr lang="en-GB" sz="2000" b="0" i="0" dirty="0">
                <a:solidFill>
                  <a:srgbClr val="0D0D0D"/>
                </a:solidFill>
                <a:effectLst/>
                <a:latin typeface="Times New Roman" panose="02020603050405020304" pitchFamily="18" charset="0"/>
                <a:cs typeface="Times New Roman" panose="02020603050405020304" pitchFamily="18" charset="0"/>
              </a:rPr>
              <a:t>: Deliver information through voice.</a:t>
            </a:r>
          </a:p>
        </p:txBody>
      </p:sp>
      <p:sp>
        <p:nvSpPr>
          <p:cNvPr id="29" name="Text Box 28"/>
          <p:cNvSpPr txBox="1"/>
          <p:nvPr/>
        </p:nvSpPr>
        <p:spPr>
          <a:xfrm>
            <a:off x="10734937" y="5727778"/>
            <a:ext cx="4062909" cy="312420"/>
          </a:xfrm>
          <a:prstGeom prst="rect">
            <a:avLst/>
          </a:prstGeom>
          <a:noFill/>
        </p:spPr>
        <p:txBody>
          <a:bodyPr wrap="square" rtlCol="0">
            <a:spAutoFit/>
          </a:bodyPr>
          <a:lstStyle/>
          <a:p>
            <a:r>
              <a:rPr lang="en-US" sz="1440"/>
              <a:t>18</a:t>
            </a:r>
          </a:p>
        </p:txBody>
      </p:sp>
      <p:sp>
        <p:nvSpPr>
          <p:cNvPr id="2" name="TextBox 1">
            <a:extLst>
              <a:ext uri="{FF2B5EF4-FFF2-40B4-BE49-F238E27FC236}">
                <a16:creationId xmlns:a16="http://schemas.microsoft.com/office/drawing/2014/main" id="{503BB50B-A2AE-679A-AD8B-33A1EE1E815B}"/>
              </a:ext>
            </a:extLst>
          </p:cNvPr>
          <p:cNvSpPr txBox="1"/>
          <p:nvPr/>
        </p:nvSpPr>
        <p:spPr>
          <a:xfrm>
            <a:off x="840872" y="3739451"/>
            <a:ext cx="10510256" cy="1323439"/>
          </a:xfrm>
          <a:prstGeom prst="rect">
            <a:avLst/>
          </a:prstGeom>
          <a:noFill/>
        </p:spPr>
        <p:txBody>
          <a:bodyPr wrap="square" rtlCol="0">
            <a:spAutoFit/>
          </a:bodyPr>
          <a:lstStyle/>
          <a:p>
            <a:pPr algn="l"/>
            <a:r>
              <a:rPr lang="en-GB" sz="2000" b="1" i="0" dirty="0">
                <a:solidFill>
                  <a:srgbClr val="0D0D0D"/>
                </a:solidFill>
                <a:effectLst/>
                <a:latin typeface="Times New Roman" panose="02020603050405020304" pitchFamily="18" charset="0"/>
                <a:cs typeface="Times New Roman" panose="02020603050405020304" pitchFamily="18" charset="0"/>
              </a:rPr>
              <a:t>Problem Solved</a:t>
            </a:r>
          </a:p>
          <a:p>
            <a:pPr algn="l"/>
            <a:r>
              <a:rPr lang="en-GB" sz="2000" b="0" i="0" dirty="0">
                <a:solidFill>
                  <a:srgbClr val="0D0D0D"/>
                </a:solidFill>
                <a:effectLst/>
                <a:latin typeface="Times New Roman" panose="02020603050405020304" pitchFamily="18" charset="0"/>
                <a:cs typeface="Times New Roman" panose="02020603050405020304" pitchFamily="18" charset="0"/>
              </a:rPr>
              <a:t>Provide an accessible information interaction solution for visually impaired users facing difficulties in accessing information.</a:t>
            </a:r>
          </a:p>
          <a:p>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707136" y="390450"/>
            <a:ext cx="4062909" cy="435610"/>
          </a:xfrm>
          <a:prstGeom prst="rect">
            <a:avLst/>
          </a:prstGeom>
          <a:noFill/>
        </p:spPr>
        <p:txBody>
          <a:bodyPr wrap="square" rtlCol="0">
            <a:spAutoFit/>
          </a:bodyPr>
          <a:lstStyle/>
          <a:p>
            <a:r>
              <a:rPr lang="en-US" sz="2240">
                <a:latin typeface="Times New Roman Regular" panose="02020503050405090304" charset="0"/>
                <a:cs typeface="Times New Roman Regular" panose="02020503050405090304" charset="0"/>
              </a:rPr>
              <a:t>Reference</a:t>
            </a:r>
          </a:p>
        </p:txBody>
      </p:sp>
      <p:sp>
        <p:nvSpPr>
          <p:cNvPr id="3" name="Text Box 2"/>
          <p:cNvSpPr txBox="1"/>
          <p:nvPr/>
        </p:nvSpPr>
        <p:spPr>
          <a:xfrm>
            <a:off x="707390" y="1224280"/>
            <a:ext cx="10692765" cy="3784600"/>
          </a:xfrm>
          <a:prstGeom prst="rect">
            <a:avLst/>
          </a:prstGeom>
        </p:spPr>
        <p:txBody>
          <a:bodyPr wrap="square">
            <a:spAutoFit/>
          </a:bodyPr>
          <a:lstStyle/>
          <a:p>
            <a:pPr marL="0" indent="0" algn="just" defTabSz="266700">
              <a:spcBef>
                <a:spcPct val="0"/>
              </a:spcBef>
              <a:spcAft>
                <a:spcPct val="0"/>
              </a:spcAft>
            </a:pPr>
            <a:r>
              <a:rPr lang="en-US" altLang="zh-CN" sz="1600">
                <a:latin typeface="Times New Roman" panose="02020503050405090304"/>
                <a:ea typeface="等线"/>
              </a:rPr>
              <a:t>[1] Flaxman, Seth R., et al. "Global causes of blindness and distance vision impairment 1990–2020: a systematic review and meta-analysis." The Lancet Global Health 5.12 (2017): e1221-e1234.</a:t>
            </a:r>
          </a:p>
          <a:p>
            <a:pPr marL="0" indent="0" algn="just" defTabSz="266700">
              <a:spcBef>
                <a:spcPct val="0"/>
              </a:spcBef>
              <a:spcAft>
                <a:spcPct val="0"/>
              </a:spcAft>
            </a:pPr>
            <a:r>
              <a:rPr lang="en-US" altLang="zh-CN" sz="1600">
                <a:latin typeface="Times New Roman" panose="02020503050405090304"/>
                <a:ea typeface="等线"/>
              </a:rPr>
              <a:t>[2] Bourne, Rupert RA, et al. "Magnitude, temporal trends, and projections of the global prevalence of blindness and distance and near vision impairment: a systematic review and meta-analysis." The Lancet Global Health 5.9 (2017): e888-e897.</a:t>
            </a:r>
          </a:p>
          <a:p>
            <a:pPr marL="0" indent="0" algn="just" defTabSz="266700">
              <a:spcBef>
                <a:spcPct val="0"/>
              </a:spcBef>
              <a:spcAft>
                <a:spcPct val="0"/>
              </a:spcAft>
            </a:pPr>
            <a:r>
              <a:rPr lang="en-US" altLang="zh-CN" sz="1600">
                <a:latin typeface="Times New Roman" panose="02020503050405090304"/>
                <a:ea typeface="等线"/>
              </a:rPr>
              <a:t>[3] Akhil, S. "An overview of tesseract OCR engine." A seminar report. Department of Computer Science and Engineering National Institute of Technology, Calicut Monsoon. 2016.</a:t>
            </a:r>
          </a:p>
          <a:p>
            <a:pPr marL="0" indent="0" algn="just" defTabSz="266700">
              <a:spcBef>
                <a:spcPct val="0"/>
              </a:spcBef>
              <a:spcAft>
                <a:spcPct val="0"/>
              </a:spcAft>
            </a:pPr>
            <a:r>
              <a:rPr lang="en-US" altLang="zh-CN" sz="1600">
                <a:latin typeface="Times New Roman" panose="02020503050405090304"/>
                <a:ea typeface="等线"/>
              </a:rPr>
              <a:t>[4] Partanen, Niko. "Challenges in ocr today: Report on experiences from INEL." Электронная Письменность Народов Российской Федерации: Опыт, Проблемы И Перспективы. 2017.</a:t>
            </a:r>
          </a:p>
          <a:p>
            <a:pPr marL="0" indent="0" algn="just" defTabSz="266700">
              <a:spcBef>
                <a:spcPct val="0"/>
              </a:spcBef>
              <a:spcAft>
                <a:spcPct val="0"/>
              </a:spcAft>
            </a:pPr>
            <a:r>
              <a:rPr lang="en-US" altLang="zh-CN" sz="1600">
                <a:latin typeface="Times New Roman" panose="02020503050405090304"/>
                <a:ea typeface="等线"/>
              </a:rPr>
              <a:t>[5] Oucheikh, Rachid, Tobias Pettersson, and Tuwe Löfström. "Product verification using OCR classification and Mondrian conformal prediction." Expert systems with applications 188 (2022): 115942.</a:t>
            </a:r>
          </a:p>
          <a:p>
            <a:pPr marL="0" indent="0" algn="just" defTabSz="266700">
              <a:spcBef>
                <a:spcPct val="0"/>
              </a:spcBef>
              <a:spcAft>
                <a:spcPct val="0"/>
              </a:spcAft>
            </a:pPr>
            <a:r>
              <a:rPr lang="en-US" altLang="zh-CN" sz="1600">
                <a:latin typeface="Times New Roman" panose="02020503050405090304"/>
                <a:ea typeface="等线"/>
              </a:rPr>
              <a:t>[6] Benedikt, Lanthao, et al. "Optical character recognition and machine learning classification of shopping receipts." Statistics Netherlands, The Netherlands; office for national statistics, United Kingdom; statistics Austria, Austria (2020): 58.</a:t>
            </a:r>
          </a:p>
          <a:p>
            <a:pPr marL="0" indent="0" algn="just" defTabSz="266700">
              <a:spcBef>
                <a:spcPct val="0"/>
              </a:spcBef>
              <a:spcAft>
                <a:spcPct val="0"/>
              </a:spcAft>
            </a:pPr>
            <a:r>
              <a:rPr lang="en-US" altLang="zh-CN" sz="1600">
                <a:latin typeface="Times New Roman" panose="02020503050405090304"/>
                <a:ea typeface="等线"/>
              </a:rPr>
              <a:t>[7] Brown, Tom B. "Language models are few-shot learners." arXiv preprint arXiv:2005.14165 (2020).</a:t>
            </a:r>
          </a:p>
          <a:p>
            <a:pPr marL="0" indent="0" algn="just" defTabSz="266700">
              <a:spcBef>
                <a:spcPct val="0"/>
              </a:spcBef>
              <a:spcAft>
                <a:spcPct val="0"/>
              </a:spcAft>
            </a:pPr>
            <a:r>
              <a:rPr lang="en-US" altLang="zh-CN" sz="1600">
                <a:latin typeface="Times New Roman" panose="02020503050405090304"/>
                <a:ea typeface="等线"/>
              </a:rPr>
              <a:t>[8] Saeki, Takaaki, Shinnosuke Takamichi, and Hiroshi Saruwatari. "Incremental text-to-speech synthesis using pseudo lookahead with large pretrained language model." IEEE Signal Processing Letters 28 (2021): 857-861.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4623435" y="3029585"/>
            <a:ext cx="4064000" cy="798830"/>
          </a:xfrm>
          <a:prstGeom prst="rect">
            <a:avLst/>
          </a:prstGeom>
          <a:noFill/>
        </p:spPr>
        <p:txBody>
          <a:bodyPr wrap="square" rtlCol="0">
            <a:spAutoFit/>
          </a:bodyPr>
          <a:lstStyle/>
          <a:p>
            <a:r>
              <a:rPr lang="en-US" sz="2800">
                <a:latin typeface="Times New Roman Regular" panose="02020503050405090304" charset="0"/>
                <a:cs typeface="Times New Roman Regular" panose="02020503050405090304" charset="0"/>
              </a:rPr>
              <a:t>Addtional Slides</a:t>
            </a:r>
            <a:endParaRPr lang="en-US"/>
          </a:p>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58775" y="320040"/>
            <a:ext cx="7199630" cy="521970"/>
          </a:xfrm>
          <a:prstGeom prst="rect">
            <a:avLst/>
          </a:prstGeom>
        </p:spPr>
        <p:txBody>
          <a:bodyPr wrap="square">
            <a:spAutoFit/>
          </a:bodyPr>
          <a:lstStyle/>
          <a:p>
            <a:pPr marL="0" indent="0" algn="l">
              <a:spcAft>
                <a:spcPct val="60000"/>
              </a:spcAft>
            </a:pPr>
            <a:r>
              <a:rPr lang="en-US" altLang="zh-CN" sz="2800" b="1" i="0">
                <a:solidFill>
                  <a:schemeClr val="tx1"/>
                </a:solidFill>
                <a:latin typeface="Times New Roman Bold" panose="02020503050405090304" charset="0"/>
                <a:ea typeface="ui-sans-serif"/>
                <a:cs typeface="Times New Roman Bold" panose="02020503050405090304" charset="0"/>
              </a:rPr>
              <a:t>Dataset for the Comparison Task</a:t>
            </a:r>
          </a:p>
        </p:txBody>
      </p:sp>
      <p:pic>
        <p:nvPicPr>
          <p:cNvPr id="3" name="Picture 2" descr="Screenshot 2024-11-29 at 18.52.30"/>
          <p:cNvPicPr>
            <a:picLocks noChangeAspect="1"/>
          </p:cNvPicPr>
          <p:nvPr/>
        </p:nvPicPr>
        <p:blipFill>
          <a:blip r:embed="rId3"/>
          <a:stretch>
            <a:fillRect/>
          </a:stretch>
        </p:blipFill>
        <p:spPr>
          <a:xfrm>
            <a:off x="534670" y="4375150"/>
            <a:ext cx="8423275" cy="1739900"/>
          </a:xfrm>
          <a:prstGeom prst="rect">
            <a:avLst/>
          </a:prstGeom>
        </p:spPr>
      </p:pic>
      <p:sp>
        <p:nvSpPr>
          <p:cNvPr id="4" name="Text Box 3"/>
          <p:cNvSpPr txBox="1"/>
          <p:nvPr/>
        </p:nvSpPr>
        <p:spPr>
          <a:xfrm>
            <a:off x="534670" y="1290955"/>
            <a:ext cx="4064000" cy="398780"/>
          </a:xfrm>
          <a:prstGeom prst="rect">
            <a:avLst/>
          </a:prstGeom>
          <a:noFill/>
        </p:spPr>
        <p:txBody>
          <a:bodyPr wrap="square" rtlCol="0">
            <a:spAutoFit/>
          </a:bodyPr>
          <a:lstStyle/>
          <a:p>
            <a:r>
              <a:rPr lang="en-US" altLang="en-US" sz="2000">
                <a:latin typeface="Times New Roman Regular" panose="02020503050405090304" charset="0"/>
                <a:cs typeface="Times New Roman Regular" panose="02020503050405090304" charset="0"/>
              </a:rPr>
              <a:t>Data Augmentation</a:t>
            </a:r>
          </a:p>
        </p:txBody>
      </p:sp>
      <p:sp>
        <p:nvSpPr>
          <p:cNvPr id="5" name="Text Box 4"/>
          <p:cNvSpPr txBox="1"/>
          <p:nvPr/>
        </p:nvSpPr>
        <p:spPr>
          <a:xfrm>
            <a:off x="534670" y="1872615"/>
            <a:ext cx="4064000" cy="2673350"/>
          </a:xfrm>
          <a:prstGeom prst="rect">
            <a:avLst/>
          </a:prstGeom>
          <a:noFill/>
        </p:spPr>
        <p:txBody>
          <a:bodyPr wrap="square" rtlCol="0">
            <a:spAutoFit/>
          </a:bodyPr>
          <a:lstStyle/>
          <a:p>
            <a:pPr marL="0" indent="0" algn="l">
              <a:spcAft>
                <a:spcPct val="60000"/>
              </a:spcAft>
            </a:pPr>
            <a:r>
              <a:rPr lang="en-US" altLang="en-US">
                <a:latin typeface="Times New Roman Regular" panose="02020503050405090304" charset="0"/>
                <a:ea typeface="ui-sans-serif"/>
                <a:cs typeface="Times New Roman Regular" panose="02020503050405090304" charset="0"/>
                <a:sym typeface="+mn-ea"/>
              </a:rPr>
              <a:t>Horizontal Flip</a:t>
            </a:r>
            <a:endParaRPr lang="en-US" altLang="en-US" b="0" i="0">
              <a:solidFill>
                <a:schemeClr val="tx1"/>
              </a:solidFill>
              <a:latin typeface="Times New Roman Regular" panose="02020503050405090304" charset="0"/>
              <a:ea typeface="ui-sans-serif"/>
              <a:cs typeface="Times New Roman Regular" panose="02020503050405090304" charset="0"/>
            </a:endParaRPr>
          </a:p>
          <a:p>
            <a:pPr marL="0" indent="0" algn="l">
              <a:spcAft>
                <a:spcPct val="60000"/>
              </a:spcAft>
            </a:pPr>
            <a:r>
              <a:rPr lang="en-US" altLang="en-US">
                <a:latin typeface="Times New Roman Regular" panose="02020503050405090304" charset="0"/>
                <a:ea typeface="ui-sans-serif"/>
                <a:cs typeface="Times New Roman Regular" panose="02020503050405090304" charset="0"/>
                <a:sym typeface="+mn-ea"/>
              </a:rPr>
              <a:t>Rotation</a:t>
            </a:r>
            <a:endParaRPr lang="en-US" altLang="en-US" b="0" i="0">
              <a:solidFill>
                <a:schemeClr val="tx1"/>
              </a:solidFill>
              <a:latin typeface="Times New Roman Regular" panose="02020503050405090304" charset="0"/>
              <a:ea typeface="ui-sans-serif"/>
              <a:cs typeface="Times New Roman Regular" panose="02020503050405090304" charset="0"/>
            </a:endParaRPr>
          </a:p>
          <a:p>
            <a:pPr marL="0" indent="0" algn="l">
              <a:spcAft>
                <a:spcPct val="60000"/>
              </a:spcAft>
            </a:pPr>
            <a:r>
              <a:rPr lang="en-US" altLang="en-US">
                <a:latin typeface="Times New Roman Regular" panose="02020503050405090304" charset="0"/>
                <a:ea typeface="ui-sans-serif"/>
                <a:cs typeface="Times New Roman Regular" panose="02020503050405090304" charset="0"/>
                <a:sym typeface="+mn-ea"/>
              </a:rPr>
              <a:t>Gaussian Blur</a:t>
            </a:r>
            <a:endParaRPr lang="en-US" altLang="en-US" b="0" i="0">
              <a:solidFill>
                <a:schemeClr val="tx1"/>
              </a:solidFill>
              <a:latin typeface="Times New Roman Regular" panose="02020503050405090304" charset="0"/>
              <a:ea typeface="ui-sans-serif"/>
              <a:cs typeface="Times New Roman Regular" panose="02020503050405090304" charset="0"/>
            </a:endParaRPr>
          </a:p>
          <a:p>
            <a:pPr marL="0" indent="0" algn="l">
              <a:spcAft>
                <a:spcPct val="60000"/>
              </a:spcAft>
            </a:pPr>
            <a:r>
              <a:rPr lang="en-US" altLang="en-US">
                <a:latin typeface="Times New Roman Regular" panose="02020503050405090304" charset="0"/>
                <a:ea typeface="ui-sans-serif"/>
                <a:cs typeface="Times New Roman Regular" panose="02020503050405090304" charset="0"/>
                <a:sym typeface="+mn-ea"/>
              </a:rPr>
              <a:t>Brightness and Contrast Adjustment</a:t>
            </a:r>
            <a:endParaRPr lang="en-US" altLang="en-US" b="0" i="0">
              <a:solidFill>
                <a:schemeClr val="tx1"/>
              </a:solidFill>
              <a:latin typeface="Times New Roman Regular" panose="02020503050405090304" charset="0"/>
              <a:ea typeface="ui-sans-serif"/>
              <a:cs typeface="Times New Roman Regular" panose="02020503050405090304" charset="0"/>
            </a:endParaRPr>
          </a:p>
          <a:p>
            <a:pPr marL="0" indent="0" algn="l">
              <a:spcAft>
                <a:spcPct val="60000"/>
              </a:spcAft>
            </a:pPr>
            <a:r>
              <a:rPr lang="en-US" altLang="en-US">
                <a:latin typeface="Times New Roman Regular" panose="02020503050405090304" charset="0"/>
                <a:ea typeface="ui-sans-serif"/>
                <a:cs typeface="Times New Roman Regular" panose="02020503050405090304" charset="0"/>
                <a:sym typeface="+mn-ea"/>
              </a:rPr>
              <a:t>Add Noise</a:t>
            </a:r>
            <a:endParaRPr lang="en-US" altLang="en-US" b="0" i="0">
              <a:solidFill>
                <a:schemeClr val="tx1"/>
              </a:solidFill>
              <a:latin typeface="Times New Roman Regular" panose="02020503050405090304" charset="0"/>
              <a:ea typeface="ui-sans-serif"/>
              <a:cs typeface="Times New Roman Regular" panose="02020503050405090304" charset="0"/>
            </a:endParaRPr>
          </a:p>
          <a:p>
            <a:endParaRPr lang="en-US">
              <a:latin typeface="Times New Roman Regular" panose="02020503050405090304" charset="0"/>
              <a:cs typeface="Times New Roman Regular" panose="02020503050405090304" charset="0"/>
            </a:endParaRPr>
          </a:p>
        </p:txBody>
      </p:sp>
      <p:sp>
        <p:nvSpPr>
          <p:cNvPr id="7" name="Text Box 6"/>
          <p:cNvSpPr txBox="1"/>
          <p:nvPr/>
        </p:nvSpPr>
        <p:spPr>
          <a:xfrm>
            <a:off x="6583045" y="1689735"/>
            <a:ext cx="4064000" cy="645160"/>
          </a:xfrm>
          <a:prstGeom prst="rect">
            <a:avLst/>
          </a:prstGeom>
          <a:noFill/>
        </p:spPr>
        <p:txBody>
          <a:bodyPr wrap="square" rtlCol="0">
            <a:spAutoFit/>
          </a:bodyPr>
          <a:lstStyle/>
          <a:p>
            <a:endParaRPr lang="en-US" altLang="en-US">
              <a:latin typeface="Times New Roman Regular" panose="02020503050405090304" charset="0"/>
              <a:cs typeface="Times New Roman Regular" panose="02020503050405090304" charset="0"/>
            </a:endParaRPr>
          </a:p>
          <a:p>
            <a:r>
              <a:rPr lang="en-US" altLang="en-US">
                <a:latin typeface="Times New Roman Regular" panose="02020503050405090304" charset="0"/>
                <a:cs typeface="Times New Roman Regular" panose="02020503050405090304" charset="0"/>
              </a:rPr>
              <a:t>Resolution：384x384</a:t>
            </a:r>
          </a:p>
        </p:txBody>
      </p:sp>
      <p:sp>
        <p:nvSpPr>
          <p:cNvPr id="9" name="Text Box 8"/>
          <p:cNvSpPr txBox="1"/>
          <p:nvPr/>
        </p:nvSpPr>
        <p:spPr>
          <a:xfrm>
            <a:off x="6390005" y="2425700"/>
            <a:ext cx="5979795" cy="645160"/>
          </a:xfrm>
          <a:prstGeom prst="rect">
            <a:avLst/>
          </a:prstGeom>
          <a:noFill/>
        </p:spPr>
        <p:txBody>
          <a:bodyPr wrap="square" rtlCol="0">
            <a:spAutoFit/>
          </a:bodyPr>
          <a:lstStyle/>
          <a:p>
            <a:r>
              <a:rPr lang="en-US" altLang="en-US">
                <a:latin typeface="Times New Roman Regular" panose="02020503050405090304" charset="0"/>
                <a:cs typeface="Times New Roman Regular" panose="02020503050405090304" charset="0"/>
              </a:rPr>
              <a:t>min_pixels = 256 * 28 * 28</a:t>
            </a:r>
          </a:p>
          <a:p>
            <a:endParaRPr lang="en-US" altLang="en-US">
              <a:latin typeface="Times New Roman Regular" panose="02020503050405090304" charset="0"/>
              <a:cs typeface="Times New Roman Regular" panose="0202050305040509030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615950" y="231140"/>
            <a:ext cx="4064000" cy="829945"/>
          </a:xfrm>
          <a:prstGeom prst="rect">
            <a:avLst/>
          </a:prstGeom>
          <a:noFill/>
        </p:spPr>
        <p:txBody>
          <a:bodyPr wrap="square" rtlCol="0">
            <a:spAutoFit/>
          </a:bodyPr>
          <a:lstStyle/>
          <a:p>
            <a:r>
              <a:rPr lang="en-US" sz="2400" b="1" dirty="0">
                <a:solidFill>
                  <a:srgbClr val="000000"/>
                </a:solidFill>
                <a:latin typeface="Times New Roman Regular" panose="02020503050405090304" charset="0"/>
                <a:ea typeface="HarmonyOS Sans" pitchFamily="34" charset="-122"/>
                <a:cs typeface="Times New Roman Regular" panose="02020503050405090304" charset="0"/>
                <a:sym typeface="+mn-ea"/>
              </a:rPr>
              <a:t>Deblur GAN</a:t>
            </a:r>
            <a:endParaRPr lang="en-US" sz="2400" b="1" dirty="0">
              <a:solidFill>
                <a:srgbClr val="000000"/>
              </a:solidFill>
              <a:latin typeface="Times New Roman Regular" panose="02020503050405090304" charset="0"/>
              <a:ea typeface="HarmonyOS Sans" pitchFamily="34" charset="-122"/>
              <a:cs typeface="Times New Roman Regular" panose="02020503050405090304" charset="0"/>
            </a:endParaRPr>
          </a:p>
          <a:p>
            <a:endParaRPr lang="en-US" sz="2400"/>
          </a:p>
        </p:txBody>
      </p:sp>
      <p:sp>
        <p:nvSpPr>
          <p:cNvPr id="3" name="Text Box 2"/>
          <p:cNvSpPr txBox="1"/>
          <p:nvPr/>
        </p:nvSpPr>
        <p:spPr>
          <a:xfrm>
            <a:off x="854710" y="924560"/>
            <a:ext cx="4064000" cy="368300"/>
          </a:xfrm>
          <a:prstGeom prst="rect">
            <a:avLst/>
          </a:prstGeom>
          <a:noFill/>
        </p:spPr>
        <p:txBody>
          <a:bodyPr wrap="square" rtlCol="0">
            <a:spAutoFit/>
          </a:bodyPr>
          <a:lstStyle/>
          <a:p>
            <a:r>
              <a:rPr lang="en-US">
                <a:latin typeface="Times New Roman Regular" panose="02020503050405090304" charset="0"/>
                <a:cs typeface="Times New Roman Regular" panose="02020503050405090304" charset="0"/>
              </a:rPr>
              <a:t>Dataset preparation</a:t>
            </a:r>
          </a:p>
        </p:txBody>
      </p:sp>
      <p:pic>
        <p:nvPicPr>
          <p:cNvPr id="5" name="Picture 4" descr="Screenshot 2024-11-29 at 19.39.05"/>
          <p:cNvPicPr>
            <a:picLocks noChangeAspect="1"/>
          </p:cNvPicPr>
          <p:nvPr/>
        </p:nvPicPr>
        <p:blipFill>
          <a:blip r:embed="rId3"/>
          <a:stretch>
            <a:fillRect/>
          </a:stretch>
        </p:blipFill>
        <p:spPr>
          <a:xfrm>
            <a:off x="5271770" y="4046855"/>
            <a:ext cx="3898900" cy="393700"/>
          </a:xfrm>
          <a:prstGeom prst="rect">
            <a:avLst/>
          </a:prstGeom>
        </p:spPr>
      </p:pic>
      <p:sp>
        <p:nvSpPr>
          <p:cNvPr id="7" name="Text Box 6"/>
          <p:cNvSpPr txBox="1"/>
          <p:nvPr/>
        </p:nvSpPr>
        <p:spPr>
          <a:xfrm>
            <a:off x="854710" y="1965325"/>
            <a:ext cx="4064000" cy="1198880"/>
          </a:xfrm>
          <a:prstGeom prst="rect">
            <a:avLst/>
          </a:prstGeom>
          <a:noFill/>
        </p:spPr>
        <p:txBody>
          <a:bodyPr wrap="square" rtlCol="0">
            <a:spAutoFit/>
          </a:bodyPr>
          <a:lstStyle/>
          <a:p>
            <a:r>
              <a:rPr lang="en-US" altLang="en-US">
                <a:latin typeface="Times New Roman Regular" panose="02020503050405090304" charset="0"/>
                <a:cs typeface="Times New Roman Regular" panose="02020503050405090304" charset="0"/>
              </a:rPr>
              <a:t>Generator：ResNetGenerator</a:t>
            </a:r>
          </a:p>
          <a:p>
            <a:r>
              <a:rPr lang="en-US" altLang="en-US">
                <a:latin typeface="Times New Roman Regular" panose="02020503050405090304" charset="0"/>
                <a:cs typeface="Times New Roman Regular" panose="02020503050405090304" charset="0"/>
              </a:rPr>
              <a:t>Discriminator：NLayerDiscriminator</a:t>
            </a:r>
          </a:p>
          <a:p>
            <a:r>
              <a:rPr lang="en-US">
                <a:latin typeface="Times New Roman Regular" panose="02020503050405090304" charset="0"/>
                <a:cs typeface="Times New Roman Regular" panose="02020503050405090304" charset="0"/>
                <a:sym typeface="+mn-ea"/>
              </a:rPr>
              <a:t>Epoch ：300</a:t>
            </a:r>
            <a:endParaRPr lang="en-US">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sym typeface="+mn-ea"/>
              </a:rPr>
              <a:t>Learning rate</a:t>
            </a:r>
            <a:r>
              <a:rPr lang="zh-CN" altLang="en-US">
                <a:latin typeface="Times New Roman Regular" panose="02020503050405090304" charset="0"/>
                <a:cs typeface="Times New Roman Regular" panose="02020503050405090304" charset="0"/>
                <a:sym typeface="+mn-ea"/>
              </a:rPr>
              <a:t>：</a:t>
            </a:r>
            <a:r>
              <a:rPr lang="en-US" altLang="en-US">
                <a:latin typeface="Times New Roman Regular" panose="02020503050405090304" charset="0"/>
                <a:cs typeface="Times New Roman Regular" panose="02020503050405090304" charset="0"/>
                <a:sym typeface="+mn-ea"/>
              </a:rPr>
              <a:t> 0.0001</a:t>
            </a:r>
            <a:endParaRPr lang="en-US" altLang="en-US">
              <a:latin typeface="Times New Roman Regular" panose="02020503050405090304" charset="0"/>
              <a:cs typeface="Times New Roman Regular" panose="02020503050405090304" charset="0"/>
            </a:endParaRPr>
          </a:p>
        </p:txBody>
      </p:sp>
      <p:sp>
        <p:nvSpPr>
          <p:cNvPr id="15" name="Text Box 14"/>
          <p:cNvSpPr txBox="1"/>
          <p:nvPr/>
        </p:nvSpPr>
        <p:spPr>
          <a:xfrm>
            <a:off x="929005" y="1306830"/>
            <a:ext cx="4064000" cy="645160"/>
          </a:xfrm>
          <a:prstGeom prst="rect">
            <a:avLst/>
          </a:prstGeom>
          <a:noFill/>
        </p:spPr>
        <p:txBody>
          <a:bodyPr wrap="square" rtlCol="0">
            <a:spAutoFit/>
          </a:bodyPr>
          <a:lstStyle/>
          <a:p>
            <a:r>
              <a:rPr lang="en-US" altLang="en-US">
                <a:latin typeface="Times New Roman Regular" panose="02020503050405090304" charset="0"/>
                <a:cs typeface="Times New Roman Regular" panose="02020503050405090304" charset="0"/>
                <a:sym typeface="+mn-ea"/>
              </a:rPr>
              <a:t>384x384</a:t>
            </a:r>
            <a:endParaRPr lang="en-US" altLang="en-US">
              <a:latin typeface="Times New Roman Regular" panose="02020503050405090304" charset="0"/>
              <a:cs typeface="Times New Roman Regular" panose="02020503050405090304" charset="0"/>
            </a:endParaRPr>
          </a:p>
          <a:p>
            <a:endParaRPr lang="en-US">
              <a:latin typeface="Times New Roman Regular" panose="02020503050405090304" charset="0"/>
              <a:cs typeface="Times New Roman Regular" panose="02020503050405090304" charset="0"/>
            </a:endParaRPr>
          </a:p>
        </p:txBody>
      </p:sp>
      <p:pic>
        <p:nvPicPr>
          <p:cNvPr id="16" name="Picture 15" descr="Screenshot 2024-11-29 at 21.24.43"/>
          <p:cNvPicPr>
            <a:picLocks noChangeAspect="1"/>
          </p:cNvPicPr>
          <p:nvPr/>
        </p:nvPicPr>
        <p:blipFill>
          <a:blip r:embed="rId4"/>
          <a:stretch>
            <a:fillRect/>
          </a:stretch>
        </p:blipFill>
        <p:spPr>
          <a:xfrm>
            <a:off x="4993005" y="2857500"/>
            <a:ext cx="4368800" cy="571500"/>
          </a:xfrm>
          <a:prstGeom prst="rect">
            <a:avLst/>
          </a:prstGeom>
        </p:spPr>
      </p:pic>
      <p:pic>
        <p:nvPicPr>
          <p:cNvPr id="17" name="Picture 16" descr="Screenshot 2024-11-29 at 21.24.35"/>
          <p:cNvPicPr>
            <a:picLocks noChangeAspect="1"/>
          </p:cNvPicPr>
          <p:nvPr/>
        </p:nvPicPr>
        <p:blipFill>
          <a:blip r:embed="rId5"/>
          <a:stretch>
            <a:fillRect/>
          </a:stretch>
        </p:blipFill>
        <p:spPr>
          <a:xfrm>
            <a:off x="4993005" y="1591310"/>
            <a:ext cx="5245100" cy="7366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37820" y="1085850"/>
            <a:ext cx="9930130" cy="4161155"/>
          </a:xfrm>
          <a:prstGeom prst="rect">
            <a:avLst/>
          </a:prstGeom>
        </p:spPr>
        <p:txBody>
          <a:bodyPr>
            <a:noAutofit/>
          </a:bodyPr>
          <a:lstStyle/>
          <a:p>
            <a:pPr marL="0" indent="0" algn="l">
              <a:spcBef>
                <a:spcPct val="0"/>
              </a:spcBef>
              <a:spcAft>
                <a:spcPct val="0"/>
              </a:spcAft>
              <a:buNone/>
            </a:pPr>
            <a:r>
              <a:rPr lang="en-US" altLang="en-US" sz="2000" b="0" i="0">
                <a:solidFill>
                  <a:schemeClr val="tx1"/>
                </a:solidFill>
                <a:latin typeface="Times New Roman Regular" panose="02020503050405090304" charset="0"/>
                <a:ea typeface="ui-sans-serif"/>
                <a:cs typeface="Times New Roman Regular" panose="02020503050405090304" charset="0"/>
              </a:rPr>
              <a:t>Relevance to the Scenario</a:t>
            </a:r>
          </a:p>
          <a:p>
            <a:pPr marL="0" indent="0" algn="l">
              <a:spcBef>
                <a:spcPct val="0"/>
              </a:spcBef>
              <a:spcAft>
                <a:spcPct val="0"/>
              </a:spcAft>
              <a:buNone/>
            </a:pPr>
            <a:r>
              <a:rPr lang="en-US" altLang="en-US" sz="2000" b="0" i="0">
                <a:solidFill>
                  <a:schemeClr val="tx1"/>
                </a:solidFill>
                <a:latin typeface="Times New Roman Regular" panose="02020503050405090304" charset="0"/>
                <a:ea typeface="ui-sans-serif"/>
                <a:cs typeface="Times New Roman Regular" panose="02020503050405090304" charset="0"/>
              </a:rPr>
              <a:t>Accurate and fluent descriptions (BLEU) ensure that users can easily understand the information.  </a:t>
            </a:r>
          </a:p>
          <a:p>
            <a:pPr marL="0" indent="0" algn="l">
              <a:spcBef>
                <a:spcPct val="0"/>
              </a:spcBef>
              <a:spcAft>
                <a:spcPct val="0"/>
              </a:spcAft>
              <a:buNone/>
            </a:pPr>
            <a:r>
              <a:rPr lang="en-US" altLang="en-US" sz="2000" b="0" i="0">
                <a:solidFill>
                  <a:schemeClr val="tx1"/>
                </a:solidFill>
                <a:latin typeface="Times New Roman Regular" panose="02020503050405090304" charset="0"/>
                <a:ea typeface="ui-sans-serif"/>
                <a:cs typeface="Times New Roman Regular" panose="02020503050405090304" charset="0"/>
              </a:rPr>
              <a:t>Comprehensive and relevant outputs (ROUGE) ensure that important product details are not omitted.  </a:t>
            </a:r>
          </a:p>
          <a:p>
            <a:pPr marL="0" indent="0" algn="l">
              <a:spcBef>
                <a:spcPct val="0"/>
              </a:spcBef>
              <a:spcAft>
                <a:spcPct val="0"/>
              </a:spcAft>
              <a:buNone/>
            </a:pPr>
            <a:endParaRPr lang="en-US" altLang="en-US" sz="2000" b="0" i="0">
              <a:solidFill>
                <a:schemeClr val="tx1"/>
              </a:solidFill>
              <a:latin typeface="Times New Roman Regular" panose="02020503050405090304" charset="0"/>
              <a:ea typeface="ui-sans-serif"/>
              <a:cs typeface="Times New Roman Regular" panose="02020503050405090304" charset="0"/>
            </a:endParaRPr>
          </a:p>
          <a:p>
            <a:pPr marL="0" indent="0" algn="l">
              <a:spcBef>
                <a:spcPct val="0"/>
              </a:spcBef>
              <a:spcAft>
                <a:spcPct val="0"/>
              </a:spcAft>
              <a:buNone/>
            </a:pPr>
            <a:r>
              <a:rPr lang="en-US" altLang="en-US" sz="2000" b="0" i="0">
                <a:solidFill>
                  <a:schemeClr val="tx1"/>
                </a:solidFill>
                <a:latin typeface="Times New Roman Regular" panose="02020503050405090304" charset="0"/>
                <a:ea typeface="ui-sans-serif"/>
                <a:cs typeface="Times New Roman Regular" panose="02020503050405090304" charset="0"/>
              </a:rPr>
              <a:t>ROUGE-W (Weighted Longest Common Subsequence)</a:t>
            </a:r>
          </a:p>
          <a:p>
            <a:pPr marL="0" indent="0" algn="l">
              <a:spcBef>
                <a:spcPct val="0"/>
              </a:spcBef>
              <a:spcAft>
                <a:spcPct val="0"/>
              </a:spcAft>
              <a:buNone/>
            </a:pPr>
            <a:r>
              <a:rPr lang="en-US" altLang="en-US" sz="2000" b="0" i="0">
                <a:solidFill>
                  <a:schemeClr val="tx1"/>
                </a:solidFill>
                <a:latin typeface="Times New Roman Regular" panose="02020503050405090304" charset="0"/>
                <a:ea typeface="ui-sans-serif"/>
                <a:cs typeface="Times New Roman Regular" panose="02020503050405090304" charset="0"/>
              </a:rPr>
              <a:t>ROUGE-S (Skip-Bigram Co-occurrence)</a:t>
            </a:r>
          </a:p>
          <a:p>
            <a:pPr marL="0" indent="0" algn="l">
              <a:spcBef>
                <a:spcPct val="0"/>
              </a:spcBef>
              <a:spcAft>
                <a:spcPct val="0"/>
              </a:spcAft>
              <a:buNone/>
            </a:pPr>
            <a:endParaRPr lang="en-US" altLang="en-US" sz="2000" b="0" i="0">
              <a:solidFill>
                <a:schemeClr val="tx1"/>
              </a:solidFill>
              <a:latin typeface="Times New Roman Regular" panose="02020503050405090304" charset="0"/>
              <a:ea typeface="ui-sans-serif"/>
              <a:cs typeface="Times New Roman Regular" panose="02020503050405090304" charset="0"/>
            </a:endParaRPr>
          </a:p>
          <a:p>
            <a:pPr marL="0" indent="0" algn="l">
              <a:spcBef>
                <a:spcPct val="0"/>
              </a:spcBef>
              <a:spcAft>
                <a:spcPct val="0"/>
              </a:spcAft>
              <a:buNone/>
            </a:pPr>
            <a:r>
              <a:rPr lang="en-US" altLang="en-US" sz="2000" b="0" i="0">
                <a:solidFill>
                  <a:schemeClr val="tx1"/>
                </a:solidFill>
                <a:latin typeface="Times New Roman Regular" panose="02020503050405090304" charset="0"/>
                <a:ea typeface="ui-sans-serif"/>
                <a:cs typeface="Times New Roman Regular" panose="02020503050405090304" charset="0"/>
              </a:rPr>
              <a:t>The task only requires  simple prompt sentence, and the generated text is usually just one or two sentences.  </a:t>
            </a:r>
          </a:p>
          <a:p>
            <a:pPr marL="0" indent="0" algn="l">
              <a:spcBef>
                <a:spcPct val="0"/>
              </a:spcBef>
              <a:spcAft>
                <a:spcPct val="0"/>
              </a:spcAft>
              <a:buNone/>
            </a:pPr>
            <a:r>
              <a:rPr lang="en-US" altLang="en-US" sz="2000" b="0" i="0">
                <a:solidFill>
                  <a:schemeClr val="tx1"/>
                </a:solidFill>
                <a:latin typeface="Times New Roman Regular" panose="02020503050405090304" charset="0"/>
                <a:ea typeface="ui-sans-serif"/>
                <a:cs typeface="Times New Roman Regular" panose="02020503050405090304" charset="0"/>
              </a:rPr>
              <a:t>Complex metrics like ROUGE-W and ROUGE-S are designed for long-text evaluations, focusing on text sequence or flexibility, and they have no practical significance in my task.</a:t>
            </a:r>
          </a:p>
        </p:txBody>
      </p:sp>
      <p:sp>
        <p:nvSpPr>
          <p:cNvPr id="17" name="Text 12"/>
          <p:cNvSpPr/>
          <p:nvPr/>
        </p:nvSpPr>
        <p:spPr>
          <a:xfrm>
            <a:off x="337809" y="179942"/>
            <a:ext cx="10433380" cy="679961"/>
          </a:xfrm>
          <a:prstGeom prst="rect">
            <a:avLst/>
          </a:prstGeom>
          <a:solidFill>
            <a:srgbClr val="FFFFFF">
              <a:alpha val="0"/>
            </a:srgbClr>
          </a:solidFill>
        </p:spPr>
        <p:txBody>
          <a:bodyPr wrap="square" lIns="0" tIns="0" rIns="0" bIns="0" rtlCol="0" anchor="ctr"/>
          <a:lstStyle/>
          <a:p>
            <a:pPr algn="l">
              <a:lnSpc>
                <a:spcPct val="125000"/>
              </a:lnSpc>
            </a:pPr>
            <a:r>
              <a:rPr lang="en-US" sz="2880" b="1" dirty="0">
                <a:solidFill>
                  <a:srgbClr val="000000"/>
                </a:solidFill>
                <a:latin typeface="HarmonyOS Sans" pitchFamily="34" charset="-122"/>
                <a:ea typeface="HarmonyOS Sans" pitchFamily="34" charset="-122"/>
                <a:cs typeface="HarmonyOS Sans" pitchFamily="34" charset="-120"/>
              </a:rPr>
              <a:t>Model Comparison</a:t>
            </a:r>
            <a:endParaRPr lang="en-US" sz="28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0" y="249555"/>
            <a:ext cx="11991975" cy="6123940"/>
          </a:xfrm>
          <a:prstGeom prst="rect">
            <a:avLst/>
          </a:prstGeom>
          <a:noFill/>
        </p:spPr>
        <p:txBody>
          <a:bodyPr wrap="square" rtlCol="0">
            <a:spAutoFit/>
          </a:bodyPr>
          <a:lstStyle/>
          <a:p>
            <a:pPr algn="just"/>
            <a:endParaRPr lang="en-US" altLang="en-US" sz="2800">
              <a:latin typeface="Times New Roman Regular" panose="02020503050405090304" charset="0"/>
              <a:cs typeface="Times New Roman Regular" panose="02020503050405090304" charset="0"/>
            </a:endParaRPr>
          </a:p>
          <a:p>
            <a:pPr algn="just"/>
            <a:r>
              <a:rPr lang="en-US" altLang="en-US" sz="2800">
                <a:latin typeface="Times New Roman Regular" panose="02020503050405090304" charset="0"/>
                <a:cs typeface="Times New Roman Regular" panose="02020503050405090304" charset="0"/>
              </a:rPr>
              <a:t>Qwen2-VL:</a:t>
            </a:r>
          </a:p>
          <a:p>
            <a:pPr marL="285750" indent="-285750" algn="just">
              <a:buFont typeface="Arial" panose="020B0604020202090204" pitchFamily="34" charset="0"/>
              <a:buChar char="•"/>
            </a:pPr>
            <a:r>
              <a:rPr lang="en-US" altLang="en-US" sz="2800">
                <a:latin typeface="Times New Roman Regular" panose="02020503050405090304" charset="0"/>
                <a:cs typeface="Times New Roman Regular" panose="02020503050405090304" charset="0"/>
              </a:rPr>
              <a:t>Built on a powerful image encoder (e.g., ViT, Vision Transformer).  </a:t>
            </a:r>
          </a:p>
          <a:p>
            <a:pPr marL="285750" indent="-285750" algn="just">
              <a:buFont typeface="Arial" panose="020B0604020202090204" pitchFamily="34" charset="0"/>
              <a:buChar char="•"/>
            </a:pPr>
            <a:r>
              <a:rPr lang="en-US" altLang="en-US" sz="2800">
                <a:latin typeface="Times New Roman Regular" panose="02020503050405090304" charset="0"/>
                <a:cs typeface="Times New Roman Regular" panose="02020503050405090304" charset="0"/>
              </a:rPr>
              <a:t>Focuses on extracting fine-grained features from images (e.g., edge information, object textures), making it suitable for image description generation tasks.  </a:t>
            </a:r>
          </a:p>
          <a:p>
            <a:pPr marL="285750" indent="-285750" algn="just">
              <a:buFont typeface="Arial" panose="020B0604020202090204" pitchFamily="34" charset="0"/>
              <a:buChar char="•"/>
            </a:pPr>
            <a:r>
              <a:rPr lang="en-US" altLang="en-US" sz="2800">
                <a:latin typeface="Times New Roman Regular" panose="02020503050405090304" charset="0"/>
                <a:cs typeface="Times New Roman Regular" panose="02020503050405090304" charset="0"/>
              </a:rPr>
              <a:t>Supports multimodal data alignment, enabling deep matching between images and text.  </a:t>
            </a:r>
          </a:p>
          <a:p>
            <a:pPr algn="just"/>
            <a:endParaRPr lang="en-US" altLang="en-US" sz="2800">
              <a:latin typeface="Times New Roman Regular" panose="02020503050405090304" charset="0"/>
              <a:cs typeface="Times New Roman Regular" panose="02020503050405090304" charset="0"/>
            </a:endParaRPr>
          </a:p>
          <a:p>
            <a:pPr algn="just"/>
            <a:r>
              <a:rPr lang="en-US" altLang="en-US" sz="2800">
                <a:latin typeface="Times New Roman Regular" panose="02020503050405090304" charset="0"/>
                <a:cs typeface="Times New Roman Regular" panose="02020503050405090304" charset="0"/>
              </a:rPr>
              <a:t>LLaMa:</a:t>
            </a:r>
          </a:p>
          <a:p>
            <a:pPr marL="285750" indent="-285750" algn="just">
              <a:buFont typeface="Arial" panose="020B0604020202090204" pitchFamily="34" charset="0"/>
              <a:buChar char="•"/>
            </a:pPr>
            <a:r>
              <a:rPr lang="en-US" altLang="en-US" sz="2800">
                <a:latin typeface="Times New Roman Regular" panose="02020503050405090304" charset="0"/>
                <a:cs typeface="Times New Roman Regular" panose="02020503050405090304" charset="0"/>
              </a:rPr>
              <a:t>Although it also uses a ViT-like encoder, it primarily targets more general visual tasks (e.g., classification or retrieval), with relatively weaker capability in capturing fine-grained features.  </a:t>
            </a:r>
          </a:p>
          <a:p>
            <a:pPr marL="285750" indent="-285750" algn="just">
              <a:buFont typeface="Arial" panose="020B0604020202090204" pitchFamily="34" charset="0"/>
              <a:buChar char="•"/>
            </a:pPr>
            <a:r>
              <a:rPr lang="en-US" altLang="en-US" sz="2800">
                <a:latin typeface="Times New Roman Regular" panose="02020503050405090304" charset="0"/>
                <a:cs typeface="Times New Roman Regular" panose="02020503050405090304" charset="0"/>
              </a:rPr>
              <a:t>ts visual feature extraction may not be as optimized for generation tasks compared to Qwen2-VL.</a:t>
            </a:r>
            <a:r>
              <a:rPr lang="zh-CN" altLang="en-US" sz="2800">
                <a:latin typeface="Times New Roman Regular" panose="02020503050405090304" charset="0"/>
                <a:cs typeface="Times New Roman Regular" panose="02020503050405090304" charset="0"/>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shot 2024-11-25 at 00.11.43"/>
          <p:cNvPicPr>
            <a:picLocks noChangeAspect="1"/>
          </p:cNvPicPr>
          <p:nvPr/>
        </p:nvPicPr>
        <p:blipFill>
          <a:blip r:embed="rId3"/>
          <a:stretch>
            <a:fillRect/>
          </a:stretch>
        </p:blipFill>
        <p:spPr>
          <a:xfrm>
            <a:off x="6945697" y="138612"/>
            <a:ext cx="4613804" cy="6553358"/>
          </a:xfrm>
          <a:prstGeom prst="rect">
            <a:avLst/>
          </a:prstGeom>
        </p:spPr>
      </p:pic>
      <p:sp>
        <p:nvSpPr>
          <p:cNvPr id="4" name="Text Box 3"/>
          <p:cNvSpPr txBox="1"/>
          <p:nvPr/>
        </p:nvSpPr>
        <p:spPr>
          <a:xfrm>
            <a:off x="1520530" y="156891"/>
            <a:ext cx="1891319" cy="868230"/>
          </a:xfrm>
          <a:prstGeom prst="rect">
            <a:avLst/>
          </a:prstGeom>
          <a:noFill/>
        </p:spPr>
        <p:txBody>
          <a:bodyPr wrap="square" rtlCol="0" anchor="t">
            <a:noAutofit/>
          </a:bodyPr>
          <a:lstStyle/>
          <a:p>
            <a:pPr algn="l">
              <a:lnSpc>
                <a:spcPct val="125000"/>
              </a:lnSpc>
            </a:pPr>
            <a:r>
              <a:rPr lang="en-US" sz="2880" b="1" dirty="0">
                <a:solidFill>
                  <a:srgbClr val="000000"/>
                </a:solidFill>
                <a:latin typeface="HarmonyOS Sans" pitchFamily="34" charset="-122"/>
                <a:ea typeface="HarmonyOS Sans" pitchFamily="34" charset="-122"/>
                <a:cs typeface="HarmonyOS Sans" pitchFamily="34" charset="-120"/>
                <a:sym typeface="+mn-ea"/>
              </a:rPr>
              <a:t>Demo</a:t>
            </a:r>
          </a:p>
        </p:txBody>
      </p:sp>
      <p:sp>
        <p:nvSpPr>
          <p:cNvPr id="29" name="Text Box 28"/>
          <p:cNvSpPr txBox="1"/>
          <p:nvPr/>
        </p:nvSpPr>
        <p:spPr>
          <a:xfrm>
            <a:off x="10875072" y="6397483"/>
            <a:ext cx="4062909" cy="312420"/>
          </a:xfrm>
          <a:prstGeom prst="rect">
            <a:avLst/>
          </a:prstGeom>
          <a:noFill/>
        </p:spPr>
        <p:txBody>
          <a:bodyPr wrap="square" rtlCol="0">
            <a:spAutoFit/>
          </a:bodyPr>
          <a:lstStyle/>
          <a:p>
            <a:r>
              <a:rPr lang="en-US" sz="1440">
                <a:solidFill>
                  <a:schemeClr val="bg1"/>
                </a:solidFill>
              </a:rPr>
              <a:t>29</a:t>
            </a:r>
          </a:p>
        </p:txBody>
      </p:sp>
      <p:pic>
        <p:nvPicPr>
          <p:cNvPr id="6" name="Picture 5" descr="Screenshot 2024-11-27 at 19.50.30"/>
          <p:cNvPicPr>
            <a:picLocks noChangeAspect="1"/>
          </p:cNvPicPr>
          <p:nvPr/>
        </p:nvPicPr>
        <p:blipFill>
          <a:blip r:embed="rId4"/>
          <a:stretch>
            <a:fillRect/>
          </a:stretch>
        </p:blipFill>
        <p:spPr>
          <a:xfrm>
            <a:off x="608635" y="2006068"/>
            <a:ext cx="6052730" cy="255086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476250" y="292735"/>
            <a:ext cx="10594340" cy="4290060"/>
          </a:xfrm>
          <a:prstGeom prst="rect">
            <a:avLst/>
          </a:prstGeom>
        </p:spPr>
        <p:txBody>
          <a:bodyPr>
            <a:noAutofit/>
          </a:bodyPr>
          <a:lstStyle/>
          <a:p>
            <a:pPr marL="0" indent="0" algn="l">
              <a:spcBef>
                <a:spcPct val="0"/>
              </a:spcBef>
              <a:spcAft>
                <a:spcPct val="0"/>
              </a:spcAft>
            </a:pPr>
            <a:endParaRPr lang="en-US" altLang="zh-CN" sz="1600" b="0" i="0">
              <a:solidFill>
                <a:schemeClr val="tx1"/>
              </a:solidFill>
              <a:latin typeface="Times New Roman Regular" panose="02020503050405090304" charset="0"/>
              <a:ea typeface="ui-sans-serif"/>
              <a:cs typeface="Times New Roman Regular" panose="02020503050405090304" charset="0"/>
            </a:endParaRPr>
          </a:p>
        </p:txBody>
      </p:sp>
      <p:sp>
        <p:nvSpPr>
          <p:cNvPr id="3" name="Text Box 2"/>
          <p:cNvSpPr txBox="1"/>
          <p:nvPr/>
        </p:nvSpPr>
        <p:spPr>
          <a:xfrm>
            <a:off x="638175" y="381000"/>
            <a:ext cx="4064000" cy="521970"/>
          </a:xfrm>
          <a:prstGeom prst="rect">
            <a:avLst/>
          </a:prstGeom>
          <a:noFill/>
        </p:spPr>
        <p:txBody>
          <a:bodyPr wrap="square" rtlCol="0">
            <a:spAutoFit/>
          </a:bodyPr>
          <a:lstStyle/>
          <a:p>
            <a:r>
              <a:rPr lang="en-US" altLang="en-US" sz="2800" b="1">
                <a:latin typeface="Times New Roman Bold" panose="02020503050405090304" charset="0"/>
                <a:cs typeface="Times New Roman Bold" panose="02020503050405090304" charset="0"/>
              </a:rPr>
              <a:t>Contributions</a:t>
            </a:r>
          </a:p>
        </p:txBody>
      </p:sp>
      <p:sp>
        <p:nvSpPr>
          <p:cNvPr id="4" name="Text Box 3"/>
          <p:cNvSpPr txBox="1"/>
          <p:nvPr/>
        </p:nvSpPr>
        <p:spPr>
          <a:xfrm>
            <a:off x="853440" y="1737995"/>
            <a:ext cx="10217150" cy="1383665"/>
          </a:xfrm>
          <a:prstGeom prst="rect">
            <a:avLst/>
          </a:prstGeom>
          <a:noFill/>
        </p:spPr>
        <p:txBody>
          <a:bodyPr wrap="square" rtlCol="0">
            <a:spAutoFit/>
          </a:bodyPr>
          <a:lstStyle/>
          <a:p>
            <a:pPr marL="342900" indent="-342900">
              <a:lnSpc>
                <a:spcPct val="140000"/>
              </a:lnSpc>
              <a:buFont typeface="Arial" panose="020B0604020202090204" pitchFamily="34" charset="0"/>
              <a:buChar char="•"/>
            </a:pPr>
            <a:r>
              <a:rPr lang="en-US" altLang="en-US" sz="2000">
                <a:latin typeface="Times New Roman Regular" panose="02020503050405090304" charset="0"/>
                <a:cs typeface="Times New Roman Regular" panose="02020503050405090304" charset="0"/>
              </a:rPr>
              <a:t>Model Comparison</a:t>
            </a:r>
          </a:p>
          <a:p>
            <a:pPr marL="342900" indent="-342900">
              <a:lnSpc>
                <a:spcPct val="140000"/>
              </a:lnSpc>
              <a:buFont typeface="Arial" panose="020B0604020202090204" pitchFamily="34" charset="0"/>
              <a:buChar char="•"/>
            </a:pPr>
            <a:r>
              <a:rPr lang="en-US" altLang="en-US" sz="2000">
                <a:latin typeface="Times New Roman Regular" panose="02020503050405090304" charset="0"/>
                <a:cs typeface="Times New Roman Regular" panose="02020503050405090304" charset="0"/>
              </a:rPr>
              <a:t>System Design</a:t>
            </a:r>
          </a:p>
          <a:p>
            <a:pPr marL="342900" indent="-342900">
              <a:lnSpc>
                <a:spcPct val="140000"/>
              </a:lnSpc>
              <a:buFont typeface="Arial" panose="020B0604020202090204" pitchFamily="34" charset="0"/>
              <a:buChar char="•"/>
            </a:pPr>
            <a:r>
              <a:rPr lang="en-US" altLang="en-US" sz="2000">
                <a:latin typeface="Times New Roman Regular" panose="02020503050405090304" charset="0"/>
                <a:cs typeface="Times New Roman Regular" panose="02020503050405090304" charset="0"/>
              </a:rPr>
              <a:t>DeblurGAN Integration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8171" y="1229738"/>
            <a:ext cx="11793201" cy="2127925"/>
          </a:xfrm>
          <a:prstGeom prst="rect">
            <a:avLst/>
          </a:prstGeom>
        </p:spPr>
      </p:pic>
      <p:sp>
        <p:nvSpPr>
          <p:cNvPr id="7" name="Text 0"/>
          <p:cNvSpPr/>
          <p:nvPr/>
        </p:nvSpPr>
        <p:spPr>
          <a:xfrm>
            <a:off x="1333480" y="380193"/>
            <a:ext cx="10433380" cy="672650"/>
          </a:xfrm>
          <a:prstGeom prst="rect">
            <a:avLst/>
          </a:prstGeom>
          <a:solidFill>
            <a:srgbClr val="FFFFFF">
              <a:alpha val="0"/>
            </a:srgbClr>
          </a:solidFill>
        </p:spPr>
        <p:txBody>
          <a:bodyPr wrap="square" lIns="0" tIns="0" rIns="0" bIns="0" rtlCol="0" anchor="ctr"/>
          <a:lstStyle/>
          <a:p>
            <a:pPr algn="l">
              <a:lnSpc>
                <a:spcPct val="125000"/>
              </a:lnSpc>
            </a:pPr>
            <a:r>
              <a:rPr lang="en-US" altLang="zh-CN" sz="2880" b="1" dirty="0">
                <a:solidFill>
                  <a:srgbClr val="000000"/>
                </a:solidFill>
                <a:latin typeface="Times New Roman Regular" panose="02020503050405090304" charset="0"/>
                <a:ea typeface="HarmonyOS Sans" pitchFamily="34" charset="-122"/>
                <a:cs typeface="Times New Roman Regular" panose="02020503050405090304" charset="0"/>
              </a:rPr>
              <a:t>Method comparison</a:t>
            </a:r>
          </a:p>
        </p:txBody>
      </p:sp>
      <p:pic>
        <p:nvPicPr>
          <p:cNvPr id="14" name="Image 5"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8737" y="365570"/>
            <a:ext cx="489864" cy="687272"/>
          </a:xfrm>
          <a:prstGeom prst="rect">
            <a:avLst/>
          </a:prstGeom>
        </p:spPr>
      </p:pic>
      <p:pic>
        <p:nvPicPr>
          <p:cNvPr id="13" name="Image 1"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08635" y="3534355"/>
            <a:ext cx="13891677" cy="2709283"/>
          </a:xfrm>
          <a:prstGeom prst="rect">
            <a:avLst/>
          </a:prstGeom>
        </p:spPr>
      </p:pic>
      <p:sp>
        <p:nvSpPr>
          <p:cNvPr id="3" name="Text 4"/>
          <p:cNvSpPr/>
          <p:nvPr/>
        </p:nvSpPr>
        <p:spPr>
          <a:xfrm>
            <a:off x="608635" y="3948161"/>
            <a:ext cx="9638874" cy="687476"/>
          </a:xfrm>
          <a:prstGeom prst="rect">
            <a:avLst/>
          </a:prstGeom>
          <a:solidFill>
            <a:srgbClr val="FFFFFF">
              <a:alpha val="0"/>
            </a:srgbClr>
          </a:solidFill>
        </p:spPr>
        <p:txBody>
          <a:bodyPr wrap="square" lIns="0" tIns="0" rIns="0" bIns="0" rtlCol="0" anchor="t"/>
          <a:lstStyle/>
          <a:p>
            <a:pPr algn="just">
              <a:lnSpc>
                <a:spcPct val="125000"/>
              </a:lnSpc>
            </a:pPr>
            <a:r>
              <a:rPr lang="en-US" sz="1600" b="1" dirty="0">
                <a:solidFill>
                  <a:srgbClr val="000000"/>
                </a:solidFill>
                <a:latin typeface="Times New Roman Regular" panose="02020503050405090304" charset="0"/>
                <a:ea typeface="HarmonyOS Sans" pitchFamily="34" charset="-122"/>
                <a:cs typeface="Times New Roman Regular" panose="02020503050405090304" charset="0"/>
                <a:sym typeface="+mn-ea"/>
              </a:rPr>
              <a:t>Disadvantages of OCR+TTS</a:t>
            </a:r>
            <a:endParaRPr lang="en-US" sz="1600" b="1" dirty="0">
              <a:solidFill>
                <a:srgbClr val="000000"/>
              </a:solidFill>
              <a:latin typeface="Times New Roman Regular" panose="02020503050405090304" charset="0"/>
              <a:ea typeface="HarmonyOS Sans" pitchFamily="34" charset="-122"/>
              <a:cs typeface="Times New Roman Regular" panose="02020503050405090304" charset="0"/>
            </a:endParaRPr>
          </a:p>
          <a:p>
            <a:pPr algn="just">
              <a:lnSpc>
                <a:spcPct val="125000"/>
              </a:lnSpc>
            </a:pPr>
            <a:r>
              <a:rPr lang="en-US" sz="1600" dirty="0">
                <a:solidFill>
                  <a:srgbClr val="000000"/>
                </a:solidFill>
                <a:latin typeface="Times New Roman Regular" panose="02020503050405090304" charset="0"/>
                <a:ea typeface="HarmonyOS Sans" pitchFamily="34" charset="-122"/>
                <a:cs typeface="Times New Roman Regular" panose="02020503050405090304" charset="0"/>
                <a:sym typeface="+mn-ea"/>
              </a:rPr>
              <a:t>- </a:t>
            </a:r>
            <a:r>
              <a:rPr lang="en-US" altLang="en-US" sz="1600" dirty="0">
                <a:solidFill>
                  <a:srgbClr val="000000"/>
                </a:solidFill>
                <a:latin typeface="Times New Roman Regular" panose="02020503050405090304" charset="0"/>
                <a:ea typeface="HarmonyOS Sans" pitchFamily="34" charset="-122"/>
                <a:cs typeface="Times New Roman Regular" panose="02020503050405090304" charset="0"/>
              </a:rPr>
              <a:t>low light</a:t>
            </a:r>
          </a:p>
          <a:p>
            <a:pPr algn="just">
              <a:lnSpc>
                <a:spcPct val="125000"/>
              </a:lnSpc>
            </a:pPr>
            <a:r>
              <a:rPr lang="en-US" sz="1600" dirty="0">
                <a:solidFill>
                  <a:srgbClr val="000000"/>
                </a:solidFill>
                <a:latin typeface="Times New Roman Regular" panose="02020503050405090304" charset="0"/>
                <a:ea typeface="HarmonyOS Sans" pitchFamily="34" charset="-122"/>
                <a:cs typeface="Times New Roman Regular" panose="02020503050405090304" charset="0"/>
              </a:rPr>
              <a:t>- </a:t>
            </a:r>
            <a:r>
              <a:rPr lang="en-US" altLang="en-US" sz="1600" dirty="0">
                <a:solidFill>
                  <a:srgbClr val="000000"/>
                </a:solidFill>
                <a:latin typeface="Times New Roman Regular" panose="02020503050405090304" charset="0"/>
                <a:ea typeface="HarmonyOS Sans" pitchFamily="34" charset="-122"/>
                <a:cs typeface="Times New Roman Regular" panose="02020503050405090304" charset="0"/>
              </a:rPr>
              <a:t>cluttered backgrounds</a:t>
            </a:r>
          </a:p>
          <a:p>
            <a:pPr algn="just">
              <a:lnSpc>
                <a:spcPct val="125000"/>
              </a:lnSpc>
            </a:pPr>
            <a:r>
              <a:rPr lang="en-US" sz="1600" dirty="0">
                <a:solidFill>
                  <a:srgbClr val="000000"/>
                </a:solidFill>
                <a:latin typeface="Times New Roman Regular" panose="02020503050405090304" charset="0"/>
                <a:ea typeface="HarmonyOS Sans" pitchFamily="34" charset="-122"/>
                <a:cs typeface="Times New Roman Regular" panose="02020503050405090304" charset="0"/>
              </a:rPr>
              <a:t>- </a:t>
            </a:r>
            <a:r>
              <a:rPr lang="en-US" altLang="en-US" sz="1600" dirty="0">
                <a:latin typeface="Times New Roman Regular" panose="02020503050405090304" charset="0"/>
                <a:cs typeface="Times New Roman Regular" panose="02020503050405090304" charset="0"/>
              </a:rPr>
              <a:t>dynamic scenes</a:t>
            </a:r>
          </a:p>
        </p:txBody>
      </p:sp>
      <p:sp>
        <p:nvSpPr>
          <p:cNvPr id="5" name="Text Box 4"/>
          <p:cNvSpPr txBox="1"/>
          <p:nvPr/>
        </p:nvSpPr>
        <p:spPr>
          <a:xfrm>
            <a:off x="578171" y="1331793"/>
            <a:ext cx="9713511" cy="1807543"/>
          </a:xfrm>
          <a:prstGeom prst="rect">
            <a:avLst/>
          </a:prstGeom>
          <a:noFill/>
        </p:spPr>
        <p:txBody>
          <a:bodyPr wrap="square" rtlCol="0">
            <a:noAutofit/>
          </a:bodyPr>
          <a:lstStyle/>
          <a:p>
            <a:pPr algn="just">
              <a:lnSpc>
                <a:spcPct val="125000"/>
              </a:lnSpc>
              <a:buClrTx/>
              <a:buSzTx/>
              <a:buFontTx/>
            </a:pPr>
            <a:r>
              <a:rPr lang="en-US" sz="1600" b="1" dirty="0">
                <a:solidFill>
                  <a:srgbClr val="000000"/>
                </a:solidFill>
                <a:latin typeface="Times New Roman Regular" panose="02020503050405090304" charset="0"/>
                <a:ea typeface="HarmonyOS Sans" pitchFamily="34" charset="-122"/>
                <a:cs typeface="Times New Roman Regular" panose="02020503050405090304" charset="0"/>
              </a:rPr>
              <a:t>Advantages of OCR+TTS</a:t>
            </a:r>
          </a:p>
          <a:p>
            <a:pPr algn="just">
              <a:lnSpc>
                <a:spcPct val="125000"/>
              </a:lnSpc>
              <a:buClrTx/>
              <a:buSzTx/>
              <a:buFontTx/>
            </a:pPr>
            <a:r>
              <a:rPr lang="en-US" sz="1600" dirty="0">
                <a:solidFill>
                  <a:srgbClr val="000000"/>
                </a:solidFill>
                <a:latin typeface="Times New Roman Regular" panose="02020503050405090304" charset="0"/>
                <a:ea typeface="HarmonyOS Sans" pitchFamily="34" charset="-122"/>
                <a:cs typeface="Times New Roman Regular" panose="02020503050405090304" charset="0"/>
                <a:sym typeface="+mn-ea"/>
              </a:rPr>
              <a:t>- </a:t>
            </a:r>
            <a:r>
              <a:rPr lang="en-US" sz="1600" dirty="0">
                <a:solidFill>
                  <a:srgbClr val="000000"/>
                </a:solidFill>
                <a:latin typeface="Times New Roman Regular" panose="02020503050405090304" charset="0"/>
                <a:ea typeface="HarmonyOS Sans" pitchFamily="34" charset="-122"/>
                <a:cs typeface="Times New Roman Regular" panose="02020503050405090304" charset="0"/>
              </a:rPr>
              <a:t>Universality</a:t>
            </a:r>
          </a:p>
          <a:p>
            <a:pPr algn="just">
              <a:lnSpc>
                <a:spcPct val="125000"/>
              </a:lnSpc>
              <a:buClrTx/>
              <a:buSzTx/>
              <a:buFontTx/>
            </a:pPr>
            <a:r>
              <a:rPr lang="en-US" sz="1600" dirty="0">
                <a:solidFill>
                  <a:srgbClr val="000000"/>
                </a:solidFill>
                <a:latin typeface="Times New Roman Regular" panose="02020503050405090304" charset="0"/>
                <a:ea typeface="HarmonyOS Sans" pitchFamily="34" charset="-122"/>
                <a:cs typeface="Times New Roman Regular" panose="02020503050405090304" charset="0"/>
                <a:sym typeface="+mn-ea"/>
              </a:rPr>
              <a:t>- </a:t>
            </a:r>
            <a:r>
              <a:rPr lang="en-US" sz="1600" dirty="0">
                <a:solidFill>
                  <a:srgbClr val="000000"/>
                </a:solidFill>
                <a:latin typeface="Times New Roman Regular" panose="02020503050405090304" charset="0"/>
                <a:ea typeface="HarmonyOS Sans" pitchFamily="34" charset="-122"/>
                <a:cs typeface="Times New Roman Regular" panose="02020503050405090304" charset="0"/>
              </a:rPr>
              <a:t>Real-time Feedback</a:t>
            </a:r>
          </a:p>
          <a:p>
            <a:pPr algn="just">
              <a:lnSpc>
                <a:spcPct val="125000"/>
              </a:lnSpc>
              <a:buClrTx/>
              <a:buSzTx/>
              <a:buFontTx/>
            </a:pPr>
            <a:r>
              <a:rPr lang="en-US" sz="1600" dirty="0">
                <a:solidFill>
                  <a:srgbClr val="000000"/>
                </a:solidFill>
                <a:latin typeface="Times New Roman Regular" panose="02020503050405090304" charset="0"/>
                <a:ea typeface="HarmonyOS Sans" pitchFamily="34" charset="-122"/>
                <a:cs typeface="Times New Roman Regular" panose="02020503050405090304" charset="0"/>
                <a:sym typeface="+mn-ea"/>
              </a:rPr>
              <a:t>- </a:t>
            </a:r>
            <a:r>
              <a:rPr lang="en-US" sz="1600" dirty="0">
                <a:solidFill>
                  <a:srgbClr val="000000"/>
                </a:solidFill>
                <a:latin typeface="Times New Roman Regular" panose="02020503050405090304" charset="0"/>
                <a:ea typeface="HarmonyOS Sans" pitchFamily="34" charset="-122"/>
                <a:cs typeface="Times New Roman Regular" panose="02020503050405090304" charset="0"/>
              </a:rPr>
              <a:t>Low Cost  </a:t>
            </a:r>
          </a:p>
        </p:txBody>
      </p:sp>
      <p:sp>
        <p:nvSpPr>
          <p:cNvPr id="6" name="Text Box 5"/>
          <p:cNvSpPr txBox="1"/>
          <p:nvPr/>
        </p:nvSpPr>
        <p:spPr>
          <a:xfrm>
            <a:off x="11122847" y="6416269"/>
            <a:ext cx="4062909" cy="312420"/>
          </a:xfrm>
          <a:prstGeom prst="rect">
            <a:avLst/>
          </a:prstGeom>
          <a:noFill/>
        </p:spPr>
        <p:txBody>
          <a:bodyPr wrap="square" rtlCol="0">
            <a:spAutoFit/>
          </a:bodyPr>
          <a:lstStyle/>
          <a:p>
            <a:r>
              <a:rPr lang="en-US" sz="1440">
                <a:latin typeface="Times New Roman Regular" panose="02020503050405090304" charset="0"/>
                <a:cs typeface="Times New Roman Regular" panose="02020503050405090304" charset="0"/>
              </a:rPr>
              <a:t>5</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237518" y="372882"/>
            <a:ext cx="10433380" cy="679961"/>
          </a:xfrm>
          <a:prstGeom prst="rect">
            <a:avLst/>
          </a:prstGeom>
          <a:solidFill>
            <a:srgbClr val="FFFFFF">
              <a:alpha val="0"/>
            </a:srgbClr>
          </a:solidFill>
        </p:spPr>
        <p:txBody>
          <a:bodyPr wrap="square" lIns="0" tIns="0" rIns="0" bIns="0" rtlCol="0" anchor="ctr"/>
          <a:lstStyle/>
          <a:p>
            <a:pPr algn="l">
              <a:lnSpc>
                <a:spcPct val="125000"/>
              </a:lnSpc>
            </a:pPr>
            <a:r>
              <a:rPr lang="en-US" sz="2880" b="1" dirty="0">
                <a:solidFill>
                  <a:srgbClr val="000000"/>
                </a:solidFill>
                <a:latin typeface="HarmonyOS Sans" pitchFamily="34" charset="-122"/>
                <a:ea typeface="HarmonyOS Sans" pitchFamily="34" charset="-122"/>
                <a:cs typeface="HarmonyOS Sans" pitchFamily="34" charset="-120"/>
              </a:rPr>
              <a:t>Overview of Qwen2-VL</a:t>
            </a:r>
            <a:endParaRPr lang="en-US" sz="2880" dirty="0"/>
          </a:p>
        </p:txBody>
      </p:sp>
      <p:pic>
        <p:nvPicPr>
          <p:cNvPr id="4"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6996" y="1813229"/>
            <a:ext cx="43868" cy="3604525"/>
          </a:xfrm>
          <a:prstGeom prst="rect">
            <a:avLst/>
          </a:prstGeom>
        </p:spPr>
      </p:pic>
      <p:pic>
        <p:nvPicPr>
          <p:cNvPr id="5"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88346" y="1813229"/>
            <a:ext cx="43868" cy="3604525"/>
          </a:xfrm>
          <a:prstGeom prst="rect">
            <a:avLst/>
          </a:prstGeom>
        </p:spPr>
      </p:pic>
      <p:pic>
        <p:nvPicPr>
          <p:cNvPr id="6" name="Image 3"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04557" y="1813229"/>
            <a:ext cx="197408" cy="3604525"/>
          </a:xfrm>
          <a:prstGeom prst="rect">
            <a:avLst/>
          </a:prstGeom>
        </p:spPr>
      </p:pic>
      <p:sp>
        <p:nvSpPr>
          <p:cNvPr id="7" name="Text 1"/>
          <p:cNvSpPr/>
          <p:nvPr/>
        </p:nvSpPr>
        <p:spPr>
          <a:xfrm>
            <a:off x="3270090" y="1365406"/>
            <a:ext cx="438685" cy="438685"/>
          </a:xfrm>
          <a:prstGeom prst="ellipse">
            <a:avLst/>
          </a:prstGeom>
          <a:noFill/>
          <a:ln w="19050">
            <a:solidFill>
              <a:srgbClr val="C55A40"/>
            </a:solidFill>
            <a:prstDash val="solid"/>
            <a:headEnd type="none"/>
            <a:tailEnd type="none"/>
          </a:ln>
          <a:effectLst>
            <a:outerShdw blurRad="101600" dist="50800" dir="16200000" algn="bl" rotWithShape="0">
              <a:srgbClr val="000000">
                <a:alpha val="0"/>
              </a:srgbClr>
            </a:outerShdw>
          </a:effectLst>
        </p:spPr>
        <p:txBody>
          <a:bodyPr wrap="square" lIns="913" tIns="0" rIns="913" bIns="0" rtlCol="0" anchor="ctr"/>
          <a:lstStyle/>
          <a:p>
            <a:pPr algn="ctr">
              <a:lnSpc>
                <a:spcPct val="125000"/>
              </a:lnSpc>
            </a:pPr>
            <a:r>
              <a:rPr lang="en-US" sz="1120" dirty="0">
                <a:solidFill>
                  <a:srgbClr val="FFFFFF"/>
                </a:solidFill>
                <a:latin typeface="Source Han Sans CN" panose="020B0500000000000000" pitchFamily="34" charset="-122"/>
                <a:ea typeface="Source Han Sans CN" panose="020B0500000000000000" pitchFamily="34" charset="-122"/>
                <a:cs typeface="Source Han Sans CN" panose="020B0500000000000000" pitchFamily="34" charset="-120"/>
              </a:rPr>
              <a:t> </a:t>
            </a:r>
            <a:endParaRPr lang="en-US" sz="1120" dirty="0"/>
          </a:p>
        </p:txBody>
      </p:sp>
      <p:sp>
        <p:nvSpPr>
          <p:cNvPr id="8" name="Text 2"/>
          <p:cNvSpPr/>
          <p:nvPr/>
        </p:nvSpPr>
        <p:spPr>
          <a:xfrm>
            <a:off x="3335892" y="1431208"/>
            <a:ext cx="299768" cy="307079"/>
          </a:xfrm>
          <a:prstGeom prst="rect">
            <a:avLst/>
          </a:prstGeom>
          <a:solidFill>
            <a:srgbClr val="FFFFFF">
              <a:alpha val="0"/>
            </a:srgbClr>
          </a:solidFill>
        </p:spPr>
        <p:txBody>
          <a:bodyPr wrap="square" lIns="0" tIns="0" rIns="0" bIns="0" rtlCol="0" anchor="ctr"/>
          <a:lstStyle/>
          <a:p>
            <a:pPr algn="ctr">
              <a:lnSpc>
                <a:spcPct val="125000"/>
              </a:lnSpc>
            </a:pPr>
            <a:r>
              <a:rPr lang="en-US" sz="1120" b="1" dirty="0">
                <a:solidFill>
                  <a:srgbClr val="000000"/>
                </a:solidFill>
                <a:latin typeface="Barlow" charset="0"/>
                <a:ea typeface="Barlow" panose="00000500000000000000" pitchFamily="34" charset="-122"/>
                <a:cs typeface="Barlow" panose="00000500000000000000" pitchFamily="34" charset="-120"/>
              </a:rPr>
              <a:t>01</a:t>
            </a:r>
            <a:endParaRPr lang="en-US" sz="1120" dirty="0"/>
          </a:p>
        </p:txBody>
      </p:sp>
      <p:sp>
        <p:nvSpPr>
          <p:cNvPr id="10" name="Text 4"/>
          <p:cNvSpPr/>
          <p:nvPr/>
        </p:nvSpPr>
        <p:spPr>
          <a:xfrm>
            <a:off x="8475813" y="1365406"/>
            <a:ext cx="438685" cy="438685"/>
          </a:xfrm>
          <a:prstGeom prst="ellipse">
            <a:avLst/>
          </a:prstGeom>
          <a:noFill/>
          <a:ln w="19050">
            <a:solidFill>
              <a:srgbClr val="000000"/>
            </a:solidFill>
            <a:prstDash val="solid"/>
            <a:headEnd type="none"/>
            <a:tailEnd type="none"/>
          </a:ln>
          <a:effectLst>
            <a:outerShdw blurRad="101600" dist="50800" dir="16200000" algn="bl" rotWithShape="0">
              <a:srgbClr val="000000">
                <a:alpha val="0"/>
              </a:srgbClr>
            </a:outerShdw>
          </a:effectLst>
        </p:spPr>
        <p:txBody>
          <a:bodyPr wrap="square" lIns="913" tIns="0" rIns="913" bIns="0" rtlCol="0" anchor="ctr"/>
          <a:lstStyle/>
          <a:p>
            <a:pPr algn="ctr">
              <a:lnSpc>
                <a:spcPct val="125000"/>
              </a:lnSpc>
            </a:pPr>
            <a:r>
              <a:rPr lang="en-US" sz="1120" dirty="0">
                <a:solidFill>
                  <a:srgbClr val="FFFFFF"/>
                </a:solidFill>
                <a:latin typeface="Source Han Sans CN" panose="020B0500000000000000" pitchFamily="34" charset="-122"/>
                <a:ea typeface="Source Han Sans CN" panose="020B0500000000000000" pitchFamily="34" charset="-122"/>
                <a:cs typeface="Source Han Sans CN" panose="020B0500000000000000" pitchFamily="34" charset="-120"/>
              </a:rPr>
              <a:t> </a:t>
            </a:r>
            <a:endParaRPr lang="en-US" sz="1120" dirty="0"/>
          </a:p>
        </p:txBody>
      </p:sp>
      <p:sp>
        <p:nvSpPr>
          <p:cNvPr id="11" name="Text 5"/>
          <p:cNvSpPr/>
          <p:nvPr/>
        </p:nvSpPr>
        <p:spPr>
          <a:xfrm>
            <a:off x="8541616" y="1431208"/>
            <a:ext cx="307079" cy="307079"/>
          </a:xfrm>
          <a:prstGeom prst="rect">
            <a:avLst/>
          </a:prstGeom>
          <a:solidFill>
            <a:srgbClr val="FFFFFF">
              <a:alpha val="0"/>
            </a:srgbClr>
          </a:solidFill>
        </p:spPr>
        <p:txBody>
          <a:bodyPr wrap="square" lIns="0" tIns="0" rIns="0" bIns="0" rtlCol="0" anchor="ctr"/>
          <a:lstStyle/>
          <a:p>
            <a:pPr algn="ctr">
              <a:lnSpc>
                <a:spcPct val="125000"/>
              </a:lnSpc>
            </a:pPr>
            <a:r>
              <a:rPr lang="en-US" sz="1120" b="1" dirty="0">
                <a:solidFill>
                  <a:srgbClr val="000000"/>
                </a:solidFill>
                <a:latin typeface="Barlow" charset="0"/>
                <a:ea typeface="Barlow" panose="00000500000000000000" pitchFamily="34" charset="-122"/>
                <a:cs typeface="Barlow" panose="00000500000000000000" pitchFamily="34" charset="-120"/>
              </a:rPr>
              <a:t>02</a:t>
            </a:r>
            <a:endParaRPr lang="en-US" sz="1120" dirty="0"/>
          </a:p>
        </p:txBody>
      </p:sp>
      <p:pic>
        <p:nvPicPr>
          <p:cNvPr id="14" name="Image 5"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08737" y="365570"/>
            <a:ext cx="489864" cy="687272"/>
          </a:xfrm>
          <a:prstGeom prst="rect">
            <a:avLst/>
          </a:prstGeom>
        </p:spPr>
      </p:pic>
      <p:sp>
        <p:nvSpPr>
          <p:cNvPr id="29" name="Text Box 28"/>
          <p:cNvSpPr txBox="1"/>
          <p:nvPr/>
        </p:nvSpPr>
        <p:spPr>
          <a:xfrm>
            <a:off x="10891827" y="5962352"/>
            <a:ext cx="4062909" cy="312420"/>
          </a:xfrm>
          <a:prstGeom prst="rect">
            <a:avLst/>
          </a:prstGeom>
          <a:noFill/>
        </p:spPr>
        <p:txBody>
          <a:bodyPr wrap="square" rtlCol="0">
            <a:spAutoFit/>
          </a:bodyPr>
          <a:lstStyle/>
          <a:p>
            <a:r>
              <a:rPr lang="en-US" sz="1440"/>
              <a:t>10</a:t>
            </a:r>
          </a:p>
        </p:txBody>
      </p:sp>
      <p:sp>
        <p:nvSpPr>
          <p:cNvPr id="3" name="Text Box 2"/>
          <p:cNvSpPr txBox="1"/>
          <p:nvPr/>
        </p:nvSpPr>
        <p:spPr>
          <a:xfrm>
            <a:off x="6663650" y="2988538"/>
            <a:ext cx="4061894" cy="1272540"/>
          </a:xfrm>
          <a:prstGeom prst="rect">
            <a:avLst/>
          </a:prstGeom>
        </p:spPr>
        <p:txBody>
          <a:bodyPr>
            <a:spAutoFit/>
          </a:bodyPr>
          <a:lstStyle/>
          <a:p>
            <a:pPr marL="0" indent="0" algn="just" defTabSz="266700">
              <a:spcBef>
                <a:spcPct val="0"/>
              </a:spcBef>
              <a:spcAft>
                <a:spcPct val="0"/>
              </a:spcAft>
            </a:pPr>
            <a:r>
              <a:rPr lang="en-US" altLang="zh-CN" sz="2560">
                <a:latin typeface="Times New Roman" panose="02020503050405090304"/>
                <a:ea typeface="宋体"/>
              </a:rPr>
              <a:t> Limitations of OCR+TTS and LLM mentioned in the literature review</a:t>
            </a:r>
          </a:p>
        </p:txBody>
      </p:sp>
      <p:sp>
        <p:nvSpPr>
          <p:cNvPr id="9" name="Text Box 8"/>
          <p:cNvSpPr txBox="1"/>
          <p:nvPr/>
        </p:nvSpPr>
        <p:spPr>
          <a:xfrm>
            <a:off x="1198880" y="2797175"/>
            <a:ext cx="4686935" cy="2157095"/>
          </a:xfrm>
          <a:prstGeom prst="rect">
            <a:avLst/>
          </a:prstGeom>
          <a:noFill/>
        </p:spPr>
        <p:txBody>
          <a:bodyPr wrap="square" rtlCol="0" anchor="t">
            <a:spAutoFit/>
          </a:bodyPr>
          <a:lstStyle/>
          <a:p>
            <a:pPr marL="457200" indent="-457200" algn="just">
              <a:buFont typeface="Arial" panose="020B0604020202090204" pitchFamily="34" charset="0"/>
              <a:buChar char="•"/>
            </a:pPr>
            <a:r>
              <a:rPr lang="en-US" altLang="zh-CN" sz="2240">
                <a:latin typeface="Times New Roman Regular" panose="02020503050405090304" charset="0"/>
                <a:ea typeface="ui-sans-serif"/>
                <a:cs typeface="Times New Roman Regular" panose="02020503050405090304" charset="0"/>
                <a:sym typeface="+mn-ea"/>
              </a:rPr>
              <a:t>Image Captioning</a:t>
            </a:r>
            <a:endParaRPr lang="en-US" altLang="zh-CN" sz="2240" b="0" i="0">
              <a:solidFill>
                <a:schemeClr val="tx1"/>
              </a:solidFill>
              <a:latin typeface="Times New Roman Regular" panose="02020503050405090304" charset="0"/>
              <a:ea typeface="ui-sans-serif"/>
              <a:cs typeface="Times New Roman Regular" panose="02020503050405090304" charset="0"/>
            </a:endParaRPr>
          </a:p>
          <a:p>
            <a:pPr marL="457200" indent="-457200" algn="just">
              <a:buFont typeface="Arial" panose="020B0604020202090204" pitchFamily="34" charset="0"/>
              <a:buChar char="•"/>
            </a:pPr>
            <a:r>
              <a:rPr lang="en-US" altLang="zh-CN" sz="2240">
                <a:latin typeface="Times New Roman Regular" panose="02020503050405090304" charset="0"/>
                <a:ea typeface="ui-sans-serif"/>
                <a:cs typeface="Times New Roman Regular" panose="02020503050405090304" charset="0"/>
                <a:sym typeface="+mn-ea"/>
              </a:rPr>
              <a:t>Visual Question Answering (VQA)</a:t>
            </a:r>
            <a:endParaRPr lang="en-US" altLang="zh-CN" sz="2240" b="0" i="0">
              <a:solidFill>
                <a:schemeClr val="tx1"/>
              </a:solidFill>
              <a:latin typeface="Times New Roman Regular" panose="02020503050405090304" charset="0"/>
              <a:ea typeface="ui-sans-serif"/>
              <a:cs typeface="Times New Roman Regular" panose="02020503050405090304" charset="0"/>
            </a:endParaRPr>
          </a:p>
          <a:p>
            <a:pPr marL="457200" indent="-457200" algn="just">
              <a:buFont typeface="Arial" panose="020B0604020202090204" pitchFamily="34" charset="0"/>
              <a:buChar char="•"/>
            </a:pPr>
            <a:r>
              <a:rPr lang="en-US" altLang="zh-CN" sz="2240">
                <a:latin typeface="Times New Roman Regular" panose="02020503050405090304" charset="0"/>
                <a:ea typeface="ui-sans-serif"/>
                <a:cs typeface="Times New Roman Regular" panose="02020503050405090304" charset="0"/>
                <a:sym typeface="+mn-ea"/>
              </a:rPr>
              <a:t>Image-Text Matching</a:t>
            </a:r>
            <a:endParaRPr lang="en-US" altLang="zh-CN" sz="2240" b="0" i="0">
              <a:solidFill>
                <a:schemeClr val="tx1"/>
              </a:solidFill>
              <a:latin typeface="Times New Roman Regular" panose="02020503050405090304" charset="0"/>
              <a:ea typeface="ui-sans-serif"/>
              <a:cs typeface="Times New Roman Regular" panose="02020503050405090304" charset="0"/>
            </a:endParaRPr>
          </a:p>
          <a:p>
            <a:pPr marL="457200" indent="-457200" algn="just">
              <a:buFont typeface="Arial" panose="020B0604020202090204" pitchFamily="34" charset="0"/>
              <a:buChar char="•"/>
            </a:pPr>
            <a:r>
              <a:rPr lang="en-US" altLang="zh-CN" sz="2240">
                <a:latin typeface="Times New Roman Regular" panose="02020503050405090304" charset="0"/>
                <a:ea typeface="ui-sans-serif"/>
                <a:cs typeface="Times New Roman Regular" panose="02020503050405090304" charset="0"/>
                <a:sym typeface="+mn-ea"/>
              </a:rPr>
              <a:t>Image Classification and Object Detection</a:t>
            </a:r>
            <a:endParaRPr lang="en-US" altLang="zh-CN" sz="2240" b="0" i="0">
              <a:solidFill>
                <a:schemeClr val="tx1"/>
              </a:solidFill>
              <a:latin typeface="Times New Roman Regular" panose="02020503050405090304" charset="0"/>
              <a:ea typeface="ui-sans-serif"/>
              <a:cs typeface="Times New Roman Regular" panose="02020503050405090304" charset="0"/>
            </a:endParaRPr>
          </a:p>
          <a:p>
            <a:pPr marL="457200" indent="-457200" algn="just">
              <a:buFont typeface="Arial" panose="020B0604020202090204" pitchFamily="34" charset="0"/>
              <a:buChar char="•"/>
            </a:pPr>
            <a:r>
              <a:rPr lang="en-US" altLang="zh-CN" sz="2240">
                <a:latin typeface="Times New Roman Regular" panose="02020503050405090304" charset="0"/>
                <a:ea typeface="ui-sans-serif"/>
                <a:cs typeface="Times New Roman Regular" panose="02020503050405090304" charset="0"/>
                <a:sym typeface="+mn-ea"/>
              </a:rPr>
              <a:t>Multimodal Translation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237518" y="372882"/>
            <a:ext cx="10433380" cy="679961"/>
          </a:xfrm>
          <a:prstGeom prst="rect">
            <a:avLst/>
          </a:prstGeom>
          <a:solidFill>
            <a:srgbClr val="FFFFFF">
              <a:alpha val="0"/>
            </a:srgbClr>
          </a:solidFill>
        </p:spPr>
        <p:txBody>
          <a:bodyPr wrap="square" lIns="0" tIns="0" rIns="0" bIns="0" rtlCol="0" anchor="ctr"/>
          <a:lstStyle/>
          <a:p>
            <a:pPr algn="l">
              <a:lnSpc>
                <a:spcPct val="125000"/>
              </a:lnSpc>
            </a:pPr>
            <a:r>
              <a:rPr lang="en-US" sz="2880" b="1" dirty="0">
                <a:solidFill>
                  <a:srgbClr val="000000"/>
                </a:solidFill>
                <a:latin typeface="Times New Roman Regular" panose="02020503050405090304" charset="0"/>
                <a:ea typeface="HarmonyOS Sans" pitchFamily="34" charset="-122"/>
                <a:cs typeface="Times New Roman Regular" panose="02020503050405090304" charset="0"/>
                <a:sym typeface="+mn-ea"/>
              </a:rPr>
              <a:t>Overview</a:t>
            </a:r>
            <a:r>
              <a:rPr lang="en-US" sz="2880" b="1" dirty="0">
                <a:solidFill>
                  <a:srgbClr val="000000"/>
                </a:solidFill>
                <a:latin typeface="Times New Roman Regular" panose="02020503050405090304" charset="0"/>
                <a:ea typeface="HarmonyOS Sans" pitchFamily="34" charset="-122"/>
                <a:cs typeface="Times New Roman Regular" panose="02020503050405090304" charset="0"/>
              </a:rPr>
              <a:t> of Deblur GAN with Qwen 2 VL</a:t>
            </a:r>
            <a:endParaRPr lang="en-US" sz="2880" dirty="0">
              <a:latin typeface="Times New Roman Regular" panose="02020503050405090304" charset="0"/>
              <a:cs typeface="Times New Roman Regular" panose="02020503050405090304" charset="0"/>
            </a:endParaRPr>
          </a:p>
        </p:txBody>
      </p:sp>
      <p:pic>
        <p:nvPicPr>
          <p:cNvPr id="14" name="Image 5"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8737" y="365570"/>
            <a:ext cx="489864" cy="687272"/>
          </a:xfrm>
          <a:prstGeom prst="rect">
            <a:avLst/>
          </a:prstGeom>
        </p:spPr>
      </p:pic>
      <p:pic>
        <p:nvPicPr>
          <p:cNvPr id="3" name="图片 2" descr="6"/>
          <p:cNvPicPr>
            <a:picLocks noChangeAspect="1"/>
          </p:cNvPicPr>
          <p:nvPr/>
        </p:nvPicPr>
        <p:blipFill>
          <a:blip r:embed="rId5"/>
          <a:stretch>
            <a:fillRect/>
          </a:stretch>
        </p:blipFill>
        <p:spPr>
          <a:xfrm>
            <a:off x="8669971" y="1913152"/>
            <a:ext cx="2930149" cy="2930149"/>
          </a:xfrm>
          <a:prstGeom prst="rect">
            <a:avLst/>
          </a:prstGeom>
        </p:spPr>
      </p:pic>
      <p:pic>
        <p:nvPicPr>
          <p:cNvPr id="17" name="图片 16" descr="5bba197f4fe437ef6d572f39c7ee998"/>
          <p:cNvPicPr>
            <a:picLocks noChangeAspect="1"/>
          </p:cNvPicPr>
          <p:nvPr/>
        </p:nvPicPr>
        <p:blipFill>
          <a:blip r:embed="rId6"/>
          <a:stretch>
            <a:fillRect/>
          </a:stretch>
        </p:blipFill>
        <p:spPr>
          <a:xfrm>
            <a:off x="4908150" y="1913152"/>
            <a:ext cx="2930149" cy="2930149"/>
          </a:xfrm>
          <a:prstGeom prst="rect">
            <a:avLst/>
          </a:prstGeom>
        </p:spPr>
      </p:pic>
      <p:pic>
        <p:nvPicPr>
          <p:cNvPr id="18" name="图片 17" descr="a1aa7fc9bc55f333f6432c0de3aa26d"/>
          <p:cNvPicPr>
            <a:picLocks noChangeAspect="1"/>
          </p:cNvPicPr>
          <p:nvPr/>
        </p:nvPicPr>
        <p:blipFill>
          <a:blip r:embed="rId7"/>
          <a:stretch>
            <a:fillRect/>
          </a:stretch>
        </p:blipFill>
        <p:spPr>
          <a:xfrm>
            <a:off x="904646" y="1913152"/>
            <a:ext cx="2930656" cy="2930656"/>
          </a:xfrm>
          <a:prstGeom prst="rect">
            <a:avLst/>
          </a:prstGeom>
        </p:spPr>
      </p:pic>
      <p:sp>
        <p:nvSpPr>
          <p:cNvPr id="19" name="文本框 18"/>
          <p:cNvSpPr txBox="1"/>
          <p:nvPr/>
        </p:nvSpPr>
        <p:spPr>
          <a:xfrm>
            <a:off x="2131060" y="5115560"/>
            <a:ext cx="770255" cy="312420"/>
          </a:xfrm>
          <a:prstGeom prst="rect">
            <a:avLst/>
          </a:prstGeom>
          <a:noFill/>
        </p:spPr>
        <p:txBody>
          <a:bodyPr wrap="square" rtlCol="0">
            <a:spAutoFit/>
          </a:bodyPr>
          <a:lstStyle/>
          <a:p>
            <a:r>
              <a:rPr lang="en-US" altLang="zh-CN" sz="1440" b="1">
                <a:latin typeface="Times New Roman Regular" panose="02020503050405090304" charset="0"/>
                <a:cs typeface="Times New Roman Regular" panose="02020503050405090304" charset="0"/>
              </a:rPr>
              <a:t>Blur</a:t>
            </a:r>
          </a:p>
        </p:txBody>
      </p:sp>
      <p:sp>
        <p:nvSpPr>
          <p:cNvPr id="20" name="文本框 19"/>
          <p:cNvSpPr txBox="1"/>
          <p:nvPr/>
        </p:nvSpPr>
        <p:spPr>
          <a:xfrm>
            <a:off x="6134100" y="5217160"/>
            <a:ext cx="1176655" cy="312420"/>
          </a:xfrm>
          <a:prstGeom prst="rect">
            <a:avLst/>
          </a:prstGeom>
          <a:noFill/>
        </p:spPr>
        <p:txBody>
          <a:bodyPr wrap="square" rtlCol="0">
            <a:spAutoFit/>
          </a:bodyPr>
          <a:lstStyle/>
          <a:p>
            <a:r>
              <a:rPr lang="en-US" altLang="zh-CN" sz="1440" b="1">
                <a:latin typeface="Times New Roman Regular" panose="02020503050405090304" charset="0"/>
                <a:cs typeface="Times New Roman Regular" panose="02020503050405090304" charset="0"/>
              </a:rPr>
              <a:t>DeBlur</a:t>
            </a:r>
          </a:p>
        </p:txBody>
      </p:sp>
      <p:sp>
        <p:nvSpPr>
          <p:cNvPr id="21" name="文本框 20"/>
          <p:cNvSpPr txBox="1"/>
          <p:nvPr/>
        </p:nvSpPr>
        <p:spPr>
          <a:xfrm>
            <a:off x="9498090" y="5216995"/>
            <a:ext cx="1274419" cy="533400"/>
          </a:xfrm>
          <a:prstGeom prst="rect">
            <a:avLst/>
          </a:prstGeom>
          <a:noFill/>
        </p:spPr>
        <p:txBody>
          <a:bodyPr wrap="square" rtlCol="0">
            <a:spAutoFit/>
          </a:bodyPr>
          <a:lstStyle/>
          <a:p>
            <a:r>
              <a:rPr lang="en-US" altLang="zh-CN" sz="1440" b="1">
                <a:latin typeface="Times New Roman Regular" panose="02020503050405090304" charset="0"/>
                <a:cs typeface="Times New Roman Regular" panose="02020503050405090304" charset="0"/>
              </a:rPr>
              <a:t>Ground Truth</a:t>
            </a:r>
          </a:p>
        </p:txBody>
      </p:sp>
      <p:sp>
        <p:nvSpPr>
          <p:cNvPr id="29" name="Text Box 28"/>
          <p:cNvSpPr txBox="1"/>
          <p:nvPr/>
        </p:nvSpPr>
        <p:spPr>
          <a:xfrm>
            <a:off x="10891827" y="6121274"/>
            <a:ext cx="4062909" cy="312420"/>
          </a:xfrm>
          <a:prstGeom prst="rect">
            <a:avLst/>
          </a:prstGeom>
          <a:noFill/>
        </p:spPr>
        <p:txBody>
          <a:bodyPr wrap="square" rtlCol="0">
            <a:spAutoFit/>
          </a:bodyPr>
          <a:lstStyle/>
          <a:p>
            <a:r>
              <a:rPr lang="en-US" sz="1440">
                <a:latin typeface="Times New Roman Regular" panose="02020503050405090304" charset="0"/>
                <a:cs typeface="Times New Roman Regular" panose="02020503050405090304" charset="0"/>
              </a:rPr>
              <a:t>15</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237518" y="372882"/>
            <a:ext cx="10433380" cy="679961"/>
          </a:xfrm>
          <a:prstGeom prst="rect">
            <a:avLst/>
          </a:prstGeom>
          <a:solidFill>
            <a:srgbClr val="FFFFFF">
              <a:alpha val="0"/>
            </a:srgbClr>
          </a:solidFill>
        </p:spPr>
        <p:txBody>
          <a:bodyPr wrap="square" lIns="0" tIns="0" rIns="0" bIns="0" rtlCol="0" anchor="ctr"/>
          <a:lstStyle/>
          <a:p>
            <a:pPr algn="l">
              <a:lnSpc>
                <a:spcPct val="125000"/>
              </a:lnSpc>
            </a:pPr>
            <a:r>
              <a:rPr lang="en-US" sz="2880" b="1" dirty="0">
                <a:solidFill>
                  <a:srgbClr val="000000"/>
                </a:solidFill>
                <a:latin typeface="HarmonyOS Sans" pitchFamily="34" charset="-122"/>
                <a:ea typeface="HarmonyOS Sans" pitchFamily="34" charset="-122"/>
                <a:cs typeface="HarmonyOS Sans" pitchFamily="34" charset="-120"/>
              </a:rPr>
              <a:t>Overview of Deblur GAN with Qwen 2 VL</a:t>
            </a:r>
            <a:endParaRPr lang="en-US" sz="2880" dirty="0"/>
          </a:p>
        </p:txBody>
      </p:sp>
      <p:pic>
        <p:nvPicPr>
          <p:cNvPr id="14" name="Image 5"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8737" y="365570"/>
            <a:ext cx="489864" cy="687272"/>
          </a:xfrm>
          <a:prstGeom prst="rect">
            <a:avLst/>
          </a:prstGeom>
        </p:spPr>
      </p:pic>
      <p:sp>
        <p:nvSpPr>
          <p:cNvPr id="19" name="文本框 18"/>
          <p:cNvSpPr txBox="1"/>
          <p:nvPr/>
        </p:nvSpPr>
        <p:spPr>
          <a:xfrm>
            <a:off x="1838325" y="5427980"/>
            <a:ext cx="770255" cy="312420"/>
          </a:xfrm>
          <a:prstGeom prst="rect">
            <a:avLst/>
          </a:prstGeom>
          <a:noFill/>
        </p:spPr>
        <p:txBody>
          <a:bodyPr wrap="square" rtlCol="0">
            <a:spAutoFit/>
          </a:bodyPr>
          <a:lstStyle/>
          <a:p>
            <a:r>
              <a:rPr lang="en-US" altLang="zh-CN" sz="1440" b="1"/>
              <a:t>Blur</a:t>
            </a:r>
          </a:p>
        </p:txBody>
      </p:sp>
      <p:sp>
        <p:nvSpPr>
          <p:cNvPr id="20" name="文本框 19"/>
          <p:cNvSpPr txBox="1"/>
          <p:nvPr/>
        </p:nvSpPr>
        <p:spPr>
          <a:xfrm>
            <a:off x="5560695" y="5427980"/>
            <a:ext cx="1273810" cy="312420"/>
          </a:xfrm>
          <a:prstGeom prst="rect">
            <a:avLst/>
          </a:prstGeom>
          <a:noFill/>
        </p:spPr>
        <p:txBody>
          <a:bodyPr wrap="square" rtlCol="0">
            <a:spAutoFit/>
          </a:bodyPr>
          <a:lstStyle/>
          <a:p>
            <a:r>
              <a:rPr lang="en-US" altLang="zh-CN" sz="1440" b="1"/>
              <a:t>DeBlur</a:t>
            </a:r>
          </a:p>
        </p:txBody>
      </p:sp>
      <p:sp>
        <p:nvSpPr>
          <p:cNvPr id="21" name="文本框 20"/>
          <p:cNvSpPr txBox="1"/>
          <p:nvPr/>
        </p:nvSpPr>
        <p:spPr>
          <a:xfrm>
            <a:off x="9498090" y="5633339"/>
            <a:ext cx="1274419" cy="533400"/>
          </a:xfrm>
          <a:prstGeom prst="rect">
            <a:avLst/>
          </a:prstGeom>
          <a:noFill/>
        </p:spPr>
        <p:txBody>
          <a:bodyPr wrap="square" rtlCol="0">
            <a:spAutoFit/>
          </a:bodyPr>
          <a:lstStyle/>
          <a:p>
            <a:r>
              <a:rPr lang="en-US" altLang="zh-CN" sz="1440" b="1"/>
              <a:t>Ground Truth</a:t>
            </a:r>
          </a:p>
        </p:txBody>
      </p:sp>
      <p:sp>
        <p:nvSpPr>
          <p:cNvPr id="5" name="文本框 4"/>
          <p:cNvSpPr txBox="1"/>
          <p:nvPr/>
        </p:nvSpPr>
        <p:spPr>
          <a:xfrm>
            <a:off x="8421688" y="1424202"/>
            <a:ext cx="3650119" cy="4072890"/>
          </a:xfrm>
          <a:prstGeom prst="rect">
            <a:avLst/>
          </a:prstGeom>
          <a:noFill/>
        </p:spPr>
        <p:txBody>
          <a:bodyPr wrap="square" rtlCol="0">
            <a:spAutoFit/>
          </a:bodyPr>
          <a:lstStyle/>
          <a:p>
            <a:r>
              <a:rPr lang="en-US" altLang="zh-CN" sz="1440"/>
              <a:t>This image shows a bunch of tomatoes neatly arranged in two wooden crates, placed on a supermarket shelf. Each tomato is red and looks very fresh.</a:t>
            </a:r>
          </a:p>
          <a:p>
            <a:endParaRPr lang="en-US" altLang="zh-CN" sz="1440"/>
          </a:p>
          <a:p>
            <a:r>
              <a:rPr lang="en-US" altLang="zh-CN" sz="1440"/>
              <a:t>Below the shelf, there is a label that reads "</a:t>
            </a:r>
            <a:r>
              <a:rPr lang="zh-CN" altLang="en-US" sz="1440"/>
              <a:t>福島県産</a:t>
            </a:r>
            <a:r>
              <a:rPr lang="en-US" altLang="zh-CN" sz="1440"/>
              <a:t>" (Fukushima Prefecture), indicating that these tomatoes are produced in Fukushima, Japan. The label also displays the price, with each tomato costing 177 yen (191.46 yen including tax).</a:t>
            </a:r>
          </a:p>
          <a:p>
            <a:endParaRPr lang="en-US" altLang="zh-CN" sz="1440"/>
          </a:p>
          <a:p>
            <a:r>
              <a:rPr lang="en-US" altLang="zh-CN" sz="1440"/>
              <a:t>Additionally, there are some plastic bags hanging on the shelf, likely for customers to use for packing the tomatoes. Overall, this is a photo showcasing fresh tomatoes from Fukushima Prefecture for sale in a supermarket.</a:t>
            </a:r>
          </a:p>
        </p:txBody>
      </p:sp>
      <p:sp>
        <p:nvSpPr>
          <p:cNvPr id="6" name="文本框 5"/>
          <p:cNvSpPr txBox="1"/>
          <p:nvPr/>
        </p:nvSpPr>
        <p:spPr>
          <a:xfrm>
            <a:off x="608635" y="1575507"/>
            <a:ext cx="3828843" cy="3630930"/>
          </a:xfrm>
          <a:prstGeom prst="rect">
            <a:avLst/>
          </a:prstGeom>
          <a:noFill/>
        </p:spPr>
        <p:txBody>
          <a:bodyPr wrap="square" rtlCol="0">
            <a:spAutoFit/>
          </a:bodyPr>
          <a:lstStyle/>
          <a:p>
            <a:r>
              <a:rPr lang="en-US" altLang="zh-CN" sz="1440"/>
              <a:t>This is a photo showcasing products on a supermarket shelf. In the image, two wooden crates filled with red tomatoes can be seen. The tomatoes appear fresh and vibrant in color.</a:t>
            </a:r>
          </a:p>
          <a:p>
            <a:endParaRPr lang="en-US" altLang="zh-CN" sz="1440"/>
          </a:p>
          <a:p>
            <a:r>
              <a:rPr lang="en-US" altLang="zh-CN" sz="1440"/>
              <a:t>Below the shelf, there is a label with price information. Although the image is somewhat blurry, the price of </a:t>
            </a:r>
            <a:r>
              <a:rPr lang="en-US" altLang="zh-CN" sz="1440">
                <a:solidFill>
                  <a:srgbClr val="FF0000"/>
                </a:solidFill>
              </a:rPr>
              <a:t>"17.8 yen"</a:t>
            </a:r>
            <a:r>
              <a:rPr lang="en-US" altLang="zh-CN" sz="1440"/>
              <a:t> is legible. Next to the label, there is a</a:t>
            </a:r>
            <a:r>
              <a:rPr lang="en-US" altLang="zh-CN" sz="1440">
                <a:solidFill>
                  <a:srgbClr val="FF0000"/>
                </a:solidFill>
              </a:rPr>
              <a:t> QR code</a:t>
            </a:r>
            <a:r>
              <a:rPr lang="en-US" altLang="zh-CN" sz="1440"/>
              <a:t>, likely for scanning to obtain more information or for payment.</a:t>
            </a:r>
          </a:p>
          <a:p>
            <a:endParaRPr lang="en-US" altLang="zh-CN" sz="1440"/>
          </a:p>
          <a:p>
            <a:r>
              <a:rPr lang="en-US" altLang="zh-CN" sz="1440"/>
              <a:t>In summary, this image displays fresh tomatoes on a supermarket shelf, priced at </a:t>
            </a:r>
            <a:r>
              <a:rPr lang="en-US" altLang="zh-CN" sz="1440">
                <a:solidFill>
                  <a:srgbClr val="FF0000"/>
                </a:solidFill>
              </a:rPr>
              <a:t>17.8 yen</a:t>
            </a:r>
            <a:r>
              <a:rPr lang="en-US" altLang="zh-CN" sz="1440"/>
              <a:t>.</a:t>
            </a:r>
          </a:p>
        </p:txBody>
      </p:sp>
      <p:sp>
        <p:nvSpPr>
          <p:cNvPr id="7" name="文本框 6"/>
          <p:cNvSpPr txBox="1"/>
          <p:nvPr/>
        </p:nvSpPr>
        <p:spPr>
          <a:xfrm>
            <a:off x="4406506" y="1424202"/>
            <a:ext cx="3583098" cy="3168785"/>
          </a:xfrm>
          <a:prstGeom prst="rect">
            <a:avLst/>
          </a:prstGeom>
          <a:noFill/>
        </p:spPr>
        <p:txBody>
          <a:bodyPr wrap="square" rtlCol="0">
            <a:noAutofit/>
          </a:bodyPr>
          <a:lstStyle/>
          <a:p>
            <a:r>
              <a:rPr lang="en-US" altLang="zh-CN" sz="1440"/>
              <a:t>This image shows a pile of tomatoes neatly arranged in two wooden crates, each filled with many red tomatoes. The tomatoes appear fresh and plump.</a:t>
            </a:r>
          </a:p>
          <a:p>
            <a:endParaRPr lang="en-US" altLang="zh-CN" sz="1440"/>
          </a:p>
          <a:p>
            <a:r>
              <a:rPr lang="en-US" altLang="zh-CN" sz="1440"/>
              <a:t>Below the crates, there is a label with some text and numbers. According to the information in the image, the price of these tomatoes is </a:t>
            </a:r>
            <a:r>
              <a:rPr lang="en-US" altLang="zh-CN" sz="1440">
                <a:solidFill>
                  <a:schemeClr val="accent6"/>
                </a:solidFill>
              </a:rPr>
              <a:t>177 yen per kilogram</a:t>
            </a:r>
            <a:r>
              <a:rPr lang="en-US" altLang="zh-CN" sz="1440"/>
              <a:t>. The label also mentions "</a:t>
            </a:r>
            <a:r>
              <a:rPr lang="zh-CN" altLang="en-US" sz="1440">
                <a:solidFill>
                  <a:schemeClr val="accent6"/>
                </a:solidFill>
              </a:rPr>
              <a:t>福島県産</a:t>
            </a:r>
            <a:r>
              <a:rPr lang="en-US" altLang="zh-CN" sz="1440"/>
              <a:t>" (Fukushima Prefecture), indicating that these tomatoes are produced in Fukushima, Japan.</a:t>
            </a:r>
          </a:p>
          <a:p>
            <a:endParaRPr lang="en-US" altLang="zh-CN" sz="1440"/>
          </a:p>
          <a:p>
            <a:r>
              <a:rPr lang="en-US" altLang="zh-CN" sz="1440"/>
              <a:t>In summary, this image showcases tomatoes from Fukushima Prefecture being sold at a price of </a:t>
            </a:r>
            <a:r>
              <a:rPr lang="en-US" altLang="zh-CN" sz="1440">
                <a:solidFill>
                  <a:schemeClr val="accent6"/>
                </a:solidFill>
              </a:rPr>
              <a:t>177 yen per kilogram</a:t>
            </a:r>
            <a:r>
              <a:rPr lang="en-US" altLang="zh-CN" sz="1440"/>
              <a:t>.</a:t>
            </a:r>
          </a:p>
        </p:txBody>
      </p:sp>
      <p:sp>
        <p:nvSpPr>
          <p:cNvPr id="29" name="Text Box 28"/>
          <p:cNvSpPr txBox="1"/>
          <p:nvPr/>
        </p:nvSpPr>
        <p:spPr>
          <a:xfrm>
            <a:off x="10891827" y="6121274"/>
            <a:ext cx="4062909" cy="312420"/>
          </a:xfrm>
          <a:prstGeom prst="rect">
            <a:avLst/>
          </a:prstGeom>
          <a:noFill/>
        </p:spPr>
        <p:txBody>
          <a:bodyPr wrap="square" rtlCol="0">
            <a:spAutoFit/>
          </a:bodyPr>
          <a:lstStyle/>
          <a:p>
            <a:r>
              <a:rPr lang="en-US" sz="1440"/>
              <a:t>19</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654050" y="314960"/>
            <a:ext cx="6101715" cy="460375"/>
          </a:xfrm>
          <a:prstGeom prst="rect">
            <a:avLst/>
          </a:prstGeom>
          <a:noFill/>
        </p:spPr>
        <p:txBody>
          <a:bodyPr wrap="square" rtlCol="0">
            <a:spAutoFit/>
          </a:bodyPr>
          <a:lstStyle/>
          <a:p>
            <a:r>
              <a:rPr lang="en-US" altLang="en-US" sz="2400" b="1">
                <a:latin typeface="Times New Roman Bold" panose="02020503050405090304" charset="0"/>
                <a:cs typeface="Times New Roman Bold" panose="02020503050405090304" charset="0"/>
              </a:rPr>
              <a:t>Why Choose the Supermarket Scenario</a:t>
            </a:r>
          </a:p>
        </p:txBody>
      </p:sp>
      <p:sp>
        <p:nvSpPr>
          <p:cNvPr id="3" name="Text Box 2"/>
          <p:cNvSpPr txBox="1"/>
          <p:nvPr/>
        </p:nvSpPr>
        <p:spPr>
          <a:xfrm>
            <a:off x="985520" y="1539240"/>
            <a:ext cx="9794875" cy="953135"/>
          </a:xfrm>
          <a:prstGeom prst="rect">
            <a:avLst/>
          </a:prstGeom>
          <a:noFill/>
        </p:spPr>
        <p:txBody>
          <a:bodyPr wrap="square" rtlCol="0">
            <a:spAutoFit/>
          </a:bodyPr>
          <a:lstStyle/>
          <a:p>
            <a:pPr marL="285750" indent="-285750">
              <a:buFont typeface="Arial" panose="020B0604020202090204" pitchFamily="34" charset="0"/>
              <a:buChar char="•"/>
            </a:pPr>
            <a:r>
              <a:rPr lang="en-US" altLang="en-US" sz="2800">
                <a:latin typeface="Times New Roman Regular" panose="02020503050405090304" charset="0"/>
                <a:cs typeface="Times New Roman Regular" panose="02020503050405090304" charset="0"/>
              </a:rPr>
              <a:t>Accessibility Beyond Reading Needs</a:t>
            </a:r>
          </a:p>
          <a:p>
            <a:pPr marL="285750" indent="-285750">
              <a:buFont typeface="Arial" panose="020B0604020202090204" pitchFamily="34" charset="0"/>
              <a:buChar char="•"/>
            </a:pPr>
            <a:r>
              <a:rPr lang="en-US" altLang="en-US" sz="2800">
                <a:latin typeface="Times New Roman Regular" panose="02020503050405090304" charset="0"/>
                <a:cs typeface="Times New Roman Regular" panose="02020503050405090304" charset="0"/>
              </a:rPr>
              <a:t>High Visual Dependency with Low Text Dependency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0" y="692150"/>
            <a:ext cx="11423015" cy="5093335"/>
          </a:xfrm>
          <a:prstGeom prst="rect">
            <a:avLst/>
          </a:prstGeom>
        </p:spPr>
        <p:txBody>
          <a:bodyPr wrap="square">
            <a:noAutofit/>
          </a:bodyPr>
          <a:lstStyle/>
          <a:p>
            <a:r>
              <a:rPr lang="en-US" altLang="zh-CN" sz="800"/>
              <a:t>Vision Transformer (ViT) </a:t>
            </a:r>
            <a:r>
              <a:rPr lang="zh-CN" altLang="en-US" sz="800"/>
              <a:t>是一种用于图像处理的深度学习模型，基于 </a:t>
            </a:r>
            <a:r>
              <a:rPr lang="en-US" altLang="zh-CN" sz="800"/>
              <a:t>Transformer </a:t>
            </a:r>
            <a:r>
              <a:rPr lang="zh-CN" altLang="en-US" sz="800"/>
              <a:t>架构设计。与传统的卷积神经网络（</a:t>
            </a:r>
            <a:r>
              <a:rPr lang="en-US" altLang="zh-CN" sz="800"/>
              <a:t>CNN</a:t>
            </a:r>
            <a:r>
              <a:rPr lang="zh-CN" altLang="en-US" sz="800"/>
              <a:t>）不同，</a:t>
            </a:r>
            <a:r>
              <a:rPr lang="en-US" altLang="zh-CN" sz="800"/>
              <a:t>ViT </a:t>
            </a:r>
            <a:r>
              <a:rPr lang="zh-CN" altLang="en-US" sz="800"/>
              <a:t>不使用卷积操作，而是采用与自然语言处理任务中 </a:t>
            </a:r>
            <a:r>
              <a:rPr lang="en-US" altLang="zh-CN" sz="800"/>
              <a:t>Transformer </a:t>
            </a:r>
            <a:r>
              <a:rPr lang="zh-CN" altLang="en-US" sz="800"/>
              <a:t>类似的机制来处理视觉数据。以下是 </a:t>
            </a:r>
            <a:r>
              <a:rPr lang="en-US" altLang="zh-CN" sz="800"/>
              <a:t>ViT </a:t>
            </a:r>
            <a:r>
              <a:rPr lang="zh-CN" altLang="en-US" sz="800"/>
              <a:t>的核心概念和结构：</a:t>
            </a:r>
          </a:p>
          <a:p>
            <a:pPr>
              <a:spcAft>
                <a:spcPct val="60000"/>
              </a:spcAft>
            </a:pPr>
            <a:r>
              <a:rPr lang="zh-CN" altLang="en-US" sz="800" b="1"/>
              <a:t>核心概念：</a:t>
            </a:r>
          </a:p>
          <a:p>
            <a:pPr>
              <a:buAutoNum type="arabicPeriod"/>
            </a:pPr>
            <a:r>
              <a:rPr lang="zh-CN" altLang="en-US" sz="800"/>
              <a:t>图像分块 </a:t>
            </a:r>
            <a:r>
              <a:rPr lang="en-US" altLang="zh-CN" sz="800"/>
              <a:t>(Patch Embedding):</a:t>
            </a:r>
          </a:p>
          <a:p>
            <a:pPr>
              <a:buAutoNum type="arabicPeriod"/>
            </a:pPr>
            <a:r>
              <a:rPr lang="zh-CN" altLang="en-US" sz="800"/>
              <a:t>位置编码 </a:t>
            </a:r>
            <a:r>
              <a:rPr lang="en-US" altLang="zh-CN" sz="800"/>
              <a:t>(Positional Encoding):</a:t>
            </a:r>
          </a:p>
          <a:p>
            <a:pPr>
              <a:buAutoNum type="arabicPeriod"/>
            </a:pPr>
            <a:r>
              <a:rPr lang="en-US" altLang="zh-CN" sz="800"/>
              <a:t>Transformer </a:t>
            </a:r>
            <a:r>
              <a:rPr lang="zh-CN" altLang="en-US" sz="800"/>
              <a:t>编码器 </a:t>
            </a:r>
            <a:r>
              <a:rPr lang="en-US" altLang="zh-CN" sz="800"/>
              <a:t>(Transformer Encoder):</a:t>
            </a:r>
          </a:p>
          <a:p>
            <a:pPr>
              <a:buAutoNum type="arabicPeriod"/>
            </a:pPr>
            <a:r>
              <a:rPr lang="zh-CN" altLang="en-US" sz="800"/>
              <a:t>分类令牌 </a:t>
            </a:r>
            <a:r>
              <a:rPr lang="en-US" altLang="zh-CN" sz="800"/>
              <a:t>(CLS Token):</a:t>
            </a:r>
          </a:p>
          <a:p>
            <a:pPr>
              <a:buAutoNum type="arabicPeriod"/>
            </a:pPr>
            <a:r>
              <a:rPr lang="zh-CN" altLang="en-US" sz="800"/>
              <a:t>全连接层 </a:t>
            </a:r>
            <a:r>
              <a:rPr lang="en-US" altLang="zh-CN" sz="800"/>
              <a:t>(MLP Head):</a:t>
            </a:r>
          </a:p>
          <a:p>
            <a:pPr>
              <a:spcAft>
                <a:spcPct val="60000"/>
              </a:spcAft>
            </a:pPr>
            <a:r>
              <a:rPr lang="en-US" altLang="zh-CN" sz="800" b="1"/>
              <a:t>ViT </a:t>
            </a:r>
            <a:r>
              <a:rPr lang="zh-CN" altLang="en-US" sz="800" b="1"/>
              <a:t>的工作流程：</a:t>
            </a:r>
          </a:p>
          <a:p>
            <a:pPr>
              <a:buAutoNum type="arabicPeriod"/>
            </a:pPr>
            <a:r>
              <a:rPr lang="zh-CN" altLang="en-US" sz="800"/>
              <a:t>输入预处理</a:t>
            </a:r>
            <a:r>
              <a:rPr lang="en-US" altLang="zh-CN" sz="800"/>
              <a:t>:</a:t>
            </a:r>
          </a:p>
          <a:p>
            <a:pPr>
              <a:buAutoNum type="arabicPeriod"/>
            </a:pPr>
            <a:r>
              <a:rPr lang="en-US" altLang="zh-CN" sz="800"/>
              <a:t>Transformer </a:t>
            </a:r>
            <a:r>
              <a:rPr lang="zh-CN" altLang="en-US" sz="800"/>
              <a:t>操作</a:t>
            </a:r>
            <a:r>
              <a:rPr lang="en-US" altLang="zh-CN" sz="800"/>
              <a:t>:</a:t>
            </a:r>
          </a:p>
          <a:p>
            <a:pPr>
              <a:buAutoNum type="arabicPeriod"/>
            </a:pPr>
            <a:r>
              <a:rPr lang="zh-CN" altLang="en-US" sz="800"/>
              <a:t>输出处理</a:t>
            </a:r>
            <a:r>
              <a:rPr lang="en-US" altLang="zh-CN" sz="800"/>
              <a:t>:</a:t>
            </a:r>
          </a:p>
          <a:p>
            <a:pPr>
              <a:spcAft>
                <a:spcPct val="60000"/>
              </a:spcAft>
            </a:pPr>
            <a:r>
              <a:rPr lang="en-US" altLang="zh-CN" sz="800" b="1"/>
              <a:t>ViT </a:t>
            </a:r>
            <a:r>
              <a:rPr lang="zh-CN" altLang="en-US" sz="800" b="1"/>
              <a:t>的优点：</a:t>
            </a:r>
          </a:p>
          <a:p>
            <a:pPr>
              <a:buAutoNum type="arabicPeriod"/>
            </a:pPr>
            <a:r>
              <a:rPr lang="zh-CN" altLang="en-US" sz="800"/>
              <a:t>全局特征捕获能力强</a:t>
            </a:r>
            <a:r>
              <a:rPr lang="en-US" altLang="zh-CN" sz="800"/>
              <a:t>:</a:t>
            </a:r>
          </a:p>
          <a:p>
            <a:pPr>
              <a:buAutoNum type="arabicPeriod"/>
            </a:pPr>
            <a:r>
              <a:rPr lang="zh-CN" altLang="en-US" sz="800"/>
              <a:t>参数共享</a:t>
            </a:r>
            <a:r>
              <a:rPr lang="en-US" altLang="zh-CN" sz="800"/>
              <a:t>:</a:t>
            </a:r>
          </a:p>
          <a:p>
            <a:pPr>
              <a:buAutoNum type="arabicPeriod"/>
            </a:pPr>
            <a:r>
              <a:rPr lang="zh-CN" altLang="en-US" sz="800"/>
              <a:t>无需设计卷积操作</a:t>
            </a:r>
            <a:r>
              <a:rPr lang="en-US" altLang="zh-CN" sz="800"/>
              <a:t>:</a:t>
            </a:r>
          </a:p>
          <a:p>
            <a:pPr>
              <a:spcAft>
                <a:spcPct val="60000"/>
              </a:spcAft>
            </a:pPr>
            <a:r>
              <a:rPr lang="en-US" altLang="zh-CN" sz="800" b="1"/>
              <a:t>ViT </a:t>
            </a:r>
            <a:r>
              <a:rPr lang="zh-CN" altLang="en-US" sz="800" b="1"/>
              <a:t>的缺点：</a:t>
            </a:r>
          </a:p>
          <a:p>
            <a:pPr>
              <a:buAutoNum type="arabicPeriod"/>
            </a:pPr>
            <a:r>
              <a:rPr lang="zh-CN" altLang="en-US" sz="800"/>
              <a:t>对大规模数据的依赖</a:t>
            </a:r>
            <a:r>
              <a:rPr lang="en-US" altLang="zh-CN" sz="800"/>
              <a:t>:</a:t>
            </a:r>
          </a:p>
          <a:p>
            <a:pPr>
              <a:buAutoNum type="arabicPeriod"/>
            </a:pPr>
            <a:r>
              <a:rPr lang="zh-CN" altLang="en-US" sz="800"/>
              <a:t>计算资源需求高</a:t>
            </a:r>
            <a:r>
              <a:rPr lang="en-US" altLang="zh-CN" sz="800"/>
              <a:t>:</a:t>
            </a:r>
          </a:p>
          <a:p>
            <a:pPr lvl="1">
              <a:buFont typeface="Arial" panose="020B0604020202090204"/>
              <a:buChar char="◦"/>
            </a:pPr>
            <a:r>
              <a:rPr lang="en-US" altLang="zh-CN" sz="800"/>
              <a:t>O(n2)O(n^2)</a:t>
            </a:r>
          </a:p>
          <a:p>
            <a:pPr>
              <a:buAutoNum type="arabicPeriod"/>
            </a:pPr>
            <a:r>
              <a:rPr lang="zh-CN" altLang="en-US" sz="800"/>
              <a:t>难以处理局部细节</a:t>
            </a:r>
            <a:r>
              <a:rPr lang="en-US" altLang="zh-CN" sz="800"/>
              <a:t>:</a:t>
            </a:r>
          </a:p>
          <a:p>
            <a:pPr>
              <a:spcAft>
                <a:spcPct val="60000"/>
              </a:spcAft>
            </a:pPr>
            <a:r>
              <a:rPr lang="en-US" altLang="zh-CN" sz="800" b="1"/>
              <a:t>ViT </a:t>
            </a:r>
            <a:r>
              <a:rPr lang="zh-CN" altLang="en-US" sz="800" b="1"/>
              <a:t>的应用</a:t>
            </a:r>
            <a:r>
              <a:rPr lang="en-US" altLang="zh-CN" sz="800" b="1"/>
              <a:t>:</a:t>
            </a:r>
          </a:p>
          <a:p>
            <a:pPr>
              <a:buAutoNum type="arabicPeriod"/>
            </a:pPr>
            <a:r>
              <a:rPr lang="zh-CN" altLang="en-US" sz="800"/>
              <a:t>图像分类</a:t>
            </a:r>
            <a:r>
              <a:rPr lang="en-US" altLang="zh-CN" sz="800"/>
              <a:t>:</a:t>
            </a:r>
          </a:p>
          <a:p>
            <a:pPr>
              <a:buAutoNum type="arabicPeriod"/>
            </a:pPr>
            <a:r>
              <a:rPr lang="zh-CN" altLang="en-US" sz="800"/>
              <a:t>目标检测</a:t>
            </a:r>
            <a:r>
              <a:rPr lang="en-US" altLang="zh-CN" sz="800"/>
              <a:t>:</a:t>
            </a:r>
          </a:p>
          <a:p>
            <a:pPr>
              <a:buAutoNum type="arabicPeriod"/>
            </a:pPr>
            <a:r>
              <a:rPr lang="zh-CN" altLang="en-US" sz="800"/>
              <a:t>图像分割</a:t>
            </a:r>
            <a:r>
              <a:rPr lang="en-US" altLang="zh-CN" sz="800"/>
              <a:t>:</a:t>
            </a:r>
          </a:p>
          <a:p>
            <a:pPr>
              <a:buAutoNum type="arabicPeriod"/>
            </a:pPr>
            <a:r>
              <a:rPr lang="zh-CN" altLang="en-US" sz="800"/>
              <a:t>多模态任务</a:t>
            </a:r>
            <a:r>
              <a:rPr lang="en-US" altLang="zh-CN" sz="800"/>
              <a:t>:</a:t>
            </a:r>
          </a:p>
          <a:p>
            <a:r>
              <a:rPr lang="en-US" altLang="zh-CN" sz="800"/>
              <a:t>ViT </a:t>
            </a:r>
            <a:r>
              <a:rPr lang="zh-CN" altLang="en-US" sz="800"/>
              <a:t>的引入标志着 </a:t>
            </a:r>
            <a:r>
              <a:rPr lang="en-US" altLang="zh-CN" sz="800"/>
              <a:t>Transformer </a:t>
            </a:r>
            <a:r>
              <a:rPr lang="zh-CN" altLang="en-US" sz="800"/>
              <a:t>在视觉领域的成功应用，为图像处理提供了一种新思路，并为后续的多模态模型（如 </a:t>
            </a:r>
            <a:r>
              <a:rPr lang="en-US" altLang="zh-CN" sz="800"/>
              <a:t>Qwen2-VL</a:t>
            </a:r>
            <a:r>
              <a:rPr lang="zh-CN" altLang="en-US" sz="800"/>
              <a:t>）奠定了基础。</a:t>
            </a:r>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宋体"/>
        <a:cs typeface=""/>
      </a:majorFont>
      <a:minorFont>
        <a:latin typeface="Calibri"/>
        <a:ea typeface="宋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TotalTime>
  <Words>4427</Words>
  <Application>Microsoft Macintosh PowerPoint</Application>
  <PresentationFormat>Widescreen</PresentationFormat>
  <Paragraphs>435</Paragraphs>
  <Slides>33</Slides>
  <Notes>32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33</vt:i4>
      </vt:variant>
    </vt:vector>
  </HeadingPairs>
  <TitlesOfParts>
    <vt:vector size="45" baseType="lpstr">
      <vt:lpstr>HarmonyOS Sans</vt:lpstr>
      <vt:lpstr>微软雅黑</vt:lpstr>
      <vt:lpstr>宋体</vt:lpstr>
      <vt:lpstr>Source Han Sans CN</vt:lpstr>
      <vt:lpstr>Times New Roman Bold</vt:lpstr>
      <vt:lpstr>Times New Roman Regular</vt:lpstr>
      <vt:lpstr>ui-sans-serif</vt:lpstr>
      <vt:lpstr>Arial</vt:lpstr>
      <vt:lpstr>Barlow</vt:lpstr>
      <vt:lpstr>Calibri</vt:lpstr>
      <vt:lpstr>Times New Roman</vt:lpstr>
      <vt:lpstr>WPS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ＤＯＮＧ Ｊｉｅｒｕ(is0645vp)</cp:lastModifiedBy>
  <cp:revision>21</cp:revision>
  <dcterms:created xsi:type="dcterms:W3CDTF">2024-11-30T14:22:47Z</dcterms:created>
  <dcterms:modified xsi:type="dcterms:W3CDTF">2024-12-02T06:05:53Z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1033-6.13.1.8913</vt:lpwstr>
  </property>
  <property fmtid="{D5CDD505-2E9C-101B-9397-08002B2CF9AE}" pid="3" name="ICV">
    <vt:lpwstr>F7A101ADE332FA2016C2496761D2AD6B_41</vt:lpwstr>
  </property>
</Properties>
</file>